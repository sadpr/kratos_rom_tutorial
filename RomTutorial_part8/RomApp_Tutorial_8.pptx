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Helvetica Neue"/>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gqK6RbIeHbJ20qyzFghix9Tydl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d1619b06e_1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d1619b06e_1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d1619b06e_1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e34bcc1e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e34bcc1e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2ee34bcc1e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e34bcc1ef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e34bcc1ef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2ee34bcc1ef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ee34bcc1ef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ee34bcc1ef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2ee34bcc1ef_0_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ee3916e3d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ee3916e3d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2ee3916e3d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ee3916e3dd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ee3916e3dd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g2ee3916e3dd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ee3916e3dd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ee3916e3dd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2ee3916e3dd_0_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1.jpg"/><Relationship Id="rId4" Type="http://schemas.openxmlformats.org/officeDocument/2006/relationships/image" Target="../media/image10.jpg"/><Relationship Id="rId11" Type="http://schemas.openxmlformats.org/officeDocument/2006/relationships/hyperlink" Target="about:blank" TargetMode="External"/><Relationship Id="rId10" Type="http://schemas.openxmlformats.org/officeDocument/2006/relationships/image" Target="../media/image6.png"/><Relationship Id="rId9" Type="http://schemas.openxmlformats.org/officeDocument/2006/relationships/hyperlink" Target="http://www.linkedin.com/company/eflows4hpc" TargetMode="External"/><Relationship Id="rId5" Type="http://schemas.openxmlformats.org/officeDocument/2006/relationships/image" Target="../media/image5.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i="0" lang="en-GB" sz="3500" u="none" cap="none" strike="noStrike">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d1619b06e_1_59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SzPct val="111669"/>
              <a:buNone/>
            </a:pPr>
            <a:r>
              <a:rPr b="1" lang="en-GB" sz="2388">
                <a:solidFill>
                  <a:schemeClr val="dk2"/>
                </a:solidFill>
              </a:rPr>
              <a:t>ROM Advanced Options</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d1619b06e_1_597"/>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or Paraview (For postprocessing)</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StructuralMechanicsApplication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ConstitutiveLawsApplication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ROM Advanced Options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750"/>
              </a:spcBef>
              <a:spcAft>
                <a:spcPts val="0"/>
              </a:spcAft>
              <a:buClr>
                <a:srgbClr val="B7B7B7"/>
              </a:buClr>
              <a:buSzPts val="2000"/>
              <a:buFont typeface="Calibri"/>
              <a:buChar char="-"/>
            </a:pPr>
            <a:r>
              <a:rPr b="1" i="0" lang="en-GB" sz="2000" u="none" cap="none" strike="noStrike">
                <a:solidFill>
                  <a:srgbClr val="B7B7B7"/>
                </a:solidFill>
                <a:latin typeface="Calibri"/>
                <a:ea typeface="Calibri"/>
                <a:cs typeface="Calibri"/>
                <a:sym typeface="Calibri"/>
              </a:rPr>
              <a:t>Rom Database</a:t>
            </a:r>
            <a:endParaRPr b="1" i="0" sz="2000" u="none" cap="none" strike="noStrike">
              <a:solidFill>
                <a:srgbClr val="B7B7B7"/>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Analysis Stage (More specific customizations)</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Using nonconverged solutions</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chemeClr val="dk2"/>
              </a:buClr>
              <a:buSzPts val="2000"/>
              <a:buFont typeface="Calibri"/>
              <a:buChar char="-"/>
            </a:pPr>
            <a:r>
              <a:rPr b="1" i="0" lang="en-GB" sz="2000" u="none" cap="none" strike="noStrike">
                <a:solidFill>
                  <a:schemeClr val="dk2"/>
                </a:solidFill>
                <a:latin typeface="Calibri"/>
                <a:ea typeface="Calibri"/>
                <a:cs typeface="Calibri"/>
                <a:sym typeface="Calibri"/>
              </a:rPr>
              <a:t>Linear or Nonlinear decoder</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Different Projection strategies (Galerkin, LSPG, PG)</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HROM</a:t>
            </a:r>
            <a:endParaRPr b="1" i="0" sz="2000" u="none" cap="none" strike="noStrike">
              <a:solidFill>
                <a:srgbClr val="999999"/>
              </a:solidFill>
              <a:latin typeface="Calibri"/>
              <a:ea typeface="Calibri"/>
              <a:cs typeface="Calibri"/>
              <a:sym typeface="Calibri"/>
            </a:endParaRPr>
          </a:p>
          <a:p>
            <a:pPr indent="0" lvl="0" marL="457200" marR="0" rtl="0" algn="l">
              <a:lnSpc>
                <a:spcPct val="90000"/>
              </a:lnSpc>
              <a:spcBef>
                <a:spcPts val="750"/>
              </a:spcBef>
              <a:spcAft>
                <a:spcPts val="0"/>
              </a:spcAft>
              <a:buClr>
                <a:srgbClr val="000000"/>
              </a:buClr>
              <a:buSzPts val="2000"/>
              <a:buFont typeface="Arial"/>
              <a:buNone/>
            </a:pPr>
            <a:r>
              <a:t/>
            </a:r>
            <a:endParaRPr b="1" i="0" sz="2000" u="none" cap="none" strike="noStrike">
              <a:solidFill>
                <a:srgbClr val="999999"/>
              </a:solidFill>
              <a:latin typeface="Calibri"/>
              <a:ea typeface="Calibri"/>
              <a:cs typeface="Calibri"/>
              <a:sym typeface="Calibri"/>
            </a:endParaRPr>
          </a:p>
          <a:p>
            <a:pPr indent="0" lvl="0" marL="0" marR="0" rtl="0" algn="l">
              <a:lnSpc>
                <a:spcPct val="90000"/>
              </a:lnSpc>
              <a:spcBef>
                <a:spcPts val="75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e34bcc1ef_0_0"/>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153" name="Google Shape;153;g2ee34bcc1ef_0_0"/>
          <p:cNvSpPr/>
          <p:nvPr/>
        </p:nvSpPr>
        <p:spPr>
          <a:xfrm>
            <a:off x="1357078" y="1904038"/>
            <a:ext cx="1592100" cy="19020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54" name="Google Shape;154;g2ee34bcc1ef_0_0"/>
          <p:cNvSpPr txBox="1"/>
          <p:nvPr/>
        </p:nvSpPr>
        <p:spPr>
          <a:xfrm>
            <a:off x="1931600" y="2606363"/>
            <a:ext cx="791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300"/>
              <a:t>S</a:t>
            </a:r>
            <a:endParaRPr sz="2300"/>
          </a:p>
        </p:txBody>
      </p:sp>
      <p:sp>
        <p:nvSpPr>
          <p:cNvPr id="155" name="Google Shape;155;g2ee34bcc1ef_0_0"/>
          <p:cNvSpPr txBox="1"/>
          <p:nvPr/>
        </p:nvSpPr>
        <p:spPr>
          <a:xfrm>
            <a:off x="199450" y="1194913"/>
            <a:ext cx="1311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t>converged</a:t>
            </a:r>
            <a:endParaRPr/>
          </a:p>
        </p:txBody>
      </p:sp>
      <p:sp>
        <p:nvSpPr>
          <p:cNvPr id="156" name="Google Shape;156;g2ee34bcc1ef_0_0"/>
          <p:cNvSpPr txBox="1"/>
          <p:nvPr/>
        </p:nvSpPr>
        <p:spPr>
          <a:xfrm>
            <a:off x="2341125" y="1202563"/>
            <a:ext cx="153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chemeClr val="dk2"/>
                </a:solidFill>
                <a:latin typeface="Lato"/>
                <a:ea typeface="Lato"/>
                <a:cs typeface="Lato"/>
                <a:sym typeface="Lato"/>
              </a:rPr>
              <a:t>Nonconverged</a:t>
            </a:r>
            <a:r>
              <a:rPr lang="en-GB">
                <a:solidFill>
                  <a:schemeClr val="dk2"/>
                </a:solidFill>
              </a:rPr>
              <a:t>    </a:t>
            </a:r>
            <a:endParaRPr>
              <a:solidFill>
                <a:schemeClr val="dk2"/>
              </a:solidFill>
            </a:endParaRPr>
          </a:p>
        </p:txBody>
      </p:sp>
      <p:grpSp>
        <p:nvGrpSpPr>
          <p:cNvPr id="157" name="Google Shape;157;g2ee34bcc1ef_0_0"/>
          <p:cNvGrpSpPr/>
          <p:nvPr/>
        </p:nvGrpSpPr>
        <p:grpSpPr>
          <a:xfrm>
            <a:off x="1214720" y="1904013"/>
            <a:ext cx="142366" cy="1902056"/>
            <a:chOff x="3237237" y="1005991"/>
            <a:chExt cx="88316" cy="880500"/>
          </a:xfrm>
        </p:grpSpPr>
        <p:sp>
          <p:nvSpPr>
            <p:cNvPr id="158" name="Google Shape;158;g2ee34bcc1ef_0_0"/>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59" name="Google Shape;159;g2ee34bcc1ef_0_0"/>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cxnSp>
        <p:nvCxnSpPr>
          <p:cNvPr id="160" name="Google Shape;160;g2ee34bcc1ef_0_0"/>
          <p:cNvCxnSpPr>
            <a:stCxn id="155" idx="2"/>
          </p:cNvCxnSpPr>
          <p:nvPr/>
        </p:nvCxnSpPr>
        <p:spPr>
          <a:xfrm>
            <a:off x="854950" y="1595113"/>
            <a:ext cx="400500" cy="500100"/>
          </a:xfrm>
          <a:prstGeom prst="straightConnector1">
            <a:avLst/>
          </a:prstGeom>
          <a:noFill/>
          <a:ln cap="flat" cmpd="sng" w="9525">
            <a:solidFill>
              <a:schemeClr val="dk2"/>
            </a:solidFill>
            <a:prstDash val="solid"/>
            <a:round/>
            <a:headEnd len="med" w="med" type="none"/>
            <a:tailEnd len="med" w="med" type="triangle"/>
          </a:ln>
        </p:spPr>
      </p:cxnSp>
      <p:cxnSp>
        <p:nvCxnSpPr>
          <p:cNvPr id="161" name="Google Shape;161;g2ee34bcc1ef_0_0"/>
          <p:cNvCxnSpPr>
            <a:stCxn id="156" idx="2"/>
          </p:cNvCxnSpPr>
          <p:nvPr/>
        </p:nvCxnSpPr>
        <p:spPr>
          <a:xfrm flipH="1">
            <a:off x="2769375" y="1602763"/>
            <a:ext cx="341400" cy="582300"/>
          </a:xfrm>
          <a:prstGeom prst="straightConnector1">
            <a:avLst/>
          </a:prstGeom>
          <a:noFill/>
          <a:ln cap="flat" cmpd="sng" w="9525">
            <a:solidFill>
              <a:schemeClr val="dk2"/>
            </a:solidFill>
            <a:prstDash val="solid"/>
            <a:round/>
            <a:headEnd len="med" w="med" type="none"/>
            <a:tailEnd len="med" w="med" type="triangle"/>
          </a:ln>
        </p:spPr>
      </p:cxnSp>
      <p:sp>
        <p:nvSpPr>
          <p:cNvPr id="162" name="Google Shape;162;g2ee34bcc1ef_0_0"/>
          <p:cNvSpPr/>
          <p:nvPr/>
        </p:nvSpPr>
        <p:spPr>
          <a:xfrm>
            <a:off x="6587123" y="1994063"/>
            <a:ext cx="13788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63" name="Google Shape;163;g2ee34bcc1ef_0_0"/>
          <p:cNvSpPr txBox="1"/>
          <p:nvPr/>
        </p:nvSpPr>
        <p:spPr>
          <a:xfrm>
            <a:off x="7081250" y="2664113"/>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64" name="Google Shape;164;g2ee34bcc1ef_0_0"/>
          <p:cNvSpPr txBox="1"/>
          <p:nvPr/>
        </p:nvSpPr>
        <p:spPr>
          <a:xfrm>
            <a:off x="7124525" y="1573700"/>
            <a:ext cx="84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N=1000</a:t>
            </a:r>
            <a:endParaRPr/>
          </a:p>
        </p:txBody>
      </p:sp>
      <p:sp>
        <p:nvSpPr>
          <p:cNvPr id="165" name="Google Shape;165;g2ee34bcc1ef_0_0"/>
          <p:cNvSpPr txBox="1"/>
          <p:nvPr/>
        </p:nvSpPr>
        <p:spPr>
          <a:xfrm>
            <a:off x="7081250" y="1153338"/>
            <a:ext cx="691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Lato"/>
                <a:ea typeface="Lato"/>
                <a:cs typeface="Lato"/>
                <a:sym typeface="Lato"/>
              </a:rPr>
              <a:t>Basis</a:t>
            </a:r>
            <a:endParaRPr b="1" sz="1100">
              <a:solidFill>
                <a:schemeClr val="dk2"/>
              </a:solidFill>
              <a:latin typeface="Lato"/>
              <a:ea typeface="Lato"/>
              <a:cs typeface="Lato"/>
              <a:sym typeface="Lato"/>
            </a:endParaRPr>
          </a:p>
        </p:txBody>
      </p:sp>
      <p:sp>
        <p:nvSpPr>
          <p:cNvPr id="166" name="Google Shape;166;g2ee34bcc1ef_0_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67" name="Google Shape;167;g2ee34bcc1ef_0_0"/>
          <p:cNvSpPr txBox="1"/>
          <p:nvPr/>
        </p:nvSpPr>
        <p:spPr>
          <a:xfrm>
            <a:off x="5824651" y="2744963"/>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cxnSp>
        <p:nvCxnSpPr>
          <p:cNvPr id="168" name="Google Shape;168;g2ee34bcc1ef_0_0"/>
          <p:cNvCxnSpPr/>
          <p:nvPr/>
        </p:nvCxnSpPr>
        <p:spPr>
          <a:xfrm>
            <a:off x="3110775" y="2860300"/>
            <a:ext cx="462600" cy="0"/>
          </a:xfrm>
          <a:prstGeom prst="straightConnector1">
            <a:avLst/>
          </a:prstGeom>
          <a:noFill/>
          <a:ln cap="flat" cmpd="sng" w="9525">
            <a:solidFill>
              <a:srgbClr val="1A1A1A"/>
            </a:solidFill>
            <a:prstDash val="solid"/>
            <a:round/>
            <a:headEnd len="med" w="med" type="none"/>
            <a:tailEnd len="med" w="med" type="triangle"/>
          </a:ln>
        </p:spPr>
      </p:cxnSp>
      <p:sp>
        <p:nvSpPr>
          <p:cNvPr id="169" name="Google Shape;169;g2ee34bcc1ef_0_0"/>
          <p:cNvSpPr txBox="1"/>
          <p:nvPr/>
        </p:nvSpPr>
        <p:spPr>
          <a:xfrm>
            <a:off x="3653876" y="2656475"/>
            <a:ext cx="1579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rgbClr val="202122"/>
                </a:solidFill>
                <a:highlight>
                  <a:srgbClr val="FFFFFF"/>
                </a:highlight>
              </a:rPr>
              <a:t>Φ = </a:t>
            </a:r>
            <a:r>
              <a:rPr lang="en-GB"/>
              <a:t>SVD( </a:t>
            </a:r>
            <a:r>
              <a:rPr b="1" lang="en-GB"/>
              <a:t>S</a:t>
            </a:r>
            <a:r>
              <a:rPr lang="en-GB"/>
              <a:t>, </a:t>
            </a:r>
            <a:r>
              <a:rPr lang="en-GB" sz="1050">
                <a:solidFill>
                  <a:srgbClr val="202122"/>
                </a:solidFill>
                <a:highlight>
                  <a:srgbClr val="FFFFFF"/>
                </a:highlight>
              </a:rPr>
              <a:t> </a:t>
            </a:r>
            <a:r>
              <a:rPr lang="en-GB" sz="1650">
                <a:solidFill>
                  <a:srgbClr val="202122"/>
                </a:solidFill>
                <a:highlight>
                  <a:srgbClr val="FFFFFF"/>
                </a:highlight>
              </a:rPr>
              <a:t>ϵ=0</a:t>
            </a:r>
            <a:r>
              <a:rPr lang="en-GB"/>
              <a:t>)</a:t>
            </a:r>
            <a:endParaRPr/>
          </a:p>
        </p:txBody>
      </p:sp>
      <p:cxnSp>
        <p:nvCxnSpPr>
          <p:cNvPr id="170" name="Google Shape;170;g2ee34bcc1ef_0_0"/>
          <p:cNvCxnSpPr/>
          <p:nvPr/>
        </p:nvCxnSpPr>
        <p:spPr>
          <a:xfrm>
            <a:off x="5333975" y="2902050"/>
            <a:ext cx="462600" cy="0"/>
          </a:xfrm>
          <a:prstGeom prst="straightConnector1">
            <a:avLst/>
          </a:prstGeom>
          <a:noFill/>
          <a:ln cap="flat" cmpd="sng" w="9525">
            <a:solidFill>
              <a:srgbClr val="1A1A1A"/>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e34bcc1ef_0_22"/>
          <p:cNvSpPr/>
          <p:nvPr/>
        </p:nvSpPr>
        <p:spPr>
          <a:xfrm>
            <a:off x="6602824" y="19953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77" name="Google Shape;177;g2ee34bcc1ef_0_22"/>
          <p:cNvSpPr txBox="1"/>
          <p:nvPr/>
        </p:nvSpPr>
        <p:spPr>
          <a:xfrm>
            <a:off x="6656650" y="26696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78" name="Google Shape;178;g2ee34bcc1ef_0_22"/>
          <p:cNvSpPr txBox="1"/>
          <p:nvPr/>
        </p:nvSpPr>
        <p:spPr>
          <a:xfrm>
            <a:off x="6602825" y="1595125"/>
            <a:ext cx="53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p:txBody>
      </p:sp>
      <p:sp>
        <p:nvSpPr>
          <p:cNvPr id="179" name="Google Shape;179;g2ee34bcc1ef_0_22"/>
          <p:cNvSpPr txBox="1"/>
          <p:nvPr/>
        </p:nvSpPr>
        <p:spPr>
          <a:xfrm>
            <a:off x="6485900" y="1194925"/>
            <a:ext cx="691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Lato"/>
                <a:ea typeface="Lato"/>
                <a:cs typeface="Lato"/>
                <a:sym typeface="Lato"/>
              </a:rPr>
              <a:t>Basis</a:t>
            </a:r>
            <a:endParaRPr b="1" sz="1100">
              <a:solidFill>
                <a:schemeClr val="dk2"/>
              </a:solidFill>
              <a:latin typeface="Lato"/>
              <a:ea typeface="Lato"/>
              <a:cs typeface="Lato"/>
              <a:sym typeface="Lato"/>
            </a:endParaRPr>
          </a:p>
        </p:txBody>
      </p:sp>
      <p:sp>
        <p:nvSpPr>
          <p:cNvPr id="180" name="Google Shape;180;g2ee34bcc1ef_0_22"/>
          <p:cNvSpPr/>
          <p:nvPr/>
        </p:nvSpPr>
        <p:spPr>
          <a:xfrm>
            <a:off x="7140124" y="1995325"/>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81" name="Google Shape;181;g2ee34bcc1ef_0_22"/>
          <p:cNvSpPr txBox="1"/>
          <p:nvPr/>
        </p:nvSpPr>
        <p:spPr>
          <a:xfrm>
            <a:off x="7306325" y="1595125"/>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182" name="Google Shape;182;g2ee34bcc1ef_0_2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83" name="Google Shape;183;g2ee34bcc1ef_0_2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84" name="Google Shape;184;g2ee34bcc1ef_0_22"/>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185" name="Google Shape;185;g2ee34bcc1ef_0_22"/>
          <p:cNvSpPr/>
          <p:nvPr/>
        </p:nvSpPr>
        <p:spPr>
          <a:xfrm>
            <a:off x="1357078" y="1904038"/>
            <a:ext cx="1592100" cy="19020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86" name="Google Shape;186;g2ee34bcc1ef_0_22"/>
          <p:cNvSpPr txBox="1"/>
          <p:nvPr/>
        </p:nvSpPr>
        <p:spPr>
          <a:xfrm>
            <a:off x="1931600" y="2606363"/>
            <a:ext cx="791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300"/>
              <a:t>S</a:t>
            </a:r>
            <a:endParaRPr sz="2300"/>
          </a:p>
        </p:txBody>
      </p:sp>
      <p:sp>
        <p:nvSpPr>
          <p:cNvPr id="187" name="Google Shape;187;g2ee34bcc1ef_0_22"/>
          <p:cNvSpPr txBox="1"/>
          <p:nvPr/>
        </p:nvSpPr>
        <p:spPr>
          <a:xfrm>
            <a:off x="199450" y="1194913"/>
            <a:ext cx="1311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t>converged</a:t>
            </a:r>
            <a:endParaRPr/>
          </a:p>
        </p:txBody>
      </p:sp>
      <p:sp>
        <p:nvSpPr>
          <p:cNvPr id="188" name="Google Shape;188;g2ee34bcc1ef_0_22"/>
          <p:cNvSpPr txBox="1"/>
          <p:nvPr/>
        </p:nvSpPr>
        <p:spPr>
          <a:xfrm>
            <a:off x="2341125" y="1202563"/>
            <a:ext cx="153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chemeClr val="dk2"/>
                </a:solidFill>
                <a:latin typeface="Lato"/>
                <a:ea typeface="Lato"/>
                <a:cs typeface="Lato"/>
                <a:sym typeface="Lato"/>
              </a:rPr>
              <a:t>Nonconverged</a:t>
            </a:r>
            <a:r>
              <a:rPr lang="en-GB">
                <a:solidFill>
                  <a:schemeClr val="dk2"/>
                </a:solidFill>
              </a:rPr>
              <a:t>    </a:t>
            </a:r>
            <a:endParaRPr>
              <a:solidFill>
                <a:schemeClr val="dk2"/>
              </a:solidFill>
            </a:endParaRPr>
          </a:p>
        </p:txBody>
      </p:sp>
      <p:grpSp>
        <p:nvGrpSpPr>
          <p:cNvPr id="189" name="Google Shape;189;g2ee34bcc1ef_0_22"/>
          <p:cNvGrpSpPr/>
          <p:nvPr/>
        </p:nvGrpSpPr>
        <p:grpSpPr>
          <a:xfrm>
            <a:off x="1214720" y="1904013"/>
            <a:ext cx="142366" cy="1902056"/>
            <a:chOff x="3237237" y="1005991"/>
            <a:chExt cx="88316" cy="880500"/>
          </a:xfrm>
        </p:grpSpPr>
        <p:sp>
          <p:nvSpPr>
            <p:cNvPr id="190" name="Google Shape;190;g2ee34bcc1ef_0_22"/>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1" name="Google Shape;191;g2ee34bcc1ef_0_22"/>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cxnSp>
        <p:nvCxnSpPr>
          <p:cNvPr id="192" name="Google Shape;192;g2ee34bcc1ef_0_22"/>
          <p:cNvCxnSpPr>
            <a:stCxn id="187" idx="2"/>
          </p:cNvCxnSpPr>
          <p:nvPr/>
        </p:nvCxnSpPr>
        <p:spPr>
          <a:xfrm>
            <a:off x="854950" y="1595113"/>
            <a:ext cx="400500" cy="500100"/>
          </a:xfrm>
          <a:prstGeom prst="straightConnector1">
            <a:avLst/>
          </a:prstGeom>
          <a:noFill/>
          <a:ln cap="flat" cmpd="sng" w="9525">
            <a:solidFill>
              <a:schemeClr val="dk2"/>
            </a:solidFill>
            <a:prstDash val="solid"/>
            <a:round/>
            <a:headEnd len="med" w="med" type="none"/>
            <a:tailEnd len="med" w="med" type="triangle"/>
          </a:ln>
        </p:spPr>
      </p:cxnSp>
      <p:cxnSp>
        <p:nvCxnSpPr>
          <p:cNvPr id="193" name="Google Shape;193;g2ee34bcc1ef_0_22"/>
          <p:cNvCxnSpPr>
            <a:stCxn id="188" idx="2"/>
          </p:cNvCxnSpPr>
          <p:nvPr/>
        </p:nvCxnSpPr>
        <p:spPr>
          <a:xfrm flipH="1">
            <a:off x="2769375" y="1602763"/>
            <a:ext cx="341400" cy="582300"/>
          </a:xfrm>
          <a:prstGeom prst="straightConnector1">
            <a:avLst/>
          </a:prstGeom>
          <a:noFill/>
          <a:ln cap="flat" cmpd="sng" w="9525">
            <a:solidFill>
              <a:schemeClr val="dk2"/>
            </a:solidFill>
            <a:prstDash val="solid"/>
            <a:round/>
            <a:headEnd len="med" w="med" type="none"/>
            <a:tailEnd len="med" w="med" type="triangle"/>
          </a:ln>
        </p:spPr>
      </p:cxnSp>
      <p:sp>
        <p:nvSpPr>
          <p:cNvPr id="194" name="Google Shape;194;g2ee34bcc1ef_0_22"/>
          <p:cNvSpPr txBox="1"/>
          <p:nvPr/>
        </p:nvSpPr>
        <p:spPr>
          <a:xfrm>
            <a:off x="5824651" y="2744963"/>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cxnSp>
        <p:nvCxnSpPr>
          <p:cNvPr id="195" name="Google Shape;195;g2ee34bcc1ef_0_22"/>
          <p:cNvCxnSpPr/>
          <p:nvPr/>
        </p:nvCxnSpPr>
        <p:spPr>
          <a:xfrm>
            <a:off x="3110775" y="2860300"/>
            <a:ext cx="462600" cy="0"/>
          </a:xfrm>
          <a:prstGeom prst="straightConnector1">
            <a:avLst/>
          </a:prstGeom>
          <a:noFill/>
          <a:ln cap="flat" cmpd="sng" w="9525">
            <a:solidFill>
              <a:srgbClr val="1A1A1A"/>
            </a:solidFill>
            <a:prstDash val="solid"/>
            <a:round/>
            <a:headEnd len="med" w="med" type="none"/>
            <a:tailEnd len="med" w="med" type="triangle"/>
          </a:ln>
        </p:spPr>
      </p:cxnSp>
      <p:sp>
        <p:nvSpPr>
          <p:cNvPr id="196" name="Google Shape;196;g2ee34bcc1ef_0_22"/>
          <p:cNvSpPr txBox="1"/>
          <p:nvPr/>
        </p:nvSpPr>
        <p:spPr>
          <a:xfrm>
            <a:off x="3653876" y="2656475"/>
            <a:ext cx="15795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rgbClr val="202122"/>
                </a:solidFill>
                <a:highlight>
                  <a:srgbClr val="FFFFFF"/>
                </a:highlight>
              </a:rPr>
              <a:t>Φ = </a:t>
            </a:r>
            <a:r>
              <a:rPr lang="en-GB"/>
              <a:t>SVD( </a:t>
            </a:r>
            <a:r>
              <a:rPr b="1" lang="en-GB"/>
              <a:t>S</a:t>
            </a:r>
            <a:r>
              <a:rPr lang="en-GB"/>
              <a:t>, </a:t>
            </a:r>
            <a:r>
              <a:rPr lang="en-GB" sz="1050">
                <a:solidFill>
                  <a:srgbClr val="202122"/>
                </a:solidFill>
                <a:highlight>
                  <a:srgbClr val="FFFFFF"/>
                </a:highlight>
              </a:rPr>
              <a:t> </a:t>
            </a:r>
            <a:r>
              <a:rPr lang="en-GB" sz="1650">
                <a:solidFill>
                  <a:srgbClr val="202122"/>
                </a:solidFill>
                <a:highlight>
                  <a:srgbClr val="FFFFFF"/>
                </a:highlight>
              </a:rPr>
              <a:t>ϵ</a:t>
            </a:r>
            <a:r>
              <a:rPr lang="en-GB"/>
              <a:t> )</a:t>
            </a:r>
            <a:endParaRPr/>
          </a:p>
        </p:txBody>
      </p:sp>
      <p:cxnSp>
        <p:nvCxnSpPr>
          <p:cNvPr id="197" name="Google Shape;197;g2ee34bcc1ef_0_22"/>
          <p:cNvCxnSpPr/>
          <p:nvPr/>
        </p:nvCxnSpPr>
        <p:spPr>
          <a:xfrm>
            <a:off x="5333975" y="2902050"/>
            <a:ext cx="462600" cy="0"/>
          </a:xfrm>
          <a:prstGeom prst="straightConnector1">
            <a:avLst/>
          </a:prstGeom>
          <a:noFill/>
          <a:ln cap="flat" cmpd="sng" w="9525">
            <a:solidFill>
              <a:srgbClr val="1A1A1A"/>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ee34bcc1ef_0_46"/>
          <p:cNvSpPr/>
          <p:nvPr/>
        </p:nvSpPr>
        <p:spPr>
          <a:xfrm>
            <a:off x="1325703" y="1904038"/>
            <a:ext cx="1592100" cy="1902000"/>
          </a:xfrm>
          <a:prstGeom prst="rect">
            <a:avLst/>
          </a:prstGeom>
          <a:solidFill>
            <a:srgbClr val="B6D7A8"/>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04" name="Google Shape;204;g2ee34bcc1ef_0_46"/>
          <p:cNvSpPr txBox="1"/>
          <p:nvPr/>
        </p:nvSpPr>
        <p:spPr>
          <a:xfrm>
            <a:off x="1900225" y="2606363"/>
            <a:ext cx="791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300"/>
              <a:t>S</a:t>
            </a:r>
            <a:endParaRPr sz="2300"/>
          </a:p>
        </p:txBody>
      </p:sp>
      <p:grpSp>
        <p:nvGrpSpPr>
          <p:cNvPr id="205" name="Google Shape;205;g2ee34bcc1ef_0_46"/>
          <p:cNvGrpSpPr/>
          <p:nvPr/>
        </p:nvGrpSpPr>
        <p:grpSpPr>
          <a:xfrm>
            <a:off x="1183345" y="1904013"/>
            <a:ext cx="142366" cy="1902056"/>
            <a:chOff x="3237237" y="1005991"/>
            <a:chExt cx="88316" cy="880500"/>
          </a:xfrm>
        </p:grpSpPr>
        <p:sp>
          <p:nvSpPr>
            <p:cNvPr id="206" name="Google Shape;206;g2ee34bcc1ef_0_46"/>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07" name="Google Shape;207;g2ee34bcc1ef_0_46"/>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208" name="Google Shape;208;g2ee34bcc1ef_0_46"/>
          <p:cNvSpPr/>
          <p:nvPr/>
        </p:nvSpPr>
        <p:spPr>
          <a:xfrm>
            <a:off x="5756024" y="19400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09" name="Google Shape;209;g2ee34bcc1ef_0_46"/>
          <p:cNvSpPr txBox="1"/>
          <p:nvPr/>
        </p:nvSpPr>
        <p:spPr>
          <a:xfrm>
            <a:off x="5809850" y="26143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210" name="Google Shape;210;g2ee34bcc1ef_0_46"/>
          <p:cNvSpPr txBox="1"/>
          <p:nvPr/>
        </p:nvSpPr>
        <p:spPr>
          <a:xfrm>
            <a:off x="5715000" y="1539825"/>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11" name="Google Shape;211;g2ee34bcc1ef_0_46"/>
          <p:cNvSpPr txBox="1"/>
          <p:nvPr/>
        </p:nvSpPr>
        <p:spPr>
          <a:xfrm>
            <a:off x="5639100" y="1139625"/>
            <a:ext cx="691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Lato"/>
                <a:ea typeface="Lato"/>
                <a:cs typeface="Lato"/>
                <a:sym typeface="Lato"/>
              </a:rPr>
              <a:t>Basis</a:t>
            </a:r>
            <a:endParaRPr b="1" sz="1100">
              <a:solidFill>
                <a:schemeClr val="dk2"/>
              </a:solidFill>
              <a:latin typeface="Lato"/>
              <a:ea typeface="Lato"/>
              <a:cs typeface="Lato"/>
              <a:sym typeface="Lato"/>
            </a:endParaRPr>
          </a:p>
        </p:txBody>
      </p:sp>
      <p:pic>
        <p:nvPicPr>
          <p:cNvPr id="212" name="Google Shape;212;g2ee34bcc1ef_0_46"/>
          <p:cNvPicPr preferRelativeResize="0"/>
          <p:nvPr/>
        </p:nvPicPr>
        <p:blipFill rotWithShape="1">
          <a:blip r:embed="rId3">
            <a:alphaModFix/>
          </a:blip>
          <a:srcRect b="9346" l="0" r="0" t="0"/>
          <a:stretch/>
        </p:blipFill>
        <p:spPr>
          <a:xfrm>
            <a:off x="7048325" y="3336225"/>
            <a:ext cx="1789999" cy="1061301"/>
          </a:xfrm>
          <a:prstGeom prst="rect">
            <a:avLst/>
          </a:prstGeom>
          <a:noFill/>
          <a:ln>
            <a:noFill/>
          </a:ln>
        </p:spPr>
      </p:pic>
      <p:sp>
        <p:nvSpPr>
          <p:cNvPr id="213" name="Google Shape;213;g2ee34bcc1ef_0_46"/>
          <p:cNvSpPr txBox="1"/>
          <p:nvPr/>
        </p:nvSpPr>
        <p:spPr>
          <a:xfrm>
            <a:off x="6456998" y="2649000"/>
            <a:ext cx="46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t>+</a:t>
            </a:r>
            <a:endParaRPr sz="2000"/>
          </a:p>
        </p:txBody>
      </p:sp>
      <p:sp>
        <p:nvSpPr>
          <p:cNvPr id="214" name="Google Shape;214;g2ee34bcc1ef_0_46"/>
          <p:cNvSpPr txBox="1"/>
          <p:nvPr/>
        </p:nvSpPr>
        <p:spPr>
          <a:xfrm>
            <a:off x="7259475" y="502250"/>
            <a:ext cx="1164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Lato"/>
                <a:ea typeface="Lato"/>
                <a:cs typeface="Lato"/>
                <a:sym typeface="Lato"/>
              </a:rPr>
              <a:t>Basis + </a:t>
            </a:r>
            <a:r>
              <a:rPr b="1" lang="en-GB" sz="1100">
                <a:solidFill>
                  <a:schemeClr val="dk2"/>
                </a:solidFill>
                <a:latin typeface="Lato"/>
                <a:ea typeface="Lato"/>
                <a:cs typeface="Lato"/>
                <a:sym typeface="Lato"/>
              </a:rPr>
              <a:t>ANN</a:t>
            </a:r>
            <a:endParaRPr b="1" sz="1100">
              <a:solidFill>
                <a:schemeClr val="dk2"/>
              </a:solidFill>
              <a:latin typeface="Lato"/>
              <a:ea typeface="Lato"/>
              <a:cs typeface="Lato"/>
              <a:sym typeface="Lato"/>
            </a:endParaRPr>
          </a:p>
        </p:txBody>
      </p:sp>
      <p:sp>
        <p:nvSpPr>
          <p:cNvPr id="215" name="Google Shape;215;g2ee34bcc1ef_0_46"/>
          <p:cNvSpPr/>
          <p:nvPr/>
        </p:nvSpPr>
        <p:spPr>
          <a:xfrm>
            <a:off x="7393849" y="1274250"/>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16" name="Google Shape;216;g2ee34bcc1ef_0_46"/>
          <p:cNvSpPr txBox="1"/>
          <p:nvPr/>
        </p:nvSpPr>
        <p:spPr>
          <a:xfrm>
            <a:off x="7469000" y="973475"/>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217" name="Google Shape;217;g2ee34bcc1ef_0_46"/>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18" name="Google Shape;218;g2ee34bcc1ef_0_46"/>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219" name="Google Shape;219;g2ee34bcc1ef_0_46"/>
          <p:cNvSpPr txBox="1"/>
          <p:nvPr/>
        </p:nvSpPr>
        <p:spPr>
          <a:xfrm>
            <a:off x="199450" y="1194913"/>
            <a:ext cx="1311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t>converged</a:t>
            </a:r>
            <a:endParaRPr/>
          </a:p>
        </p:txBody>
      </p:sp>
      <p:sp>
        <p:nvSpPr>
          <p:cNvPr id="220" name="Google Shape;220;g2ee34bcc1ef_0_46"/>
          <p:cNvSpPr txBox="1"/>
          <p:nvPr/>
        </p:nvSpPr>
        <p:spPr>
          <a:xfrm>
            <a:off x="2341125" y="1202563"/>
            <a:ext cx="153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chemeClr val="dk2"/>
                </a:solidFill>
                <a:latin typeface="Lato"/>
                <a:ea typeface="Lato"/>
                <a:cs typeface="Lato"/>
                <a:sym typeface="Lato"/>
              </a:rPr>
              <a:t>Nonconverged</a:t>
            </a:r>
            <a:r>
              <a:rPr lang="en-GB">
                <a:solidFill>
                  <a:schemeClr val="dk2"/>
                </a:solidFill>
              </a:rPr>
              <a:t>    </a:t>
            </a:r>
            <a:endParaRPr>
              <a:solidFill>
                <a:schemeClr val="dk2"/>
              </a:solidFill>
            </a:endParaRPr>
          </a:p>
        </p:txBody>
      </p:sp>
      <p:cxnSp>
        <p:nvCxnSpPr>
          <p:cNvPr id="221" name="Google Shape;221;g2ee34bcc1ef_0_46"/>
          <p:cNvCxnSpPr>
            <a:stCxn id="219" idx="2"/>
          </p:cNvCxnSpPr>
          <p:nvPr/>
        </p:nvCxnSpPr>
        <p:spPr>
          <a:xfrm>
            <a:off x="854950" y="1595113"/>
            <a:ext cx="400500" cy="500100"/>
          </a:xfrm>
          <a:prstGeom prst="straightConnector1">
            <a:avLst/>
          </a:prstGeom>
          <a:noFill/>
          <a:ln cap="flat" cmpd="sng" w="9525">
            <a:solidFill>
              <a:schemeClr val="dk2"/>
            </a:solidFill>
            <a:prstDash val="solid"/>
            <a:round/>
            <a:headEnd len="med" w="med" type="none"/>
            <a:tailEnd len="med" w="med" type="triangle"/>
          </a:ln>
        </p:spPr>
      </p:cxnSp>
      <p:cxnSp>
        <p:nvCxnSpPr>
          <p:cNvPr id="222" name="Google Shape;222;g2ee34bcc1ef_0_46"/>
          <p:cNvCxnSpPr>
            <a:stCxn id="220" idx="2"/>
          </p:cNvCxnSpPr>
          <p:nvPr/>
        </p:nvCxnSpPr>
        <p:spPr>
          <a:xfrm flipH="1">
            <a:off x="2769375" y="1602763"/>
            <a:ext cx="341400" cy="582300"/>
          </a:xfrm>
          <a:prstGeom prst="straightConnector1">
            <a:avLst/>
          </a:prstGeom>
          <a:noFill/>
          <a:ln cap="flat" cmpd="sng" w="9525">
            <a:solidFill>
              <a:schemeClr val="dk2"/>
            </a:solidFill>
            <a:prstDash val="solid"/>
            <a:round/>
            <a:headEnd len="med" w="med" type="none"/>
            <a:tailEnd len="med" w="med" type="triangle"/>
          </a:ln>
        </p:spPr>
      </p:cxnSp>
      <p:cxnSp>
        <p:nvCxnSpPr>
          <p:cNvPr id="223" name="Google Shape;223;g2ee34bcc1ef_0_46"/>
          <p:cNvCxnSpPr/>
          <p:nvPr/>
        </p:nvCxnSpPr>
        <p:spPr>
          <a:xfrm>
            <a:off x="3110775" y="2860300"/>
            <a:ext cx="462600" cy="0"/>
          </a:xfrm>
          <a:prstGeom prst="straightConnector1">
            <a:avLst/>
          </a:prstGeom>
          <a:noFill/>
          <a:ln cap="flat" cmpd="sng" w="9525">
            <a:solidFill>
              <a:srgbClr val="1A1A1A"/>
            </a:solidFill>
            <a:prstDash val="solid"/>
            <a:round/>
            <a:headEnd len="med" w="med" type="none"/>
            <a:tailEnd len="med" w="med" type="triangle"/>
          </a:ln>
        </p:spPr>
      </p:cxnSp>
      <p:sp>
        <p:nvSpPr>
          <p:cNvPr id="224" name="Google Shape;224;g2ee34bcc1ef_0_46"/>
          <p:cNvSpPr txBox="1"/>
          <p:nvPr/>
        </p:nvSpPr>
        <p:spPr>
          <a:xfrm>
            <a:off x="3653876" y="2656475"/>
            <a:ext cx="15795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50">
                <a:solidFill>
                  <a:srgbClr val="202122"/>
                </a:solidFill>
                <a:highlight>
                  <a:srgbClr val="FFFFFF"/>
                </a:highlight>
              </a:rPr>
              <a:t>Φ = </a:t>
            </a:r>
            <a:r>
              <a:rPr lang="en-GB"/>
              <a:t>SVD( </a:t>
            </a:r>
            <a:r>
              <a:rPr b="1" lang="en-GB"/>
              <a:t>S</a:t>
            </a:r>
            <a:r>
              <a:rPr lang="en-GB"/>
              <a:t>, </a:t>
            </a:r>
            <a:r>
              <a:rPr lang="en-GB" sz="1050">
                <a:solidFill>
                  <a:srgbClr val="202122"/>
                </a:solidFill>
                <a:highlight>
                  <a:srgbClr val="FFFFFF"/>
                </a:highlight>
              </a:rPr>
              <a:t> </a:t>
            </a:r>
            <a:r>
              <a:rPr lang="en-GB" sz="1650">
                <a:solidFill>
                  <a:srgbClr val="202122"/>
                </a:solidFill>
                <a:highlight>
                  <a:srgbClr val="FFFFFF"/>
                </a:highlight>
              </a:rPr>
              <a:t>ϵ</a:t>
            </a:r>
            <a:r>
              <a:rPr lang="en-GB"/>
              <a:t> )</a:t>
            </a:r>
            <a:endParaRPr/>
          </a:p>
        </p:txBody>
      </p:sp>
      <p:cxnSp>
        <p:nvCxnSpPr>
          <p:cNvPr id="225" name="Google Shape;225;g2ee34bcc1ef_0_46"/>
          <p:cNvCxnSpPr/>
          <p:nvPr/>
        </p:nvCxnSpPr>
        <p:spPr>
          <a:xfrm>
            <a:off x="5176500" y="2895300"/>
            <a:ext cx="462600" cy="0"/>
          </a:xfrm>
          <a:prstGeom prst="straightConnector1">
            <a:avLst/>
          </a:prstGeom>
          <a:noFill/>
          <a:ln cap="flat" cmpd="sng" w="9525">
            <a:solidFill>
              <a:srgbClr val="1A1A1A"/>
            </a:solidFill>
            <a:prstDash val="solid"/>
            <a:round/>
            <a:headEnd len="med" w="med" type="none"/>
            <a:tailEnd len="med" w="med" type="triangle"/>
          </a:ln>
        </p:spPr>
      </p:cxnSp>
      <p:pic>
        <p:nvPicPr>
          <p:cNvPr id="226" name="Google Shape;226;g2ee34bcc1ef_0_46"/>
          <p:cNvPicPr preferRelativeResize="0"/>
          <p:nvPr/>
        </p:nvPicPr>
        <p:blipFill>
          <a:blip r:embed="rId4">
            <a:alphaModFix/>
          </a:blip>
          <a:stretch>
            <a:fillRect/>
          </a:stretch>
        </p:blipFill>
        <p:spPr>
          <a:xfrm>
            <a:off x="3627601" y="3292325"/>
            <a:ext cx="1373425" cy="1370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ee3916e3dd_0_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33" name="Google Shape;233;g2ee3916e3dd_0_0"/>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4" name="Google Shape;234;g2ee3916e3dd_0_0"/>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5" name="Google Shape;235;g2ee3916e3dd_0_0"/>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236" name="Google Shape;236;g2ee3916e3dd_0_0"/>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ee3916e3dd_0_4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43" name="Google Shape;243;g2ee3916e3dd_0_41"/>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44" name="Google Shape;244;g2ee3916e3dd_0_41"/>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45" name="Google Shape;245;g2ee3916e3dd_0_41"/>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246" name="Google Shape;246;g2ee3916e3dd_0_41"/>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47" name="Google Shape;247;g2ee3916e3dd_0_41"/>
          <p:cNvSpPr/>
          <p:nvPr/>
        </p:nvSpPr>
        <p:spPr>
          <a:xfrm>
            <a:off x="2551925" y="1863525"/>
            <a:ext cx="537300" cy="19413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48" name="Google Shape;248;g2ee3916e3dd_0_41"/>
          <p:cNvSpPr txBox="1"/>
          <p:nvPr/>
        </p:nvSpPr>
        <p:spPr>
          <a:xfrm>
            <a:off x="2645050" y="137797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49" name="Google Shape;249;g2ee3916e3dd_0_41"/>
          <p:cNvSpPr txBox="1"/>
          <p:nvPr/>
        </p:nvSpPr>
        <p:spPr>
          <a:xfrm>
            <a:off x="1479756" y="2578000"/>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 </a:t>
            </a:r>
            <a:endParaRPr/>
          </a:p>
        </p:txBody>
      </p:sp>
      <p:sp>
        <p:nvSpPr>
          <p:cNvPr id="250" name="Google Shape;250;g2ee3916e3dd_0_41"/>
          <p:cNvSpPr/>
          <p:nvPr/>
        </p:nvSpPr>
        <p:spPr>
          <a:xfrm>
            <a:off x="2087200"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51" name="Google Shape;251;g2ee3916e3dd_0_41"/>
          <p:cNvSpPr txBox="1"/>
          <p:nvPr/>
        </p:nvSpPr>
        <p:spPr>
          <a:xfrm>
            <a:off x="2605750" y="25378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2ee3916e3dd_0_56"/>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Linear or Nonlinear decoder</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58" name="Google Shape;258;g2ee3916e3dd_0_56"/>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59" name="Google Shape;259;g2ee3916e3dd_0_56"/>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60" name="Google Shape;260;g2ee3916e3dd_0_56"/>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261" name="Google Shape;261;g2ee3916e3dd_0_56"/>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62" name="Google Shape;262;g2ee3916e3dd_0_56"/>
          <p:cNvSpPr/>
          <p:nvPr/>
        </p:nvSpPr>
        <p:spPr>
          <a:xfrm>
            <a:off x="2551925" y="1863525"/>
            <a:ext cx="537300" cy="19413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63" name="Google Shape;263;g2ee3916e3dd_0_56"/>
          <p:cNvSpPr txBox="1"/>
          <p:nvPr/>
        </p:nvSpPr>
        <p:spPr>
          <a:xfrm>
            <a:off x="2645050" y="137797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64" name="Google Shape;264;g2ee3916e3dd_0_56"/>
          <p:cNvSpPr txBox="1"/>
          <p:nvPr/>
        </p:nvSpPr>
        <p:spPr>
          <a:xfrm>
            <a:off x="1479756" y="2578000"/>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 </a:t>
            </a:r>
            <a:endParaRPr/>
          </a:p>
        </p:txBody>
      </p:sp>
      <p:sp>
        <p:nvSpPr>
          <p:cNvPr id="265" name="Google Shape;265;g2ee3916e3dd_0_56"/>
          <p:cNvSpPr/>
          <p:nvPr/>
        </p:nvSpPr>
        <p:spPr>
          <a:xfrm>
            <a:off x="2087200"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66" name="Google Shape;266;g2ee3916e3dd_0_56"/>
          <p:cNvSpPr txBox="1"/>
          <p:nvPr/>
        </p:nvSpPr>
        <p:spPr>
          <a:xfrm>
            <a:off x="2605750" y="25378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267" name="Google Shape;267;g2ee3916e3dd_0_56"/>
          <p:cNvSpPr/>
          <p:nvPr/>
        </p:nvSpPr>
        <p:spPr>
          <a:xfrm>
            <a:off x="5756024" y="19400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68" name="Google Shape;268;g2ee3916e3dd_0_56"/>
          <p:cNvSpPr txBox="1"/>
          <p:nvPr/>
        </p:nvSpPr>
        <p:spPr>
          <a:xfrm>
            <a:off x="5809850" y="26143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269" name="Google Shape;269;g2ee3916e3dd_0_56"/>
          <p:cNvSpPr txBox="1"/>
          <p:nvPr/>
        </p:nvSpPr>
        <p:spPr>
          <a:xfrm>
            <a:off x="5715000" y="1539825"/>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70" name="Google Shape;270;g2ee3916e3dd_0_56"/>
          <p:cNvSpPr txBox="1"/>
          <p:nvPr/>
        </p:nvSpPr>
        <p:spPr>
          <a:xfrm>
            <a:off x="6456998" y="2384225"/>
            <a:ext cx="46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t>+</a:t>
            </a:r>
            <a:endParaRPr sz="2000"/>
          </a:p>
        </p:txBody>
      </p:sp>
      <p:sp>
        <p:nvSpPr>
          <p:cNvPr id="271" name="Google Shape;271;g2ee3916e3dd_0_56"/>
          <p:cNvSpPr/>
          <p:nvPr/>
        </p:nvSpPr>
        <p:spPr>
          <a:xfrm>
            <a:off x="7018074" y="1940025"/>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72" name="Google Shape;272;g2ee3916e3dd_0_56"/>
          <p:cNvSpPr txBox="1"/>
          <p:nvPr/>
        </p:nvSpPr>
        <p:spPr>
          <a:xfrm>
            <a:off x="7093225" y="1639250"/>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273" name="Google Shape;273;g2ee3916e3dd_0_56"/>
          <p:cNvSpPr/>
          <p:nvPr/>
        </p:nvSpPr>
        <p:spPr>
          <a:xfrm>
            <a:off x="6383500" y="194820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4" name="Google Shape;274;g2ee3916e3dd_0_56"/>
          <p:cNvSpPr/>
          <p:nvPr/>
        </p:nvSpPr>
        <p:spPr>
          <a:xfrm>
            <a:off x="4755695" y="1867788"/>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5" name="Google Shape;275;g2ee3916e3dd_0_56"/>
          <p:cNvSpPr txBox="1"/>
          <p:nvPr/>
        </p:nvSpPr>
        <p:spPr>
          <a:xfrm>
            <a:off x="4829206" y="2557125"/>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a:t>
            </a:r>
            <a:endParaRPr/>
          </a:p>
        </p:txBody>
      </p:sp>
      <p:sp>
        <p:nvSpPr>
          <p:cNvPr id="276" name="Google Shape;276;g2ee3916e3dd_0_56"/>
          <p:cNvSpPr/>
          <p:nvPr/>
        </p:nvSpPr>
        <p:spPr>
          <a:xfrm>
            <a:off x="5255863"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7" name="Google Shape;277;g2ee3916e3dd_0_56"/>
          <p:cNvSpPr txBox="1"/>
          <p:nvPr/>
        </p:nvSpPr>
        <p:spPr>
          <a:xfrm>
            <a:off x="6404112" y="1917450"/>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78" name="Google Shape;278;g2ee3916e3dd_0_56"/>
          <p:cNvSpPr txBox="1"/>
          <p:nvPr/>
        </p:nvSpPr>
        <p:spPr>
          <a:xfrm>
            <a:off x="7958043" y="1965625"/>
            <a:ext cx="841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t>NN(  )</a:t>
            </a:r>
            <a:endParaRPr sz="1500"/>
          </a:p>
          <a:p>
            <a:pPr indent="0" lvl="0" marL="0" rtl="0" algn="l">
              <a:spcBef>
                <a:spcPts val="0"/>
              </a:spcBef>
              <a:spcAft>
                <a:spcPts val="0"/>
              </a:spcAft>
              <a:buNone/>
            </a:pPr>
            <a:r>
              <a:t/>
            </a:r>
            <a:endParaRPr/>
          </a:p>
        </p:txBody>
      </p:sp>
      <p:sp>
        <p:nvSpPr>
          <p:cNvPr id="279" name="Google Shape;279;g2ee3916e3dd_0_56"/>
          <p:cNvSpPr/>
          <p:nvPr/>
        </p:nvSpPr>
        <p:spPr>
          <a:xfrm>
            <a:off x="8402100" y="191745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