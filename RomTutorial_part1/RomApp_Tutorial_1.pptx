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
      <p:font typeface="Helvetica Neue"/>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gkF0MRQFC3zlLOW1IrVXmMic+5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f0dd55cae2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f0dd55cae2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f0dd55cae2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ed1619b06e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ed1619b06e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2ed1619b06e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d1619b06e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ed1619b06e_1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2ed1619b06e_1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d1619b06e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d1619b06e_1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2ed1619b06e_1_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ed1619b06e_1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ed1619b06e_1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g2ed1619b06e_1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d1619b06e_1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ed1619b06e_1_1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2ed1619b06e_1_1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ed1619b06e_1_4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ed1619b06e_1_4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2ed1619b06e_1_4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ed1619b06e_1_3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ed1619b06e_1_3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2ed1619b06e_1_3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ed1619b06e_1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ed1619b06e_1_1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2ed1619b06e_1_1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jpg"/><Relationship Id="rId4" Type="http://schemas.openxmlformats.org/officeDocument/2006/relationships/image" Target="../media/image4.jpg"/><Relationship Id="rId11" Type="http://schemas.openxmlformats.org/officeDocument/2006/relationships/hyperlink" Target="about:blank" TargetMode="External"/><Relationship Id="rId10" Type="http://schemas.openxmlformats.org/officeDocument/2006/relationships/image" Target="../media/image7.png"/><Relationship Id="rId9" Type="http://schemas.openxmlformats.org/officeDocument/2006/relationships/hyperlink" Target="http://www.linkedin.com/company/eflows4hpc" TargetMode="External"/><Relationship Id="rId5" Type="http://schemas.openxmlformats.org/officeDocument/2006/relationships/image" Target="../media/image8.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3"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0"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18.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22.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lang="en-GB" sz="3600">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Overview of ROMs in Kratos </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Setup a FOM (StructuralMechanics)</a:t>
            </a:r>
            <a:endParaRPr b="1" sz="2400" u="none" cap="none" strike="noStrike">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Setup a ROM (</a:t>
            </a:r>
            <a:r>
              <a:rPr b="1" lang="en-GB" sz="2400">
                <a:solidFill>
                  <a:schemeClr val="dk2"/>
                </a:solidFill>
                <a:latin typeface="Calibri"/>
                <a:ea typeface="Calibri"/>
                <a:cs typeface="Calibri"/>
                <a:sym typeface="Calibri"/>
              </a:rPr>
              <a:t>StructuralMechanics)</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ROM Example 2 (FluidDynamics)</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ROM Advanced Options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f0dd55cae2_2_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32" name="Google Shape;132;g2f0dd55cae2_2_0"/>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33" name="Google Shape;133;g2f0dd55cae2_2_0"/>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Overview of ROMs in Kratos </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Setup a FOM (StructuralMechanics)</a:t>
            </a:r>
            <a:endParaRPr b="1" sz="2400" u="none" cap="none" strike="noStrike">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Setup a ROM (StructuralMechanics)</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ROM Example 2 (FluidDynamics)</a:t>
            </a:r>
            <a:endParaRPr b="1" sz="2400">
              <a:solidFill>
                <a:schemeClr val="dk2"/>
              </a:solidFill>
              <a:latin typeface="Calibri"/>
              <a:ea typeface="Calibri"/>
              <a:cs typeface="Calibri"/>
              <a:sym typeface="Calibri"/>
            </a:endParaRPr>
          </a:p>
          <a:p>
            <a:pPr indent="0" lvl="0" marL="457200" marR="0" rtl="0" algn="l">
              <a:lnSpc>
                <a:spcPct val="90000"/>
              </a:lnSpc>
              <a:spcBef>
                <a:spcPts val="0"/>
              </a:spcBef>
              <a:spcAft>
                <a:spcPts val="0"/>
              </a:spcAft>
              <a:buNone/>
            </a:pPr>
            <a:r>
              <a:t/>
            </a:r>
            <a:endParaRPr b="1" sz="2400">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lang="en-GB" sz="2400">
                <a:solidFill>
                  <a:schemeClr val="dk2"/>
                </a:solidFill>
                <a:latin typeface="Calibri"/>
                <a:ea typeface="Calibri"/>
                <a:cs typeface="Calibri"/>
                <a:sym typeface="Calibri"/>
              </a:rPr>
              <a:t>ROM Advanced Options </a:t>
            </a:r>
            <a:endParaRPr b="1" sz="2400">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ed1619b06e_1_7"/>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
        <p:nvSpPr>
          <p:cNvPr id="140" name="Google Shape;140;g2ed1619b06e_1_7"/>
          <p:cNvSpPr txBox="1"/>
          <p:nvPr/>
        </p:nvSpPr>
        <p:spPr>
          <a:xfrm>
            <a:off x="3063738" y="1469950"/>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descr="&lt;math xmlns=&quot;http://www.w3.org/1998/Math/MathML&quot;&gt;&lt;mi&gt;&amp;#x3BC;&lt;/mi&gt;&lt;/math&gt;" id="141" name="Google Shape;141;g2ed1619b06e_1_7" title="mu"/>
          <p:cNvPicPr preferRelativeResize="0"/>
          <p:nvPr/>
        </p:nvPicPr>
        <p:blipFill>
          <a:blip r:embed="rId3">
            <a:alphaModFix/>
          </a:blip>
          <a:stretch>
            <a:fillRect/>
          </a:stretch>
        </p:blipFill>
        <p:spPr>
          <a:xfrm>
            <a:off x="1387475" y="1692363"/>
            <a:ext cx="280511" cy="294084"/>
          </a:xfrm>
          <a:prstGeom prst="rect">
            <a:avLst/>
          </a:prstGeom>
          <a:noFill/>
          <a:ln>
            <a:noFill/>
          </a:ln>
        </p:spPr>
      </p:pic>
      <p:cxnSp>
        <p:nvCxnSpPr>
          <p:cNvPr id="142" name="Google Shape;142;g2ed1619b06e_1_7"/>
          <p:cNvCxnSpPr/>
          <p:nvPr/>
        </p:nvCxnSpPr>
        <p:spPr>
          <a:xfrm flipH="1" rot="10800000">
            <a:off x="1972475" y="1837300"/>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43" name="Google Shape;143;g2ed1619b06e_1_7"/>
          <p:cNvSpPr txBox="1"/>
          <p:nvPr/>
        </p:nvSpPr>
        <p:spPr>
          <a:xfrm>
            <a:off x="806450" y="20858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144" name="Google Shape;144;g2ed1619b06e_1_7"/>
          <p:cNvSpPr txBox="1"/>
          <p:nvPr/>
        </p:nvSpPr>
        <p:spPr>
          <a:xfrm>
            <a:off x="764600" y="1033212"/>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145" name="Google Shape;145;g2ed1619b06e_1_7"/>
          <p:cNvSpPr txBox="1"/>
          <p:nvPr/>
        </p:nvSpPr>
        <p:spPr>
          <a:xfrm>
            <a:off x="6143874" y="1035803"/>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OUTPUT</a:t>
            </a:r>
            <a:endParaRPr/>
          </a:p>
        </p:txBody>
      </p:sp>
      <p:sp>
        <p:nvSpPr>
          <p:cNvPr id="146" name="Google Shape;146;g2ed1619b06e_1_7"/>
          <p:cNvSpPr txBox="1"/>
          <p:nvPr/>
        </p:nvSpPr>
        <p:spPr>
          <a:xfrm>
            <a:off x="3235869" y="1033204"/>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Full Order Model (FOM)</a:t>
            </a:r>
            <a:endParaRPr/>
          </a:p>
        </p:txBody>
      </p:sp>
      <p:cxnSp>
        <p:nvCxnSpPr>
          <p:cNvPr id="147" name="Google Shape;147;g2ed1619b06e_1_7"/>
          <p:cNvCxnSpPr/>
          <p:nvPr/>
        </p:nvCxnSpPr>
        <p:spPr>
          <a:xfrm flipH="1" rot="10800000">
            <a:off x="5603700" y="1837313"/>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48" name="Google Shape;148;g2ed1619b06e_1_7"/>
          <p:cNvSpPr/>
          <p:nvPr/>
        </p:nvSpPr>
        <p:spPr>
          <a:xfrm>
            <a:off x="6798621" y="1399175"/>
            <a:ext cx="240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49" name="Google Shape;149;g2ed1619b06e_1_7"/>
          <p:cNvSpPr txBox="1"/>
          <p:nvPr/>
        </p:nvSpPr>
        <p:spPr>
          <a:xfrm>
            <a:off x="6280475" y="227967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pic>
        <p:nvPicPr>
          <p:cNvPr id="150" name="Google Shape;150;g2ed1619b06e_1_7"/>
          <p:cNvPicPr preferRelativeResize="0"/>
          <p:nvPr/>
        </p:nvPicPr>
        <p:blipFill>
          <a:blip r:embed="rId4">
            <a:alphaModFix/>
          </a:blip>
          <a:stretch>
            <a:fillRect/>
          </a:stretch>
        </p:blipFill>
        <p:spPr>
          <a:xfrm>
            <a:off x="7285000" y="1438275"/>
            <a:ext cx="1088767" cy="354850"/>
          </a:xfrm>
          <a:prstGeom prst="rect">
            <a:avLst/>
          </a:prstGeom>
          <a:noFill/>
          <a:ln>
            <a:noFill/>
          </a:ln>
        </p:spPr>
      </p:pic>
      <p:pic>
        <p:nvPicPr>
          <p:cNvPr id="151" name="Google Shape;151;g2ed1619b06e_1_7"/>
          <p:cNvPicPr preferRelativeResize="0"/>
          <p:nvPr/>
        </p:nvPicPr>
        <p:blipFill>
          <a:blip r:embed="rId5">
            <a:alphaModFix/>
          </a:blip>
          <a:stretch>
            <a:fillRect/>
          </a:stretch>
        </p:blipFill>
        <p:spPr>
          <a:xfrm>
            <a:off x="7399125" y="1920588"/>
            <a:ext cx="799887" cy="231625"/>
          </a:xfrm>
          <a:prstGeom prst="rect">
            <a:avLst/>
          </a:prstGeom>
          <a:noFill/>
          <a:ln>
            <a:noFill/>
          </a:ln>
        </p:spPr>
      </p:pic>
      <p:pic>
        <p:nvPicPr>
          <p:cNvPr id="152" name="Google Shape;152;g2ed1619b06e_1_7"/>
          <p:cNvPicPr preferRelativeResize="0"/>
          <p:nvPr/>
        </p:nvPicPr>
        <p:blipFill>
          <a:blip r:embed="rId6">
            <a:alphaModFix/>
          </a:blip>
          <a:stretch>
            <a:fillRect/>
          </a:stretch>
        </p:blipFill>
        <p:spPr>
          <a:xfrm>
            <a:off x="5252338" y="364600"/>
            <a:ext cx="799875" cy="799875"/>
          </a:xfrm>
          <a:prstGeom prst="rect">
            <a:avLst/>
          </a:prstGeom>
          <a:noFill/>
          <a:ln>
            <a:noFill/>
          </a:ln>
        </p:spPr>
      </p:pic>
      <p:pic>
        <p:nvPicPr>
          <p:cNvPr id="153" name="Google Shape;153;g2ed1619b06e_1_7"/>
          <p:cNvPicPr preferRelativeResize="0"/>
          <p:nvPr/>
        </p:nvPicPr>
        <p:blipFill>
          <a:blip r:embed="rId7">
            <a:alphaModFix/>
          </a:blip>
          <a:stretch>
            <a:fillRect/>
          </a:stretch>
        </p:blipFill>
        <p:spPr>
          <a:xfrm>
            <a:off x="3516450" y="1488525"/>
            <a:ext cx="1524000" cy="342600"/>
          </a:xfrm>
          <a:prstGeom prst="rect">
            <a:avLst/>
          </a:prstGeom>
          <a:noFill/>
          <a:ln>
            <a:noFill/>
          </a:ln>
        </p:spPr>
      </p:pic>
      <p:sp>
        <p:nvSpPr>
          <p:cNvPr id="154" name="Google Shape;154;g2ed1619b06e_1_7"/>
          <p:cNvSpPr txBox="1"/>
          <p:nvPr/>
        </p:nvSpPr>
        <p:spPr>
          <a:xfrm>
            <a:off x="3154950" y="1820250"/>
            <a:ext cx="2330700" cy="31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chemeClr val="dk2"/>
                </a:solidFill>
                <a:latin typeface="Lato"/>
                <a:ea typeface="Lato"/>
                <a:cs typeface="Lato"/>
                <a:sym typeface="Lato"/>
              </a:rPr>
              <a:t>StructuralMechanics</a:t>
            </a:r>
            <a:r>
              <a:rPr b="1" lang="en-GB" sz="1100">
                <a:solidFill>
                  <a:schemeClr val="dk2"/>
                </a:solidFill>
                <a:latin typeface="Lato"/>
                <a:ea typeface="Lato"/>
                <a:cs typeface="Lato"/>
                <a:sym typeface="Lato"/>
              </a:rPr>
              <a:t>Application</a:t>
            </a:r>
            <a:endParaRPr b="1" sz="1100">
              <a:solidFill>
                <a:schemeClr val="dk2"/>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ed1619b06e_1_28"/>
          <p:cNvSpPr txBox="1"/>
          <p:nvPr/>
        </p:nvSpPr>
        <p:spPr>
          <a:xfrm>
            <a:off x="3063738" y="1469950"/>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descr="&lt;math xmlns=&quot;http://www.w3.org/1998/Math/MathML&quot;&gt;&lt;mi&gt;&amp;#x3BC;&lt;/mi&gt;&lt;/math&gt;" id="161" name="Google Shape;161;g2ed1619b06e_1_28" title="mu"/>
          <p:cNvPicPr preferRelativeResize="0"/>
          <p:nvPr/>
        </p:nvPicPr>
        <p:blipFill>
          <a:blip r:embed="rId3">
            <a:alphaModFix/>
          </a:blip>
          <a:stretch>
            <a:fillRect/>
          </a:stretch>
        </p:blipFill>
        <p:spPr>
          <a:xfrm>
            <a:off x="1387475" y="1692363"/>
            <a:ext cx="280511" cy="294084"/>
          </a:xfrm>
          <a:prstGeom prst="rect">
            <a:avLst/>
          </a:prstGeom>
          <a:noFill/>
          <a:ln>
            <a:noFill/>
          </a:ln>
        </p:spPr>
      </p:pic>
      <p:cxnSp>
        <p:nvCxnSpPr>
          <p:cNvPr id="162" name="Google Shape;162;g2ed1619b06e_1_28"/>
          <p:cNvCxnSpPr/>
          <p:nvPr/>
        </p:nvCxnSpPr>
        <p:spPr>
          <a:xfrm flipH="1" rot="10800000">
            <a:off x="1972475" y="1837300"/>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63" name="Google Shape;163;g2ed1619b06e_1_28"/>
          <p:cNvSpPr txBox="1"/>
          <p:nvPr/>
        </p:nvSpPr>
        <p:spPr>
          <a:xfrm>
            <a:off x="806450" y="20858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164" name="Google Shape;164;g2ed1619b06e_1_28"/>
          <p:cNvSpPr txBox="1"/>
          <p:nvPr/>
        </p:nvSpPr>
        <p:spPr>
          <a:xfrm>
            <a:off x="764600" y="1033212"/>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165" name="Google Shape;165;g2ed1619b06e_1_28"/>
          <p:cNvSpPr txBox="1"/>
          <p:nvPr/>
        </p:nvSpPr>
        <p:spPr>
          <a:xfrm>
            <a:off x="6143874" y="1035803"/>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OUTPUT</a:t>
            </a:r>
            <a:endParaRPr/>
          </a:p>
        </p:txBody>
      </p:sp>
      <p:sp>
        <p:nvSpPr>
          <p:cNvPr id="166" name="Google Shape;166;g2ed1619b06e_1_28"/>
          <p:cNvSpPr txBox="1"/>
          <p:nvPr/>
        </p:nvSpPr>
        <p:spPr>
          <a:xfrm>
            <a:off x="3235869" y="1033204"/>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Full Order Model (FOM)</a:t>
            </a:r>
            <a:endParaRPr/>
          </a:p>
        </p:txBody>
      </p:sp>
      <p:cxnSp>
        <p:nvCxnSpPr>
          <p:cNvPr id="167" name="Google Shape;167;g2ed1619b06e_1_28"/>
          <p:cNvCxnSpPr/>
          <p:nvPr/>
        </p:nvCxnSpPr>
        <p:spPr>
          <a:xfrm flipH="1" rot="10800000">
            <a:off x="5603700" y="1837313"/>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68" name="Google Shape;168;g2ed1619b06e_1_28"/>
          <p:cNvSpPr/>
          <p:nvPr/>
        </p:nvSpPr>
        <p:spPr>
          <a:xfrm>
            <a:off x="6798621" y="1399175"/>
            <a:ext cx="240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169" name="Google Shape;169;g2ed1619b06e_1_28"/>
          <p:cNvSpPr txBox="1"/>
          <p:nvPr/>
        </p:nvSpPr>
        <p:spPr>
          <a:xfrm>
            <a:off x="6280475" y="227967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pic>
        <p:nvPicPr>
          <p:cNvPr id="170" name="Google Shape;170;g2ed1619b06e_1_28"/>
          <p:cNvPicPr preferRelativeResize="0"/>
          <p:nvPr/>
        </p:nvPicPr>
        <p:blipFill>
          <a:blip r:embed="rId4">
            <a:alphaModFix/>
          </a:blip>
          <a:stretch>
            <a:fillRect/>
          </a:stretch>
        </p:blipFill>
        <p:spPr>
          <a:xfrm>
            <a:off x="7285000" y="1438275"/>
            <a:ext cx="1088767" cy="354850"/>
          </a:xfrm>
          <a:prstGeom prst="rect">
            <a:avLst/>
          </a:prstGeom>
          <a:noFill/>
          <a:ln>
            <a:noFill/>
          </a:ln>
        </p:spPr>
      </p:pic>
      <p:pic>
        <p:nvPicPr>
          <p:cNvPr id="171" name="Google Shape;171;g2ed1619b06e_1_28"/>
          <p:cNvPicPr preferRelativeResize="0"/>
          <p:nvPr/>
        </p:nvPicPr>
        <p:blipFill>
          <a:blip r:embed="rId5">
            <a:alphaModFix/>
          </a:blip>
          <a:stretch>
            <a:fillRect/>
          </a:stretch>
        </p:blipFill>
        <p:spPr>
          <a:xfrm>
            <a:off x="7399125" y="1920588"/>
            <a:ext cx="799887" cy="231625"/>
          </a:xfrm>
          <a:prstGeom prst="rect">
            <a:avLst/>
          </a:prstGeom>
          <a:noFill/>
          <a:ln>
            <a:noFill/>
          </a:ln>
        </p:spPr>
      </p:pic>
      <p:sp>
        <p:nvSpPr>
          <p:cNvPr id="172" name="Google Shape;172;g2ed1619b06e_1_28"/>
          <p:cNvSpPr txBox="1"/>
          <p:nvPr/>
        </p:nvSpPr>
        <p:spPr>
          <a:xfrm>
            <a:off x="3105588" y="3307450"/>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descr="&lt;math xmlns=&quot;http://www.w3.org/1998/Math/MathML&quot;&gt;&lt;mi&gt;&amp;#x3BC;&lt;/mi&gt;&lt;/math&gt;" id="173" name="Google Shape;173;g2ed1619b06e_1_28" title="mu"/>
          <p:cNvPicPr preferRelativeResize="0"/>
          <p:nvPr/>
        </p:nvPicPr>
        <p:blipFill>
          <a:blip r:embed="rId3">
            <a:alphaModFix/>
          </a:blip>
          <a:stretch>
            <a:fillRect/>
          </a:stretch>
        </p:blipFill>
        <p:spPr>
          <a:xfrm>
            <a:off x="1429325" y="3529863"/>
            <a:ext cx="280511" cy="294084"/>
          </a:xfrm>
          <a:prstGeom prst="rect">
            <a:avLst/>
          </a:prstGeom>
          <a:noFill/>
          <a:ln>
            <a:noFill/>
          </a:ln>
        </p:spPr>
      </p:pic>
      <p:cxnSp>
        <p:nvCxnSpPr>
          <p:cNvPr id="174" name="Google Shape;174;g2ed1619b06e_1_28"/>
          <p:cNvCxnSpPr/>
          <p:nvPr/>
        </p:nvCxnSpPr>
        <p:spPr>
          <a:xfrm flipH="1" rot="10800000">
            <a:off x="2014325" y="3674800"/>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75" name="Google Shape;175;g2ed1619b06e_1_28"/>
          <p:cNvSpPr txBox="1"/>
          <p:nvPr/>
        </p:nvSpPr>
        <p:spPr>
          <a:xfrm>
            <a:off x="848300" y="39233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176" name="Google Shape;176;g2ed1619b06e_1_28"/>
          <p:cNvSpPr txBox="1"/>
          <p:nvPr/>
        </p:nvSpPr>
        <p:spPr>
          <a:xfrm>
            <a:off x="806450" y="2870712"/>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177" name="Google Shape;177;g2ed1619b06e_1_28"/>
          <p:cNvSpPr txBox="1"/>
          <p:nvPr/>
        </p:nvSpPr>
        <p:spPr>
          <a:xfrm>
            <a:off x="6185724" y="2873303"/>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Approximated output</a:t>
            </a:r>
            <a:endParaRPr/>
          </a:p>
        </p:txBody>
      </p:sp>
      <p:cxnSp>
        <p:nvCxnSpPr>
          <p:cNvPr id="178" name="Google Shape;178;g2ed1619b06e_1_28"/>
          <p:cNvCxnSpPr/>
          <p:nvPr/>
        </p:nvCxnSpPr>
        <p:spPr>
          <a:xfrm flipH="1" rot="10800000">
            <a:off x="5645550" y="3674813"/>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79" name="Google Shape;179;g2ed1619b06e_1_28"/>
          <p:cNvSpPr/>
          <p:nvPr/>
        </p:nvSpPr>
        <p:spPr>
          <a:xfrm>
            <a:off x="6840471" y="3236675"/>
            <a:ext cx="240600" cy="880500"/>
          </a:xfrm>
          <a:prstGeom prst="rect">
            <a:avLst/>
          </a:prstGeom>
          <a:solidFill>
            <a:srgbClr val="E0666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50000"/>
              </a:lnSpc>
              <a:spcBef>
                <a:spcPts val="2400"/>
              </a:spcBef>
              <a:spcAft>
                <a:spcPts val="0"/>
              </a:spcAft>
              <a:buNone/>
            </a:pPr>
            <a:r>
              <a:rPr lang="en-GB" sz="1600">
                <a:solidFill>
                  <a:srgbClr val="191E3F"/>
                </a:solidFill>
                <a:highlight>
                  <a:srgbClr val="FFFFFF"/>
                </a:highlight>
                <a:latin typeface="Times New Roman"/>
                <a:ea typeface="Times New Roman"/>
                <a:cs typeface="Times New Roman"/>
                <a:sym typeface="Times New Roman"/>
              </a:rPr>
              <a:t>ũ</a:t>
            </a:r>
            <a:endParaRPr sz="1600">
              <a:solidFill>
                <a:srgbClr val="191E3F"/>
              </a:solidFill>
              <a:highlight>
                <a:srgbClr val="FFFFFF"/>
              </a:highlight>
              <a:latin typeface="Times New Roman"/>
              <a:ea typeface="Times New Roman"/>
              <a:cs typeface="Times New Roman"/>
              <a:sym typeface="Times New Roman"/>
            </a:endParaRPr>
          </a:p>
          <a:p>
            <a:pPr indent="0" lvl="0" marL="0" marR="0" rtl="0" algn="ctr">
              <a:spcBef>
                <a:spcPts val="600"/>
              </a:spcBef>
              <a:spcAft>
                <a:spcPts val="0"/>
              </a:spcAft>
              <a:buNone/>
            </a:pPr>
            <a:r>
              <a:t/>
            </a:r>
            <a:endParaRPr b="1" sz="1350">
              <a:latin typeface="Calibri"/>
              <a:ea typeface="Calibri"/>
              <a:cs typeface="Calibri"/>
              <a:sym typeface="Calibri"/>
            </a:endParaRPr>
          </a:p>
        </p:txBody>
      </p:sp>
      <p:sp>
        <p:nvSpPr>
          <p:cNvPr id="180" name="Google Shape;180;g2ed1619b06e_1_28"/>
          <p:cNvSpPr txBox="1"/>
          <p:nvPr/>
        </p:nvSpPr>
        <p:spPr>
          <a:xfrm>
            <a:off x="6322325" y="411717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sp>
        <p:nvSpPr>
          <p:cNvPr id="181" name="Google Shape;181;g2ed1619b06e_1_28"/>
          <p:cNvSpPr txBox="1"/>
          <p:nvPr/>
        </p:nvSpPr>
        <p:spPr>
          <a:xfrm>
            <a:off x="3333094" y="2790429"/>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Surrogate Model </a:t>
            </a:r>
            <a:endParaRPr/>
          </a:p>
        </p:txBody>
      </p:sp>
      <p:pic>
        <p:nvPicPr>
          <p:cNvPr id="182" name="Google Shape;182;g2ed1619b06e_1_28"/>
          <p:cNvPicPr preferRelativeResize="0"/>
          <p:nvPr/>
        </p:nvPicPr>
        <p:blipFill>
          <a:blip r:embed="rId6">
            <a:alphaModFix/>
          </a:blip>
          <a:stretch>
            <a:fillRect/>
          </a:stretch>
        </p:blipFill>
        <p:spPr>
          <a:xfrm>
            <a:off x="5252338" y="364600"/>
            <a:ext cx="799875" cy="799875"/>
          </a:xfrm>
          <a:prstGeom prst="rect">
            <a:avLst/>
          </a:prstGeom>
          <a:noFill/>
          <a:ln>
            <a:noFill/>
          </a:ln>
        </p:spPr>
      </p:pic>
      <p:pic>
        <p:nvPicPr>
          <p:cNvPr id="183" name="Google Shape;183;g2ed1619b06e_1_28"/>
          <p:cNvPicPr preferRelativeResize="0"/>
          <p:nvPr/>
        </p:nvPicPr>
        <p:blipFill>
          <a:blip r:embed="rId7">
            <a:alphaModFix/>
          </a:blip>
          <a:stretch>
            <a:fillRect/>
          </a:stretch>
        </p:blipFill>
        <p:spPr>
          <a:xfrm>
            <a:off x="4780750" y="1986438"/>
            <a:ext cx="1743076" cy="1743076"/>
          </a:xfrm>
          <a:prstGeom prst="rect">
            <a:avLst/>
          </a:prstGeom>
          <a:noFill/>
          <a:ln>
            <a:noFill/>
          </a:ln>
        </p:spPr>
      </p:pic>
      <p:pic>
        <p:nvPicPr>
          <p:cNvPr id="184" name="Google Shape;184;g2ed1619b06e_1_28"/>
          <p:cNvPicPr preferRelativeResize="0"/>
          <p:nvPr/>
        </p:nvPicPr>
        <p:blipFill>
          <a:blip r:embed="rId8">
            <a:alphaModFix/>
          </a:blip>
          <a:stretch>
            <a:fillRect/>
          </a:stretch>
        </p:blipFill>
        <p:spPr>
          <a:xfrm>
            <a:off x="7397725" y="3420053"/>
            <a:ext cx="1088775" cy="254747"/>
          </a:xfrm>
          <a:prstGeom prst="rect">
            <a:avLst/>
          </a:prstGeom>
          <a:noFill/>
          <a:ln>
            <a:noFill/>
          </a:ln>
        </p:spPr>
      </p:pic>
      <p:pic>
        <p:nvPicPr>
          <p:cNvPr id="185" name="Google Shape;185;g2ed1619b06e_1_28"/>
          <p:cNvPicPr preferRelativeResize="0"/>
          <p:nvPr/>
        </p:nvPicPr>
        <p:blipFill>
          <a:blip r:embed="rId9">
            <a:alphaModFix/>
          </a:blip>
          <a:stretch>
            <a:fillRect/>
          </a:stretch>
        </p:blipFill>
        <p:spPr>
          <a:xfrm>
            <a:off x="7467600" y="3799221"/>
            <a:ext cx="905100" cy="324729"/>
          </a:xfrm>
          <a:prstGeom prst="rect">
            <a:avLst/>
          </a:prstGeom>
          <a:noFill/>
          <a:ln>
            <a:noFill/>
          </a:ln>
        </p:spPr>
      </p:pic>
      <p:pic>
        <p:nvPicPr>
          <p:cNvPr id="186" name="Google Shape;186;g2ed1619b06e_1_28"/>
          <p:cNvPicPr preferRelativeResize="0"/>
          <p:nvPr/>
        </p:nvPicPr>
        <p:blipFill>
          <a:blip r:embed="rId10">
            <a:alphaModFix/>
          </a:blip>
          <a:stretch>
            <a:fillRect/>
          </a:stretch>
        </p:blipFill>
        <p:spPr>
          <a:xfrm>
            <a:off x="3516450" y="1488525"/>
            <a:ext cx="1524000" cy="342600"/>
          </a:xfrm>
          <a:prstGeom prst="rect">
            <a:avLst/>
          </a:prstGeom>
          <a:noFill/>
          <a:ln>
            <a:noFill/>
          </a:ln>
        </p:spPr>
      </p:pic>
      <p:sp>
        <p:nvSpPr>
          <p:cNvPr id="187" name="Google Shape;187;g2ed1619b06e_1_28"/>
          <p:cNvSpPr txBox="1"/>
          <p:nvPr/>
        </p:nvSpPr>
        <p:spPr>
          <a:xfrm>
            <a:off x="3154950" y="1820250"/>
            <a:ext cx="2330700" cy="31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chemeClr val="dk2"/>
                </a:solidFill>
                <a:latin typeface="Lato"/>
                <a:ea typeface="Lato"/>
                <a:cs typeface="Lato"/>
                <a:sym typeface="Lato"/>
              </a:rPr>
              <a:t>StructuralMechanicsApplication</a:t>
            </a:r>
            <a:endParaRPr b="1" sz="1100">
              <a:solidFill>
                <a:schemeClr val="dk2"/>
              </a:solidFill>
              <a:latin typeface="Lato"/>
              <a:ea typeface="Lato"/>
              <a:cs typeface="Lato"/>
              <a:sym typeface="Lato"/>
            </a:endParaRPr>
          </a:p>
        </p:txBody>
      </p:sp>
      <p:sp>
        <p:nvSpPr>
          <p:cNvPr id="188" name="Google Shape;188;g2ed1619b06e_1_28"/>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ed1619b06e_1_61"/>
          <p:cNvSpPr txBox="1"/>
          <p:nvPr/>
        </p:nvSpPr>
        <p:spPr>
          <a:xfrm>
            <a:off x="3063738" y="1469950"/>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id="195" name="Google Shape;195;g2ed1619b06e_1_61"/>
          <p:cNvPicPr preferRelativeResize="0"/>
          <p:nvPr/>
        </p:nvPicPr>
        <p:blipFill>
          <a:blip r:embed="rId3">
            <a:alphaModFix/>
          </a:blip>
          <a:stretch>
            <a:fillRect/>
          </a:stretch>
        </p:blipFill>
        <p:spPr>
          <a:xfrm>
            <a:off x="3516450" y="1488525"/>
            <a:ext cx="1524000" cy="342600"/>
          </a:xfrm>
          <a:prstGeom prst="rect">
            <a:avLst/>
          </a:prstGeom>
          <a:noFill/>
          <a:ln>
            <a:noFill/>
          </a:ln>
        </p:spPr>
      </p:pic>
      <p:pic>
        <p:nvPicPr>
          <p:cNvPr descr="&lt;math xmlns=&quot;http://www.w3.org/1998/Math/MathML&quot;&gt;&lt;mi&gt;&amp;#x3BC;&lt;/mi&gt;&lt;/math&gt;" id="196" name="Google Shape;196;g2ed1619b06e_1_61" title="mu"/>
          <p:cNvPicPr preferRelativeResize="0"/>
          <p:nvPr/>
        </p:nvPicPr>
        <p:blipFill>
          <a:blip r:embed="rId4">
            <a:alphaModFix/>
          </a:blip>
          <a:stretch>
            <a:fillRect/>
          </a:stretch>
        </p:blipFill>
        <p:spPr>
          <a:xfrm>
            <a:off x="1387475" y="1692363"/>
            <a:ext cx="280511" cy="294084"/>
          </a:xfrm>
          <a:prstGeom prst="rect">
            <a:avLst/>
          </a:prstGeom>
          <a:noFill/>
          <a:ln>
            <a:noFill/>
          </a:ln>
        </p:spPr>
      </p:pic>
      <p:cxnSp>
        <p:nvCxnSpPr>
          <p:cNvPr id="197" name="Google Shape;197;g2ed1619b06e_1_61"/>
          <p:cNvCxnSpPr/>
          <p:nvPr/>
        </p:nvCxnSpPr>
        <p:spPr>
          <a:xfrm flipH="1" rot="10800000">
            <a:off x="1972475" y="1837300"/>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198" name="Google Shape;198;g2ed1619b06e_1_61"/>
          <p:cNvSpPr txBox="1"/>
          <p:nvPr/>
        </p:nvSpPr>
        <p:spPr>
          <a:xfrm>
            <a:off x="806450" y="20858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199" name="Google Shape;199;g2ed1619b06e_1_61"/>
          <p:cNvSpPr txBox="1"/>
          <p:nvPr/>
        </p:nvSpPr>
        <p:spPr>
          <a:xfrm>
            <a:off x="764600" y="1033212"/>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200" name="Google Shape;200;g2ed1619b06e_1_61"/>
          <p:cNvSpPr txBox="1"/>
          <p:nvPr/>
        </p:nvSpPr>
        <p:spPr>
          <a:xfrm>
            <a:off x="6143874" y="1035803"/>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OUTPUT</a:t>
            </a:r>
            <a:endParaRPr/>
          </a:p>
        </p:txBody>
      </p:sp>
      <p:sp>
        <p:nvSpPr>
          <p:cNvPr id="201" name="Google Shape;201;g2ed1619b06e_1_61"/>
          <p:cNvSpPr txBox="1"/>
          <p:nvPr/>
        </p:nvSpPr>
        <p:spPr>
          <a:xfrm>
            <a:off x="3235869" y="1033204"/>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Full Order Model (FOM)</a:t>
            </a:r>
            <a:endParaRPr/>
          </a:p>
        </p:txBody>
      </p:sp>
      <p:cxnSp>
        <p:nvCxnSpPr>
          <p:cNvPr id="202" name="Google Shape;202;g2ed1619b06e_1_61"/>
          <p:cNvCxnSpPr/>
          <p:nvPr/>
        </p:nvCxnSpPr>
        <p:spPr>
          <a:xfrm flipH="1" rot="10800000">
            <a:off x="5603700" y="1837313"/>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203" name="Google Shape;203;g2ed1619b06e_1_61"/>
          <p:cNvSpPr/>
          <p:nvPr/>
        </p:nvSpPr>
        <p:spPr>
          <a:xfrm>
            <a:off x="6798621" y="1399175"/>
            <a:ext cx="240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350">
                <a:latin typeface="Calibri"/>
                <a:ea typeface="Calibri"/>
                <a:cs typeface="Calibri"/>
                <a:sym typeface="Calibri"/>
              </a:rPr>
              <a:t>u</a:t>
            </a:r>
            <a:endParaRPr sz="1350">
              <a:solidFill>
                <a:srgbClr val="000000"/>
              </a:solidFill>
              <a:latin typeface="Calibri"/>
              <a:ea typeface="Calibri"/>
              <a:cs typeface="Calibri"/>
              <a:sym typeface="Calibri"/>
            </a:endParaRPr>
          </a:p>
        </p:txBody>
      </p:sp>
      <p:sp>
        <p:nvSpPr>
          <p:cNvPr id="204" name="Google Shape;204;g2ed1619b06e_1_61"/>
          <p:cNvSpPr txBox="1"/>
          <p:nvPr/>
        </p:nvSpPr>
        <p:spPr>
          <a:xfrm>
            <a:off x="6280475" y="227967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pic>
        <p:nvPicPr>
          <p:cNvPr id="205" name="Google Shape;205;g2ed1619b06e_1_61"/>
          <p:cNvPicPr preferRelativeResize="0"/>
          <p:nvPr/>
        </p:nvPicPr>
        <p:blipFill>
          <a:blip r:embed="rId5">
            <a:alphaModFix/>
          </a:blip>
          <a:stretch>
            <a:fillRect/>
          </a:stretch>
        </p:blipFill>
        <p:spPr>
          <a:xfrm>
            <a:off x="7285000" y="1438275"/>
            <a:ext cx="1088767" cy="354850"/>
          </a:xfrm>
          <a:prstGeom prst="rect">
            <a:avLst/>
          </a:prstGeom>
          <a:noFill/>
          <a:ln>
            <a:noFill/>
          </a:ln>
        </p:spPr>
      </p:pic>
      <p:pic>
        <p:nvPicPr>
          <p:cNvPr id="206" name="Google Shape;206;g2ed1619b06e_1_61"/>
          <p:cNvPicPr preferRelativeResize="0"/>
          <p:nvPr/>
        </p:nvPicPr>
        <p:blipFill>
          <a:blip r:embed="rId6">
            <a:alphaModFix/>
          </a:blip>
          <a:stretch>
            <a:fillRect/>
          </a:stretch>
        </p:blipFill>
        <p:spPr>
          <a:xfrm>
            <a:off x="7399125" y="1920588"/>
            <a:ext cx="799887" cy="231625"/>
          </a:xfrm>
          <a:prstGeom prst="rect">
            <a:avLst/>
          </a:prstGeom>
          <a:noFill/>
          <a:ln>
            <a:noFill/>
          </a:ln>
        </p:spPr>
      </p:pic>
      <p:sp>
        <p:nvSpPr>
          <p:cNvPr id="207" name="Google Shape;207;g2ed1619b06e_1_61"/>
          <p:cNvSpPr txBox="1"/>
          <p:nvPr/>
        </p:nvSpPr>
        <p:spPr>
          <a:xfrm>
            <a:off x="3105588" y="3307450"/>
            <a:ext cx="2429400" cy="7389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a:p>
        </p:txBody>
      </p:sp>
      <p:pic>
        <p:nvPicPr>
          <p:cNvPr descr="&lt;math xmlns=&quot;http://www.w3.org/1998/Math/MathML&quot;&gt;&lt;mi&gt;&amp;#x3BC;&lt;/mi&gt;&lt;/math&gt;" id="208" name="Google Shape;208;g2ed1619b06e_1_61" title="mu"/>
          <p:cNvPicPr preferRelativeResize="0"/>
          <p:nvPr/>
        </p:nvPicPr>
        <p:blipFill>
          <a:blip r:embed="rId4">
            <a:alphaModFix/>
          </a:blip>
          <a:stretch>
            <a:fillRect/>
          </a:stretch>
        </p:blipFill>
        <p:spPr>
          <a:xfrm>
            <a:off x="1429325" y="3529863"/>
            <a:ext cx="280511" cy="294084"/>
          </a:xfrm>
          <a:prstGeom prst="rect">
            <a:avLst/>
          </a:prstGeom>
          <a:noFill/>
          <a:ln>
            <a:noFill/>
          </a:ln>
        </p:spPr>
      </p:pic>
      <p:cxnSp>
        <p:nvCxnSpPr>
          <p:cNvPr id="209" name="Google Shape;209;g2ed1619b06e_1_61"/>
          <p:cNvCxnSpPr/>
          <p:nvPr/>
        </p:nvCxnSpPr>
        <p:spPr>
          <a:xfrm flipH="1" rot="10800000">
            <a:off x="2014325" y="3674800"/>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210" name="Google Shape;210;g2ed1619b06e_1_61"/>
          <p:cNvSpPr txBox="1"/>
          <p:nvPr/>
        </p:nvSpPr>
        <p:spPr>
          <a:xfrm>
            <a:off x="848300" y="3923350"/>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Parameters</a:t>
            </a:r>
            <a:endParaRPr sz="1350">
              <a:solidFill>
                <a:srgbClr val="000000"/>
              </a:solidFill>
              <a:latin typeface="Calibri"/>
              <a:ea typeface="Calibri"/>
              <a:cs typeface="Calibri"/>
              <a:sym typeface="Calibri"/>
            </a:endParaRPr>
          </a:p>
        </p:txBody>
      </p:sp>
      <p:sp>
        <p:nvSpPr>
          <p:cNvPr id="211" name="Google Shape;211;g2ed1619b06e_1_61"/>
          <p:cNvSpPr txBox="1"/>
          <p:nvPr/>
        </p:nvSpPr>
        <p:spPr>
          <a:xfrm>
            <a:off x="806450" y="2870712"/>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INPUT</a:t>
            </a:r>
            <a:endParaRPr/>
          </a:p>
        </p:txBody>
      </p:sp>
      <p:sp>
        <p:nvSpPr>
          <p:cNvPr id="212" name="Google Shape;212;g2ed1619b06e_1_61"/>
          <p:cNvSpPr txBox="1"/>
          <p:nvPr/>
        </p:nvSpPr>
        <p:spPr>
          <a:xfrm>
            <a:off x="6185724" y="2873303"/>
            <a:ext cx="17034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Approximated output</a:t>
            </a:r>
            <a:endParaRPr/>
          </a:p>
        </p:txBody>
      </p:sp>
      <p:cxnSp>
        <p:nvCxnSpPr>
          <p:cNvPr id="213" name="Google Shape;213;g2ed1619b06e_1_61"/>
          <p:cNvCxnSpPr/>
          <p:nvPr/>
        </p:nvCxnSpPr>
        <p:spPr>
          <a:xfrm flipH="1" rot="10800000">
            <a:off x="5645550" y="3674813"/>
            <a:ext cx="905100" cy="4200"/>
          </a:xfrm>
          <a:prstGeom prst="straightConnector1">
            <a:avLst/>
          </a:prstGeom>
          <a:noFill/>
          <a:ln cap="flat" cmpd="sng" w="9525">
            <a:solidFill>
              <a:srgbClr val="4285F4"/>
            </a:solidFill>
            <a:prstDash val="solid"/>
            <a:miter lim="800000"/>
            <a:headEnd len="sm" w="sm" type="none"/>
            <a:tailEnd len="med" w="med" type="triangle"/>
          </a:ln>
        </p:spPr>
      </p:cxnSp>
      <p:sp>
        <p:nvSpPr>
          <p:cNvPr id="214" name="Google Shape;214;g2ed1619b06e_1_61"/>
          <p:cNvSpPr/>
          <p:nvPr/>
        </p:nvSpPr>
        <p:spPr>
          <a:xfrm>
            <a:off x="6840471" y="3236675"/>
            <a:ext cx="240600" cy="880500"/>
          </a:xfrm>
          <a:prstGeom prst="rect">
            <a:avLst/>
          </a:prstGeom>
          <a:solidFill>
            <a:srgbClr val="E0666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50000"/>
              </a:lnSpc>
              <a:spcBef>
                <a:spcPts val="2400"/>
              </a:spcBef>
              <a:spcAft>
                <a:spcPts val="0"/>
              </a:spcAft>
              <a:buNone/>
            </a:pPr>
            <a:r>
              <a:rPr lang="en-GB" sz="1600">
                <a:solidFill>
                  <a:srgbClr val="191E3F"/>
                </a:solidFill>
                <a:highlight>
                  <a:srgbClr val="FFFFFF"/>
                </a:highlight>
                <a:latin typeface="Times New Roman"/>
                <a:ea typeface="Times New Roman"/>
                <a:cs typeface="Times New Roman"/>
                <a:sym typeface="Times New Roman"/>
              </a:rPr>
              <a:t>ũ</a:t>
            </a:r>
            <a:endParaRPr sz="1600">
              <a:solidFill>
                <a:srgbClr val="191E3F"/>
              </a:solidFill>
              <a:highlight>
                <a:srgbClr val="FFFFFF"/>
              </a:highlight>
              <a:latin typeface="Times New Roman"/>
              <a:ea typeface="Times New Roman"/>
              <a:cs typeface="Times New Roman"/>
              <a:sym typeface="Times New Roman"/>
            </a:endParaRPr>
          </a:p>
          <a:p>
            <a:pPr indent="0" lvl="0" marL="0" marR="0" rtl="0" algn="ctr">
              <a:spcBef>
                <a:spcPts val="600"/>
              </a:spcBef>
              <a:spcAft>
                <a:spcPts val="0"/>
              </a:spcAft>
              <a:buNone/>
            </a:pPr>
            <a:r>
              <a:t/>
            </a:r>
            <a:endParaRPr b="1" sz="1350">
              <a:latin typeface="Calibri"/>
              <a:ea typeface="Calibri"/>
              <a:cs typeface="Calibri"/>
              <a:sym typeface="Calibri"/>
            </a:endParaRPr>
          </a:p>
        </p:txBody>
      </p:sp>
      <p:sp>
        <p:nvSpPr>
          <p:cNvPr id="215" name="Google Shape;215;g2ed1619b06e_1_61"/>
          <p:cNvSpPr txBox="1"/>
          <p:nvPr/>
        </p:nvSpPr>
        <p:spPr>
          <a:xfrm>
            <a:off x="6322325" y="4117175"/>
            <a:ext cx="1524000" cy="3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350">
                <a:latin typeface="Calibri"/>
                <a:ea typeface="Calibri"/>
                <a:cs typeface="Calibri"/>
                <a:sym typeface="Calibri"/>
              </a:rPr>
              <a:t>Main Variable</a:t>
            </a:r>
            <a:endParaRPr sz="1350">
              <a:solidFill>
                <a:srgbClr val="000000"/>
              </a:solidFill>
              <a:latin typeface="Calibri"/>
              <a:ea typeface="Calibri"/>
              <a:cs typeface="Calibri"/>
              <a:sym typeface="Calibri"/>
            </a:endParaRPr>
          </a:p>
        </p:txBody>
      </p:sp>
      <p:sp>
        <p:nvSpPr>
          <p:cNvPr id="216" name="Google Shape;216;g2ed1619b06e_1_61"/>
          <p:cNvSpPr txBox="1"/>
          <p:nvPr/>
        </p:nvSpPr>
        <p:spPr>
          <a:xfrm>
            <a:off x="3333094" y="2790429"/>
            <a:ext cx="1924800" cy="3000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latin typeface="Calibri"/>
                <a:ea typeface="Calibri"/>
                <a:cs typeface="Calibri"/>
                <a:sym typeface="Calibri"/>
              </a:rPr>
              <a:t>Surrogate Model </a:t>
            </a:r>
            <a:endParaRPr/>
          </a:p>
        </p:txBody>
      </p:sp>
      <p:pic>
        <p:nvPicPr>
          <p:cNvPr id="217" name="Google Shape;217;g2ed1619b06e_1_61"/>
          <p:cNvPicPr preferRelativeResize="0"/>
          <p:nvPr/>
        </p:nvPicPr>
        <p:blipFill>
          <a:blip r:embed="rId7">
            <a:alphaModFix/>
          </a:blip>
          <a:stretch>
            <a:fillRect/>
          </a:stretch>
        </p:blipFill>
        <p:spPr>
          <a:xfrm>
            <a:off x="5252338" y="364600"/>
            <a:ext cx="799875" cy="799875"/>
          </a:xfrm>
          <a:prstGeom prst="rect">
            <a:avLst/>
          </a:prstGeom>
          <a:noFill/>
          <a:ln>
            <a:noFill/>
          </a:ln>
        </p:spPr>
      </p:pic>
      <p:pic>
        <p:nvPicPr>
          <p:cNvPr id="218" name="Google Shape;218;g2ed1619b06e_1_61"/>
          <p:cNvPicPr preferRelativeResize="0"/>
          <p:nvPr/>
        </p:nvPicPr>
        <p:blipFill>
          <a:blip r:embed="rId8">
            <a:alphaModFix/>
          </a:blip>
          <a:stretch>
            <a:fillRect/>
          </a:stretch>
        </p:blipFill>
        <p:spPr>
          <a:xfrm>
            <a:off x="4780750" y="1986438"/>
            <a:ext cx="1743076" cy="1743076"/>
          </a:xfrm>
          <a:prstGeom prst="rect">
            <a:avLst/>
          </a:prstGeom>
          <a:noFill/>
          <a:ln>
            <a:noFill/>
          </a:ln>
        </p:spPr>
      </p:pic>
      <p:pic>
        <p:nvPicPr>
          <p:cNvPr id="219" name="Google Shape;219;g2ed1619b06e_1_61"/>
          <p:cNvPicPr preferRelativeResize="0"/>
          <p:nvPr/>
        </p:nvPicPr>
        <p:blipFill>
          <a:blip r:embed="rId9">
            <a:alphaModFix/>
          </a:blip>
          <a:stretch>
            <a:fillRect/>
          </a:stretch>
        </p:blipFill>
        <p:spPr>
          <a:xfrm>
            <a:off x="7397725" y="3420053"/>
            <a:ext cx="1088775" cy="254747"/>
          </a:xfrm>
          <a:prstGeom prst="rect">
            <a:avLst/>
          </a:prstGeom>
          <a:noFill/>
          <a:ln>
            <a:noFill/>
          </a:ln>
        </p:spPr>
      </p:pic>
      <p:pic>
        <p:nvPicPr>
          <p:cNvPr id="220" name="Google Shape;220;g2ed1619b06e_1_61"/>
          <p:cNvPicPr preferRelativeResize="0"/>
          <p:nvPr/>
        </p:nvPicPr>
        <p:blipFill>
          <a:blip r:embed="rId10">
            <a:alphaModFix/>
          </a:blip>
          <a:stretch>
            <a:fillRect/>
          </a:stretch>
        </p:blipFill>
        <p:spPr>
          <a:xfrm>
            <a:off x="7467600" y="3799221"/>
            <a:ext cx="905100" cy="324729"/>
          </a:xfrm>
          <a:prstGeom prst="rect">
            <a:avLst/>
          </a:prstGeom>
          <a:noFill/>
          <a:ln>
            <a:noFill/>
          </a:ln>
        </p:spPr>
      </p:pic>
      <p:pic>
        <p:nvPicPr>
          <p:cNvPr id="221" name="Google Shape;221;g2ed1619b06e_1_61"/>
          <p:cNvPicPr preferRelativeResize="0"/>
          <p:nvPr/>
        </p:nvPicPr>
        <p:blipFill>
          <a:blip r:embed="rId11">
            <a:alphaModFix/>
          </a:blip>
          <a:stretch>
            <a:fillRect/>
          </a:stretch>
        </p:blipFill>
        <p:spPr>
          <a:xfrm>
            <a:off x="3738101" y="3328735"/>
            <a:ext cx="1088775" cy="437377"/>
          </a:xfrm>
          <a:prstGeom prst="rect">
            <a:avLst/>
          </a:prstGeom>
          <a:noFill/>
          <a:ln>
            <a:noFill/>
          </a:ln>
        </p:spPr>
      </p:pic>
      <p:sp>
        <p:nvSpPr>
          <p:cNvPr id="222" name="Google Shape;222;g2ed1619b06e_1_61"/>
          <p:cNvSpPr txBox="1"/>
          <p:nvPr/>
        </p:nvSpPr>
        <p:spPr>
          <a:xfrm>
            <a:off x="3154950" y="1820250"/>
            <a:ext cx="2330700" cy="31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a:solidFill>
                  <a:schemeClr val="dk2"/>
                </a:solidFill>
                <a:latin typeface="Lato"/>
                <a:ea typeface="Lato"/>
                <a:cs typeface="Lato"/>
                <a:sym typeface="Lato"/>
              </a:rPr>
              <a:t>StructuralMechanicsApplication</a:t>
            </a:r>
            <a:endParaRPr b="1" sz="1100">
              <a:solidFill>
                <a:schemeClr val="dk2"/>
              </a:solidFill>
              <a:latin typeface="Lato"/>
              <a:ea typeface="Lato"/>
              <a:cs typeface="Lato"/>
              <a:sym typeface="Lato"/>
            </a:endParaRPr>
          </a:p>
        </p:txBody>
      </p:sp>
      <p:sp>
        <p:nvSpPr>
          <p:cNvPr id="223" name="Google Shape;223;g2ed1619b06e_1_61"/>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d1619b06e_1_96"/>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230" name="Google Shape;230;g2ed1619b06e_1_96"/>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31" name="Google Shape;231;g2ed1619b06e_1_96"/>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232" name="Google Shape;232;g2ed1619b06e_1_96"/>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grpSp>
        <p:nvGrpSpPr>
          <p:cNvPr id="233" name="Google Shape;233;g2ed1619b06e_1_96"/>
          <p:cNvGrpSpPr/>
          <p:nvPr/>
        </p:nvGrpSpPr>
        <p:grpSpPr>
          <a:xfrm>
            <a:off x="4011282" y="1274854"/>
            <a:ext cx="256372" cy="880500"/>
            <a:chOff x="3179220" y="1005991"/>
            <a:chExt cx="256372" cy="880500"/>
          </a:xfrm>
        </p:grpSpPr>
        <p:sp>
          <p:nvSpPr>
            <p:cNvPr id="234" name="Google Shape;234;g2ed1619b06e_1_96"/>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5" name="Google Shape;235;g2ed1619b06e_1_96"/>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6" name="Google Shape;236;g2ed1619b06e_1_96"/>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7" name="Google Shape;237;g2ed1619b06e_1_96"/>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8" name="Google Shape;238;g2ed1619b06e_1_96"/>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239" name="Google Shape;239;g2ed1619b06e_1_96"/>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240" name="Google Shape;240;g2ed1619b06e_1_96" title="vertical ellipsis"/>
          <p:cNvPicPr preferRelativeResize="0"/>
          <p:nvPr/>
        </p:nvPicPr>
        <p:blipFill>
          <a:blip r:embed="rId3">
            <a:alphaModFix/>
          </a:blip>
          <a:stretch>
            <a:fillRect/>
          </a:stretch>
        </p:blipFill>
        <p:spPr>
          <a:xfrm>
            <a:off x="2565138" y="1616160"/>
            <a:ext cx="256475" cy="197925"/>
          </a:xfrm>
          <a:prstGeom prst="rect">
            <a:avLst/>
          </a:prstGeom>
          <a:noFill/>
          <a:ln>
            <a:noFill/>
          </a:ln>
        </p:spPr>
      </p:pic>
      <p:cxnSp>
        <p:nvCxnSpPr>
          <p:cNvPr id="241" name="Google Shape;241;g2ed1619b06e_1_96"/>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42" name="Google Shape;242;g2ed1619b06e_1_96"/>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243" name="Google Shape;243;g2ed1619b06e_1_96" title="mu subscript 1"/>
          <p:cNvPicPr preferRelativeResize="0"/>
          <p:nvPr/>
        </p:nvPicPr>
        <p:blipFill>
          <a:blip r:embed="rId4">
            <a:alphaModFix/>
          </a:blip>
          <a:stretch>
            <a:fillRect/>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244" name="Google Shape;244;g2ed1619b06e_1_96" title="mu subscript p"/>
          <p:cNvPicPr preferRelativeResize="0"/>
          <p:nvPr/>
        </p:nvPicPr>
        <p:blipFill>
          <a:blip r:embed="rId5">
            <a:alphaModFix/>
          </a:blip>
          <a:stretch>
            <a:fillRect/>
          </a:stretch>
        </p:blipFill>
        <p:spPr>
          <a:xfrm>
            <a:off x="601995" y="1940870"/>
            <a:ext cx="256500" cy="235700"/>
          </a:xfrm>
          <a:prstGeom prst="rect">
            <a:avLst/>
          </a:prstGeom>
          <a:noFill/>
          <a:ln>
            <a:noFill/>
          </a:ln>
        </p:spPr>
      </p:pic>
      <p:pic>
        <p:nvPicPr>
          <p:cNvPr descr="&lt;math xmlns=&quot;http://www.w3.org/1998/Math/MathML&quot;&gt;&lt;mo&gt;&amp;#x22EE;&lt;/mo&gt;&lt;/math&gt;" id="245" name="Google Shape;245;g2ed1619b06e_1_96" title="vertical ellipsis"/>
          <p:cNvPicPr preferRelativeResize="0"/>
          <p:nvPr/>
        </p:nvPicPr>
        <p:blipFill>
          <a:blip r:embed="rId3">
            <a:alphaModFix/>
          </a:blip>
          <a:stretch>
            <a:fillRect/>
          </a:stretch>
        </p:blipFill>
        <p:spPr>
          <a:xfrm>
            <a:off x="624650" y="1607548"/>
            <a:ext cx="256475" cy="197925"/>
          </a:xfrm>
          <a:prstGeom prst="rect">
            <a:avLst/>
          </a:prstGeom>
          <a:noFill/>
          <a:ln>
            <a:noFill/>
          </a:ln>
        </p:spPr>
      </p:pic>
      <p:cxnSp>
        <p:nvCxnSpPr>
          <p:cNvPr id="246" name="Google Shape;246;g2ed1619b06e_1_96"/>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47" name="Google Shape;247;g2ed1619b06e_1_96"/>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248" name="Google Shape;248;g2ed1619b06e_1_96"/>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2ed1619b06e_1_96"/>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50" name="Google Shape;250;g2ed1619b06e_1_96"/>
          <p:cNvPicPr preferRelativeResize="0"/>
          <p:nvPr/>
        </p:nvPicPr>
        <p:blipFill>
          <a:blip r:embed="rId6">
            <a:alphaModFix/>
          </a:blip>
          <a:stretch>
            <a:fillRect/>
          </a:stretch>
        </p:blipFill>
        <p:spPr>
          <a:xfrm>
            <a:off x="1383571" y="1262430"/>
            <a:ext cx="703149" cy="158064"/>
          </a:xfrm>
          <a:prstGeom prst="rect">
            <a:avLst/>
          </a:prstGeom>
          <a:noFill/>
          <a:ln>
            <a:noFill/>
          </a:ln>
        </p:spPr>
      </p:pic>
      <p:pic>
        <p:nvPicPr>
          <p:cNvPr descr="&lt;math xmlns=&quot;http://www.w3.org/1998/Math/MathML&quot;&gt;&lt;mo&gt;&amp;#x22EE;&lt;/mo&gt;&lt;/math&gt;" id="251" name="Google Shape;251;g2ed1619b06e_1_96" title="vertical ellipsis"/>
          <p:cNvPicPr preferRelativeResize="0"/>
          <p:nvPr/>
        </p:nvPicPr>
        <p:blipFill>
          <a:blip r:embed="rId3">
            <a:alphaModFix/>
          </a:blip>
          <a:stretch>
            <a:fillRect/>
          </a:stretch>
        </p:blipFill>
        <p:spPr>
          <a:xfrm>
            <a:off x="1606887" y="1606910"/>
            <a:ext cx="256475" cy="197925"/>
          </a:xfrm>
          <a:prstGeom prst="rect">
            <a:avLst/>
          </a:prstGeom>
          <a:noFill/>
          <a:ln>
            <a:noFill/>
          </a:ln>
        </p:spPr>
      </p:pic>
      <p:sp>
        <p:nvSpPr>
          <p:cNvPr id="252" name="Google Shape;252;g2ed1619b06e_1_96"/>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53" name="Google Shape;253;g2ed1619b06e_1_96"/>
          <p:cNvPicPr preferRelativeResize="0"/>
          <p:nvPr/>
        </p:nvPicPr>
        <p:blipFill>
          <a:blip r:embed="rId6">
            <a:alphaModFix/>
          </a:blip>
          <a:stretch>
            <a:fillRect/>
          </a:stretch>
        </p:blipFill>
        <p:spPr>
          <a:xfrm>
            <a:off x="1404996" y="1991205"/>
            <a:ext cx="703149" cy="158064"/>
          </a:xfrm>
          <a:prstGeom prst="rect">
            <a:avLst/>
          </a:prstGeom>
          <a:noFill/>
          <a:ln>
            <a:noFill/>
          </a:ln>
        </p:spPr>
      </p:pic>
      <p:sp>
        <p:nvSpPr>
          <p:cNvPr id="254" name="Google Shape;254;g2ed1619b06e_1_96"/>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255" name="Google Shape;255;g2ed1619b06e_1_96"/>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256" name="Google Shape;256;g2ed1619b06e_1_96"/>
          <p:cNvCxnSpPr/>
          <p:nvPr/>
        </p:nvCxnSpPr>
        <p:spPr>
          <a:xfrm>
            <a:off x="128800" y="1524150"/>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257" name="Google Shape;257;g2ed1619b06e_1_96"/>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sp>
        <p:nvSpPr>
          <p:cNvPr id="258" name="Google Shape;258;g2ed1619b06e_1_96"/>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2ed1619b06e_1_131"/>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265" name="Google Shape;265;g2ed1619b06e_1_131"/>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66" name="Google Shape;266;g2ed1619b06e_1_131"/>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267" name="Google Shape;267;g2ed1619b06e_1_131"/>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268" name="Google Shape;268;g2ed1619b06e_1_131"/>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269" name="Google Shape;269;g2ed1619b06e_1_131"/>
          <p:cNvGrpSpPr/>
          <p:nvPr/>
        </p:nvGrpSpPr>
        <p:grpSpPr>
          <a:xfrm>
            <a:off x="4011282" y="1274854"/>
            <a:ext cx="256372" cy="880500"/>
            <a:chOff x="3179220" y="1005991"/>
            <a:chExt cx="256372" cy="880500"/>
          </a:xfrm>
        </p:grpSpPr>
        <p:sp>
          <p:nvSpPr>
            <p:cNvPr id="270" name="Google Shape;270;g2ed1619b06e_1_131"/>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1" name="Google Shape;271;g2ed1619b06e_1_131"/>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2" name="Google Shape;272;g2ed1619b06e_1_131"/>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3" name="Google Shape;273;g2ed1619b06e_1_131"/>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74" name="Google Shape;274;g2ed1619b06e_1_131"/>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275" name="Google Shape;275;g2ed1619b06e_1_131"/>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276" name="Google Shape;276;g2ed1619b06e_1_131" title="vertical ellipsis"/>
          <p:cNvPicPr preferRelativeResize="0"/>
          <p:nvPr/>
        </p:nvPicPr>
        <p:blipFill>
          <a:blip r:embed="rId3">
            <a:alphaModFix/>
          </a:blip>
          <a:stretch>
            <a:fillRect/>
          </a:stretch>
        </p:blipFill>
        <p:spPr>
          <a:xfrm>
            <a:off x="2565138" y="1616160"/>
            <a:ext cx="256475" cy="197925"/>
          </a:xfrm>
          <a:prstGeom prst="rect">
            <a:avLst/>
          </a:prstGeom>
          <a:noFill/>
          <a:ln>
            <a:noFill/>
          </a:ln>
        </p:spPr>
      </p:pic>
      <p:cxnSp>
        <p:nvCxnSpPr>
          <p:cNvPr id="277" name="Google Shape;277;g2ed1619b06e_1_131"/>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78" name="Google Shape;278;g2ed1619b06e_1_131"/>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279" name="Google Shape;279;g2ed1619b06e_1_131" title="mu subscript 1"/>
          <p:cNvPicPr preferRelativeResize="0"/>
          <p:nvPr/>
        </p:nvPicPr>
        <p:blipFill>
          <a:blip r:embed="rId4">
            <a:alphaModFix/>
          </a:blip>
          <a:stretch>
            <a:fillRect/>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280" name="Google Shape;280;g2ed1619b06e_1_131" title="mu subscript p"/>
          <p:cNvPicPr preferRelativeResize="0"/>
          <p:nvPr/>
        </p:nvPicPr>
        <p:blipFill>
          <a:blip r:embed="rId5">
            <a:alphaModFix/>
          </a:blip>
          <a:stretch>
            <a:fillRect/>
          </a:stretch>
        </p:blipFill>
        <p:spPr>
          <a:xfrm>
            <a:off x="601995" y="1940870"/>
            <a:ext cx="256500" cy="235700"/>
          </a:xfrm>
          <a:prstGeom prst="rect">
            <a:avLst/>
          </a:prstGeom>
          <a:noFill/>
          <a:ln>
            <a:noFill/>
          </a:ln>
        </p:spPr>
      </p:pic>
      <p:pic>
        <p:nvPicPr>
          <p:cNvPr descr="&lt;math xmlns=&quot;http://www.w3.org/1998/Math/MathML&quot;&gt;&lt;mo&gt;&amp;#x22EE;&lt;/mo&gt;&lt;/math&gt;" id="281" name="Google Shape;281;g2ed1619b06e_1_131" title="vertical ellipsis"/>
          <p:cNvPicPr preferRelativeResize="0"/>
          <p:nvPr/>
        </p:nvPicPr>
        <p:blipFill>
          <a:blip r:embed="rId3">
            <a:alphaModFix/>
          </a:blip>
          <a:stretch>
            <a:fillRect/>
          </a:stretch>
        </p:blipFill>
        <p:spPr>
          <a:xfrm>
            <a:off x="624650" y="1607548"/>
            <a:ext cx="256475" cy="197925"/>
          </a:xfrm>
          <a:prstGeom prst="rect">
            <a:avLst/>
          </a:prstGeom>
          <a:noFill/>
          <a:ln>
            <a:noFill/>
          </a:ln>
        </p:spPr>
      </p:pic>
      <p:cxnSp>
        <p:nvCxnSpPr>
          <p:cNvPr id="282" name="Google Shape;282;g2ed1619b06e_1_131"/>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283" name="Google Shape;283;g2ed1619b06e_1_131"/>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284" name="Google Shape;284;g2ed1619b06e_1_131"/>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t>Data for ROM</a:t>
            </a:r>
            <a:endParaRPr/>
          </a:p>
        </p:txBody>
      </p:sp>
      <p:sp>
        <p:nvSpPr>
          <p:cNvPr id="285" name="Google Shape;285;g2ed1619b06e_1_131"/>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2ed1619b06e_1_131"/>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87" name="Google Shape;287;g2ed1619b06e_1_131"/>
          <p:cNvPicPr preferRelativeResize="0"/>
          <p:nvPr/>
        </p:nvPicPr>
        <p:blipFill>
          <a:blip r:embed="rId6">
            <a:alphaModFix/>
          </a:blip>
          <a:stretch>
            <a:fillRect/>
          </a:stretch>
        </p:blipFill>
        <p:spPr>
          <a:xfrm>
            <a:off x="1383571" y="1262430"/>
            <a:ext cx="703149" cy="158064"/>
          </a:xfrm>
          <a:prstGeom prst="rect">
            <a:avLst/>
          </a:prstGeom>
          <a:noFill/>
          <a:ln>
            <a:noFill/>
          </a:ln>
        </p:spPr>
      </p:pic>
      <p:pic>
        <p:nvPicPr>
          <p:cNvPr descr="&lt;math xmlns=&quot;http://www.w3.org/1998/Math/MathML&quot;&gt;&lt;mo&gt;&amp;#x22EE;&lt;/mo&gt;&lt;/math&gt;" id="288" name="Google Shape;288;g2ed1619b06e_1_131" title="vertical ellipsis"/>
          <p:cNvPicPr preferRelativeResize="0"/>
          <p:nvPr/>
        </p:nvPicPr>
        <p:blipFill>
          <a:blip r:embed="rId3">
            <a:alphaModFix/>
          </a:blip>
          <a:stretch>
            <a:fillRect/>
          </a:stretch>
        </p:blipFill>
        <p:spPr>
          <a:xfrm>
            <a:off x="1606887" y="1606910"/>
            <a:ext cx="256475" cy="197925"/>
          </a:xfrm>
          <a:prstGeom prst="rect">
            <a:avLst/>
          </a:prstGeom>
          <a:noFill/>
          <a:ln>
            <a:noFill/>
          </a:ln>
        </p:spPr>
      </p:pic>
      <p:sp>
        <p:nvSpPr>
          <p:cNvPr id="289" name="Google Shape;289;g2ed1619b06e_1_131"/>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90" name="Google Shape;290;g2ed1619b06e_1_131"/>
          <p:cNvPicPr preferRelativeResize="0"/>
          <p:nvPr/>
        </p:nvPicPr>
        <p:blipFill>
          <a:blip r:embed="rId6">
            <a:alphaModFix/>
          </a:blip>
          <a:stretch>
            <a:fillRect/>
          </a:stretch>
        </p:blipFill>
        <p:spPr>
          <a:xfrm>
            <a:off x="1404996" y="1991205"/>
            <a:ext cx="703149" cy="158064"/>
          </a:xfrm>
          <a:prstGeom prst="rect">
            <a:avLst/>
          </a:prstGeom>
          <a:noFill/>
          <a:ln>
            <a:noFill/>
          </a:ln>
        </p:spPr>
      </p:pic>
      <p:sp>
        <p:nvSpPr>
          <p:cNvPr id="291" name="Google Shape;291;g2ed1619b06e_1_131"/>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292" name="Google Shape;292;g2ed1619b06e_1_131"/>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293" name="Google Shape;293;g2ed1619b06e_1_131"/>
          <p:cNvCxnSpPr/>
          <p:nvPr/>
        </p:nvCxnSpPr>
        <p:spPr>
          <a:xfrm>
            <a:off x="128800" y="1524150"/>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294" name="Google Shape;294;g2ed1619b06e_1_131"/>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sp>
        <p:nvSpPr>
          <p:cNvPr id="295" name="Google Shape;295;g2ed1619b06e_1_131"/>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296" name="Google Shape;296;g2ed1619b06e_1_131"/>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2ed1619b06e_1_429"/>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303" name="Google Shape;303;g2ed1619b06e_1_429"/>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04" name="Google Shape;304;g2ed1619b06e_1_429"/>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305" name="Google Shape;305;g2ed1619b06e_1_429"/>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306" name="Google Shape;306;g2ed1619b06e_1_429"/>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307" name="Google Shape;307;g2ed1619b06e_1_429"/>
          <p:cNvGrpSpPr/>
          <p:nvPr/>
        </p:nvGrpSpPr>
        <p:grpSpPr>
          <a:xfrm>
            <a:off x="4011282" y="1274854"/>
            <a:ext cx="256372" cy="880500"/>
            <a:chOff x="3179220" y="1005991"/>
            <a:chExt cx="256372" cy="880500"/>
          </a:xfrm>
        </p:grpSpPr>
        <p:sp>
          <p:nvSpPr>
            <p:cNvPr id="308" name="Google Shape;308;g2ed1619b06e_1_429"/>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09" name="Google Shape;309;g2ed1619b06e_1_429"/>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10" name="Google Shape;310;g2ed1619b06e_1_429"/>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11" name="Google Shape;311;g2ed1619b06e_1_429"/>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12" name="Google Shape;312;g2ed1619b06e_1_429"/>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313" name="Google Shape;313;g2ed1619b06e_1_429"/>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314" name="Google Shape;314;g2ed1619b06e_1_429" title="vertical ellipsis"/>
          <p:cNvPicPr preferRelativeResize="0"/>
          <p:nvPr/>
        </p:nvPicPr>
        <p:blipFill>
          <a:blip r:embed="rId3">
            <a:alphaModFix/>
          </a:blip>
          <a:stretch>
            <a:fillRect/>
          </a:stretch>
        </p:blipFill>
        <p:spPr>
          <a:xfrm>
            <a:off x="2565138" y="1616160"/>
            <a:ext cx="256475" cy="197925"/>
          </a:xfrm>
          <a:prstGeom prst="rect">
            <a:avLst/>
          </a:prstGeom>
          <a:noFill/>
          <a:ln>
            <a:noFill/>
          </a:ln>
        </p:spPr>
      </p:pic>
      <p:cxnSp>
        <p:nvCxnSpPr>
          <p:cNvPr id="315" name="Google Shape;315;g2ed1619b06e_1_429"/>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16" name="Google Shape;316;g2ed1619b06e_1_429"/>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317" name="Google Shape;317;g2ed1619b06e_1_429" title="mu subscript 1"/>
          <p:cNvPicPr preferRelativeResize="0"/>
          <p:nvPr/>
        </p:nvPicPr>
        <p:blipFill>
          <a:blip r:embed="rId4">
            <a:alphaModFix/>
          </a:blip>
          <a:stretch>
            <a:fillRect/>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318" name="Google Shape;318;g2ed1619b06e_1_429" title="mu subscript p"/>
          <p:cNvPicPr preferRelativeResize="0"/>
          <p:nvPr/>
        </p:nvPicPr>
        <p:blipFill>
          <a:blip r:embed="rId5">
            <a:alphaModFix/>
          </a:blip>
          <a:stretch>
            <a:fillRect/>
          </a:stretch>
        </p:blipFill>
        <p:spPr>
          <a:xfrm>
            <a:off x="601995" y="1940870"/>
            <a:ext cx="256500" cy="235700"/>
          </a:xfrm>
          <a:prstGeom prst="rect">
            <a:avLst/>
          </a:prstGeom>
          <a:noFill/>
          <a:ln>
            <a:noFill/>
          </a:ln>
        </p:spPr>
      </p:pic>
      <p:pic>
        <p:nvPicPr>
          <p:cNvPr descr="&lt;math xmlns=&quot;http://www.w3.org/1998/Math/MathML&quot;&gt;&lt;mo&gt;&amp;#x22EE;&lt;/mo&gt;&lt;/math&gt;" id="319" name="Google Shape;319;g2ed1619b06e_1_429" title="vertical ellipsis"/>
          <p:cNvPicPr preferRelativeResize="0"/>
          <p:nvPr/>
        </p:nvPicPr>
        <p:blipFill>
          <a:blip r:embed="rId3">
            <a:alphaModFix/>
          </a:blip>
          <a:stretch>
            <a:fillRect/>
          </a:stretch>
        </p:blipFill>
        <p:spPr>
          <a:xfrm>
            <a:off x="624650" y="1607548"/>
            <a:ext cx="256475" cy="197925"/>
          </a:xfrm>
          <a:prstGeom prst="rect">
            <a:avLst/>
          </a:prstGeom>
          <a:noFill/>
          <a:ln>
            <a:noFill/>
          </a:ln>
        </p:spPr>
      </p:pic>
      <p:cxnSp>
        <p:nvCxnSpPr>
          <p:cNvPr id="320" name="Google Shape;320;g2ed1619b06e_1_429"/>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21" name="Google Shape;321;g2ed1619b06e_1_429"/>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322" name="Google Shape;322;g2ed1619b06e_1_429"/>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t>Data for ROM</a:t>
            </a:r>
            <a:endParaRPr/>
          </a:p>
        </p:txBody>
      </p:sp>
      <p:cxnSp>
        <p:nvCxnSpPr>
          <p:cNvPr id="323" name="Google Shape;323;g2ed1619b06e_1_429"/>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324" name="Google Shape;324;g2ed1619b06e_1_429"/>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2ed1619b06e_1_429"/>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26" name="Google Shape;326;g2ed1619b06e_1_429"/>
          <p:cNvPicPr preferRelativeResize="0"/>
          <p:nvPr/>
        </p:nvPicPr>
        <p:blipFill>
          <a:blip r:embed="rId6">
            <a:alphaModFix/>
          </a:blip>
          <a:stretch>
            <a:fillRect/>
          </a:stretch>
        </p:blipFill>
        <p:spPr>
          <a:xfrm>
            <a:off x="1383571" y="1262430"/>
            <a:ext cx="703149" cy="158064"/>
          </a:xfrm>
          <a:prstGeom prst="rect">
            <a:avLst/>
          </a:prstGeom>
          <a:noFill/>
          <a:ln>
            <a:noFill/>
          </a:ln>
        </p:spPr>
      </p:pic>
      <p:pic>
        <p:nvPicPr>
          <p:cNvPr descr="&lt;math xmlns=&quot;http://www.w3.org/1998/Math/MathML&quot;&gt;&lt;mo&gt;&amp;#x22EE;&lt;/mo&gt;&lt;/math&gt;" id="327" name="Google Shape;327;g2ed1619b06e_1_429" title="vertical ellipsis"/>
          <p:cNvPicPr preferRelativeResize="0"/>
          <p:nvPr/>
        </p:nvPicPr>
        <p:blipFill>
          <a:blip r:embed="rId3">
            <a:alphaModFix/>
          </a:blip>
          <a:stretch>
            <a:fillRect/>
          </a:stretch>
        </p:blipFill>
        <p:spPr>
          <a:xfrm>
            <a:off x="1606887" y="1606910"/>
            <a:ext cx="256475" cy="197925"/>
          </a:xfrm>
          <a:prstGeom prst="rect">
            <a:avLst/>
          </a:prstGeom>
          <a:noFill/>
          <a:ln>
            <a:noFill/>
          </a:ln>
        </p:spPr>
      </p:pic>
      <p:sp>
        <p:nvSpPr>
          <p:cNvPr id="328" name="Google Shape;328;g2ed1619b06e_1_429"/>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29" name="Google Shape;329;g2ed1619b06e_1_429"/>
          <p:cNvPicPr preferRelativeResize="0"/>
          <p:nvPr/>
        </p:nvPicPr>
        <p:blipFill>
          <a:blip r:embed="rId6">
            <a:alphaModFix/>
          </a:blip>
          <a:stretch>
            <a:fillRect/>
          </a:stretch>
        </p:blipFill>
        <p:spPr>
          <a:xfrm>
            <a:off x="1404996" y="1991205"/>
            <a:ext cx="703149" cy="158064"/>
          </a:xfrm>
          <a:prstGeom prst="rect">
            <a:avLst/>
          </a:prstGeom>
          <a:noFill/>
          <a:ln>
            <a:noFill/>
          </a:ln>
        </p:spPr>
      </p:pic>
      <p:sp>
        <p:nvSpPr>
          <p:cNvPr id="330" name="Google Shape;330;g2ed1619b06e_1_429"/>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g2ed1619b06e_1_429"/>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ROM</a:t>
            </a:r>
            <a:endParaRPr/>
          </a:p>
        </p:txBody>
      </p:sp>
      <p:cxnSp>
        <p:nvCxnSpPr>
          <p:cNvPr id="332" name="Google Shape;332;g2ed1619b06e_1_429"/>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33" name="Google Shape;333;g2ed1619b06e_1_429"/>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34" name="Google Shape;334;g2ed1619b06e_1_429"/>
          <p:cNvPicPr preferRelativeResize="0"/>
          <p:nvPr/>
        </p:nvPicPr>
        <p:blipFill>
          <a:blip r:embed="rId6">
            <a:alphaModFix/>
          </a:blip>
          <a:stretch>
            <a:fillRect/>
          </a:stretch>
        </p:blipFill>
        <p:spPr>
          <a:xfrm>
            <a:off x="7254971" y="2587005"/>
            <a:ext cx="703149" cy="158064"/>
          </a:xfrm>
          <a:prstGeom prst="rect">
            <a:avLst/>
          </a:prstGeom>
          <a:noFill/>
          <a:ln>
            <a:noFill/>
          </a:ln>
        </p:spPr>
      </p:pic>
      <p:pic>
        <p:nvPicPr>
          <p:cNvPr descr="&lt;math xmlns=&quot;http://www.w3.org/1998/Math/MathML&quot;&gt;&lt;mo&gt;&amp;#x22EE;&lt;/mo&gt;&lt;/math&gt;" id="335" name="Google Shape;335;g2ed1619b06e_1_429" title="vertical ellipsis"/>
          <p:cNvPicPr preferRelativeResize="0"/>
          <p:nvPr/>
        </p:nvPicPr>
        <p:blipFill>
          <a:blip r:embed="rId3">
            <a:alphaModFix/>
          </a:blip>
          <a:stretch>
            <a:fillRect/>
          </a:stretch>
        </p:blipFill>
        <p:spPr>
          <a:xfrm>
            <a:off x="7478288" y="2931485"/>
            <a:ext cx="256475" cy="197925"/>
          </a:xfrm>
          <a:prstGeom prst="rect">
            <a:avLst/>
          </a:prstGeom>
          <a:noFill/>
          <a:ln>
            <a:noFill/>
          </a:ln>
        </p:spPr>
      </p:pic>
      <p:sp>
        <p:nvSpPr>
          <p:cNvPr id="336" name="Google Shape;336;g2ed1619b06e_1_429"/>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37" name="Google Shape;337;g2ed1619b06e_1_429"/>
          <p:cNvPicPr preferRelativeResize="0"/>
          <p:nvPr/>
        </p:nvPicPr>
        <p:blipFill>
          <a:blip r:embed="rId6">
            <a:alphaModFix/>
          </a:blip>
          <a:stretch>
            <a:fillRect/>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338" name="Google Shape;338;g2ed1619b06e_1_429" title="mu subscript 1"/>
          <p:cNvPicPr preferRelativeResize="0"/>
          <p:nvPr/>
        </p:nvPicPr>
        <p:blipFill>
          <a:blip r:embed="rId4">
            <a:alphaModFix/>
          </a:blip>
          <a:stretch>
            <a:fillRect/>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339" name="Google Shape;339;g2ed1619b06e_1_429" title="mu subscript p"/>
          <p:cNvPicPr preferRelativeResize="0"/>
          <p:nvPr/>
        </p:nvPicPr>
        <p:blipFill>
          <a:blip r:embed="rId5">
            <a:alphaModFix/>
          </a:blip>
          <a:stretch>
            <a:fillRect/>
          </a:stretch>
        </p:blipFill>
        <p:spPr>
          <a:xfrm>
            <a:off x="8522407" y="3305432"/>
            <a:ext cx="256500" cy="235700"/>
          </a:xfrm>
          <a:prstGeom prst="rect">
            <a:avLst/>
          </a:prstGeom>
          <a:noFill/>
          <a:ln>
            <a:noFill/>
          </a:ln>
        </p:spPr>
      </p:pic>
      <p:pic>
        <p:nvPicPr>
          <p:cNvPr descr="&lt;math xmlns=&quot;http://www.w3.org/1998/Math/MathML&quot;&gt;&lt;mo&gt;&amp;#x22EE;&lt;/mo&gt;&lt;/math&gt;" id="340" name="Google Shape;340;g2ed1619b06e_1_429" title="vertical ellipsis"/>
          <p:cNvPicPr preferRelativeResize="0"/>
          <p:nvPr/>
        </p:nvPicPr>
        <p:blipFill>
          <a:blip r:embed="rId3">
            <a:alphaModFix/>
          </a:blip>
          <a:stretch>
            <a:fillRect/>
          </a:stretch>
        </p:blipFill>
        <p:spPr>
          <a:xfrm>
            <a:off x="8545063" y="2972110"/>
            <a:ext cx="256475" cy="197925"/>
          </a:xfrm>
          <a:prstGeom prst="rect">
            <a:avLst/>
          </a:prstGeom>
          <a:noFill/>
          <a:ln>
            <a:noFill/>
          </a:ln>
        </p:spPr>
      </p:pic>
      <p:cxnSp>
        <p:nvCxnSpPr>
          <p:cNvPr id="341" name="Google Shape;341;g2ed1619b06e_1_429"/>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42" name="Google Shape;342;g2ed1619b06e_1_429"/>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43" name="Google Shape;343;g2ed1619b06e_1_429"/>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344" name="Google Shape;344;g2ed1619b06e_1_429" title="vertical ellipsis"/>
          <p:cNvPicPr preferRelativeResize="0"/>
          <p:nvPr/>
        </p:nvPicPr>
        <p:blipFill>
          <a:blip r:embed="rId3">
            <a:alphaModFix/>
          </a:blip>
          <a:stretch>
            <a:fillRect/>
          </a:stretch>
        </p:blipFill>
        <p:spPr>
          <a:xfrm>
            <a:off x="6386213" y="2931485"/>
            <a:ext cx="256475" cy="197925"/>
          </a:xfrm>
          <a:prstGeom prst="rect">
            <a:avLst/>
          </a:prstGeom>
          <a:noFill/>
          <a:ln>
            <a:noFill/>
          </a:ln>
        </p:spPr>
      </p:pic>
      <p:cxnSp>
        <p:nvCxnSpPr>
          <p:cNvPr id="345" name="Google Shape;345;g2ed1619b06e_1_429"/>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46" name="Google Shape;346;g2ed1619b06e_1_429"/>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47" name="Google Shape;347;g2ed1619b06e_1_429"/>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348" name="Google Shape;348;g2ed1619b06e_1_429"/>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349" name="Google Shape;349;g2ed1619b06e_1_429"/>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350" name="Google Shape;350;g2ed1619b06e_1_429"/>
          <p:cNvGrpSpPr/>
          <p:nvPr/>
        </p:nvGrpSpPr>
        <p:grpSpPr>
          <a:xfrm>
            <a:off x="5073282" y="2723354"/>
            <a:ext cx="256372" cy="880500"/>
            <a:chOff x="3179220" y="1005991"/>
            <a:chExt cx="256372" cy="880500"/>
          </a:xfrm>
        </p:grpSpPr>
        <p:sp>
          <p:nvSpPr>
            <p:cNvPr id="351" name="Google Shape;351;g2ed1619b06e_1_429"/>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52" name="Google Shape;352;g2ed1619b06e_1_429"/>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53" name="Google Shape;353;g2ed1619b06e_1_429"/>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54" name="Google Shape;354;g2ed1619b06e_1_429"/>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55" name="Google Shape;355;g2ed1619b06e_1_429"/>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356" name="Google Shape;356;g2ed1619b06e_1_429"/>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357" name="Google Shape;357;g2ed1619b06e_1_429"/>
          <p:cNvCxnSpPr/>
          <p:nvPr/>
        </p:nvCxnSpPr>
        <p:spPr>
          <a:xfrm>
            <a:off x="128800" y="1524150"/>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358" name="Google Shape;358;g2ed1619b06e_1_429"/>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cxnSp>
        <p:nvCxnSpPr>
          <p:cNvPr id="359" name="Google Shape;359;g2ed1619b06e_1_429"/>
          <p:cNvCxnSpPr>
            <a:stCxn id="356" idx="3"/>
          </p:cNvCxnSpPr>
          <p:nvPr/>
        </p:nvCxnSpPr>
        <p:spPr>
          <a:xfrm>
            <a:off x="7418285" y="755881"/>
            <a:ext cx="1596900" cy="2242200"/>
          </a:xfrm>
          <a:prstGeom prst="bentConnector2">
            <a:avLst/>
          </a:prstGeom>
          <a:noFill/>
          <a:ln cap="flat" cmpd="sng" w="9525">
            <a:solidFill>
              <a:srgbClr val="44546A"/>
            </a:solidFill>
            <a:prstDash val="solid"/>
            <a:round/>
            <a:headEnd len="med" w="med" type="none"/>
            <a:tailEnd len="med" w="med" type="none"/>
          </a:ln>
        </p:spPr>
      </p:cxnSp>
      <p:cxnSp>
        <p:nvCxnSpPr>
          <p:cNvPr id="360" name="Google Shape;360;g2ed1619b06e_1_429"/>
          <p:cNvCxnSpPr/>
          <p:nvPr/>
        </p:nvCxnSpPr>
        <p:spPr>
          <a:xfrm rot="10800000">
            <a:off x="8875600" y="2995500"/>
            <a:ext cx="139500" cy="0"/>
          </a:xfrm>
          <a:prstGeom prst="straightConnector1">
            <a:avLst/>
          </a:prstGeom>
          <a:noFill/>
          <a:ln cap="flat" cmpd="sng" w="9525">
            <a:solidFill>
              <a:srgbClr val="44546A"/>
            </a:solidFill>
            <a:prstDash val="solid"/>
            <a:round/>
            <a:headEnd len="med" w="med" type="none"/>
            <a:tailEnd len="med" w="med" type="triangle"/>
          </a:ln>
        </p:spPr>
      </p:cxnSp>
      <p:sp>
        <p:nvSpPr>
          <p:cNvPr id="361" name="Google Shape;361;g2ed1619b06e_1_429"/>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362" name="Google Shape;362;g2ed1619b06e_1_429"/>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363" name="Google Shape;363;g2ed1619b06e_1_429"/>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2ed1619b06e_1_342"/>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370" name="Google Shape;370;g2ed1619b06e_1_342"/>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71" name="Google Shape;371;g2ed1619b06e_1_342"/>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372" name="Google Shape;372;g2ed1619b06e_1_342"/>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373" name="Google Shape;373;g2ed1619b06e_1_342"/>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374" name="Google Shape;374;g2ed1619b06e_1_342"/>
          <p:cNvGrpSpPr/>
          <p:nvPr/>
        </p:nvGrpSpPr>
        <p:grpSpPr>
          <a:xfrm>
            <a:off x="4011282" y="1274854"/>
            <a:ext cx="256372" cy="880500"/>
            <a:chOff x="3179220" y="1005991"/>
            <a:chExt cx="256372" cy="880500"/>
          </a:xfrm>
        </p:grpSpPr>
        <p:sp>
          <p:nvSpPr>
            <p:cNvPr id="375" name="Google Shape;375;g2ed1619b06e_1_342"/>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76" name="Google Shape;376;g2ed1619b06e_1_342"/>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77" name="Google Shape;377;g2ed1619b06e_1_342"/>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78" name="Google Shape;378;g2ed1619b06e_1_342"/>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379" name="Google Shape;379;g2ed1619b06e_1_342"/>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380" name="Google Shape;380;g2ed1619b06e_1_342"/>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381" name="Google Shape;381;g2ed1619b06e_1_342" title="vertical ellipsis"/>
          <p:cNvPicPr preferRelativeResize="0"/>
          <p:nvPr/>
        </p:nvPicPr>
        <p:blipFill>
          <a:blip r:embed="rId3">
            <a:alphaModFix/>
          </a:blip>
          <a:stretch>
            <a:fillRect/>
          </a:stretch>
        </p:blipFill>
        <p:spPr>
          <a:xfrm>
            <a:off x="2565138" y="1616160"/>
            <a:ext cx="256475" cy="197925"/>
          </a:xfrm>
          <a:prstGeom prst="rect">
            <a:avLst/>
          </a:prstGeom>
          <a:noFill/>
          <a:ln>
            <a:noFill/>
          </a:ln>
        </p:spPr>
      </p:pic>
      <p:cxnSp>
        <p:nvCxnSpPr>
          <p:cNvPr id="382" name="Google Shape;382;g2ed1619b06e_1_342"/>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83" name="Google Shape;383;g2ed1619b06e_1_342"/>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384" name="Google Shape;384;g2ed1619b06e_1_342" title="mu subscript 1"/>
          <p:cNvPicPr preferRelativeResize="0"/>
          <p:nvPr/>
        </p:nvPicPr>
        <p:blipFill>
          <a:blip r:embed="rId4">
            <a:alphaModFix/>
          </a:blip>
          <a:stretch>
            <a:fillRect/>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385" name="Google Shape;385;g2ed1619b06e_1_342" title="mu subscript p"/>
          <p:cNvPicPr preferRelativeResize="0"/>
          <p:nvPr/>
        </p:nvPicPr>
        <p:blipFill>
          <a:blip r:embed="rId5">
            <a:alphaModFix/>
          </a:blip>
          <a:stretch>
            <a:fillRect/>
          </a:stretch>
        </p:blipFill>
        <p:spPr>
          <a:xfrm>
            <a:off x="601995" y="1940870"/>
            <a:ext cx="256500" cy="235700"/>
          </a:xfrm>
          <a:prstGeom prst="rect">
            <a:avLst/>
          </a:prstGeom>
          <a:noFill/>
          <a:ln>
            <a:noFill/>
          </a:ln>
        </p:spPr>
      </p:pic>
      <p:pic>
        <p:nvPicPr>
          <p:cNvPr descr="&lt;math xmlns=&quot;http://www.w3.org/1998/Math/MathML&quot;&gt;&lt;mo&gt;&amp;#x22EE;&lt;/mo&gt;&lt;/math&gt;" id="386" name="Google Shape;386;g2ed1619b06e_1_342" title="vertical ellipsis"/>
          <p:cNvPicPr preferRelativeResize="0"/>
          <p:nvPr/>
        </p:nvPicPr>
        <p:blipFill>
          <a:blip r:embed="rId3">
            <a:alphaModFix/>
          </a:blip>
          <a:stretch>
            <a:fillRect/>
          </a:stretch>
        </p:blipFill>
        <p:spPr>
          <a:xfrm>
            <a:off x="624650" y="1607548"/>
            <a:ext cx="256475" cy="197925"/>
          </a:xfrm>
          <a:prstGeom prst="rect">
            <a:avLst/>
          </a:prstGeom>
          <a:noFill/>
          <a:ln>
            <a:noFill/>
          </a:ln>
        </p:spPr>
      </p:pic>
      <p:cxnSp>
        <p:nvCxnSpPr>
          <p:cNvPr id="387" name="Google Shape;387;g2ed1619b06e_1_342"/>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88" name="Google Shape;388;g2ed1619b06e_1_342"/>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389" name="Google Shape;389;g2ed1619b06e_1_342"/>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t>Data for ROM</a:t>
            </a:r>
            <a:endParaRPr/>
          </a:p>
        </p:txBody>
      </p:sp>
      <p:cxnSp>
        <p:nvCxnSpPr>
          <p:cNvPr id="390" name="Google Shape;390;g2ed1619b06e_1_342"/>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391" name="Google Shape;391;g2ed1619b06e_1_342"/>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2ed1619b06e_1_342"/>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93" name="Google Shape;393;g2ed1619b06e_1_342"/>
          <p:cNvPicPr preferRelativeResize="0"/>
          <p:nvPr/>
        </p:nvPicPr>
        <p:blipFill>
          <a:blip r:embed="rId6">
            <a:alphaModFix/>
          </a:blip>
          <a:stretch>
            <a:fillRect/>
          </a:stretch>
        </p:blipFill>
        <p:spPr>
          <a:xfrm>
            <a:off x="1383571" y="1262430"/>
            <a:ext cx="703149" cy="158064"/>
          </a:xfrm>
          <a:prstGeom prst="rect">
            <a:avLst/>
          </a:prstGeom>
          <a:noFill/>
          <a:ln>
            <a:noFill/>
          </a:ln>
        </p:spPr>
      </p:pic>
      <p:pic>
        <p:nvPicPr>
          <p:cNvPr descr="&lt;math xmlns=&quot;http://www.w3.org/1998/Math/MathML&quot;&gt;&lt;mo&gt;&amp;#x22EE;&lt;/mo&gt;&lt;/math&gt;" id="394" name="Google Shape;394;g2ed1619b06e_1_342" title="vertical ellipsis"/>
          <p:cNvPicPr preferRelativeResize="0"/>
          <p:nvPr/>
        </p:nvPicPr>
        <p:blipFill>
          <a:blip r:embed="rId3">
            <a:alphaModFix/>
          </a:blip>
          <a:stretch>
            <a:fillRect/>
          </a:stretch>
        </p:blipFill>
        <p:spPr>
          <a:xfrm>
            <a:off x="1606887" y="1606910"/>
            <a:ext cx="256475" cy="197925"/>
          </a:xfrm>
          <a:prstGeom prst="rect">
            <a:avLst/>
          </a:prstGeom>
          <a:noFill/>
          <a:ln>
            <a:noFill/>
          </a:ln>
        </p:spPr>
      </p:pic>
      <p:sp>
        <p:nvSpPr>
          <p:cNvPr id="395" name="Google Shape;395;g2ed1619b06e_1_342"/>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396" name="Google Shape;396;g2ed1619b06e_1_342"/>
          <p:cNvPicPr preferRelativeResize="0"/>
          <p:nvPr/>
        </p:nvPicPr>
        <p:blipFill>
          <a:blip r:embed="rId6">
            <a:alphaModFix/>
          </a:blip>
          <a:stretch>
            <a:fillRect/>
          </a:stretch>
        </p:blipFill>
        <p:spPr>
          <a:xfrm>
            <a:off x="1404996" y="1991205"/>
            <a:ext cx="703149" cy="158064"/>
          </a:xfrm>
          <a:prstGeom prst="rect">
            <a:avLst/>
          </a:prstGeom>
          <a:noFill/>
          <a:ln>
            <a:noFill/>
          </a:ln>
        </p:spPr>
      </p:pic>
      <p:sp>
        <p:nvSpPr>
          <p:cNvPr id="397" name="Google Shape;397;g2ed1619b06e_1_342"/>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2ed1619b06e_1_342"/>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ROM</a:t>
            </a:r>
            <a:endParaRPr/>
          </a:p>
        </p:txBody>
      </p:sp>
      <p:cxnSp>
        <p:nvCxnSpPr>
          <p:cNvPr id="399" name="Google Shape;399;g2ed1619b06e_1_342"/>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400" name="Google Shape;400;g2ed1619b06e_1_342"/>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01" name="Google Shape;401;g2ed1619b06e_1_342"/>
          <p:cNvPicPr preferRelativeResize="0"/>
          <p:nvPr/>
        </p:nvPicPr>
        <p:blipFill>
          <a:blip r:embed="rId6">
            <a:alphaModFix/>
          </a:blip>
          <a:stretch>
            <a:fillRect/>
          </a:stretch>
        </p:blipFill>
        <p:spPr>
          <a:xfrm>
            <a:off x="7254971" y="2587005"/>
            <a:ext cx="703149" cy="158064"/>
          </a:xfrm>
          <a:prstGeom prst="rect">
            <a:avLst/>
          </a:prstGeom>
          <a:noFill/>
          <a:ln>
            <a:noFill/>
          </a:ln>
        </p:spPr>
      </p:pic>
      <p:pic>
        <p:nvPicPr>
          <p:cNvPr descr="&lt;math xmlns=&quot;http://www.w3.org/1998/Math/MathML&quot;&gt;&lt;mo&gt;&amp;#x22EE;&lt;/mo&gt;&lt;/math&gt;" id="402" name="Google Shape;402;g2ed1619b06e_1_342" title="vertical ellipsis"/>
          <p:cNvPicPr preferRelativeResize="0"/>
          <p:nvPr/>
        </p:nvPicPr>
        <p:blipFill>
          <a:blip r:embed="rId3">
            <a:alphaModFix/>
          </a:blip>
          <a:stretch>
            <a:fillRect/>
          </a:stretch>
        </p:blipFill>
        <p:spPr>
          <a:xfrm>
            <a:off x="7478288" y="2931485"/>
            <a:ext cx="256475" cy="197925"/>
          </a:xfrm>
          <a:prstGeom prst="rect">
            <a:avLst/>
          </a:prstGeom>
          <a:noFill/>
          <a:ln>
            <a:noFill/>
          </a:ln>
        </p:spPr>
      </p:pic>
      <p:sp>
        <p:nvSpPr>
          <p:cNvPr id="403" name="Google Shape;403;g2ed1619b06e_1_342"/>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04" name="Google Shape;404;g2ed1619b06e_1_342"/>
          <p:cNvPicPr preferRelativeResize="0"/>
          <p:nvPr/>
        </p:nvPicPr>
        <p:blipFill>
          <a:blip r:embed="rId6">
            <a:alphaModFix/>
          </a:blip>
          <a:stretch>
            <a:fillRect/>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405" name="Google Shape;405;g2ed1619b06e_1_342" title="mu subscript 1"/>
          <p:cNvPicPr preferRelativeResize="0"/>
          <p:nvPr/>
        </p:nvPicPr>
        <p:blipFill>
          <a:blip r:embed="rId4">
            <a:alphaModFix/>
          </a:blip>
          <a:stretch>
            <a:fillRect/>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406" name="Google Shape;406;g2ed1619b06e_1_342" title="mu subscript p"/>
          <p:cNvPicPr preferRelativeResize="0"/>
          <p:nvPr/>
        </p:nvPicPr>
        <p:blipFill>
          <a:blip r:embed="rId5">
            <a:alphaModFix/>
          </a:blip>
          <a:stretch>
            <a:fillRect/>
          </a:stretch>
        </p:blipFill>
        <p:spPr>
          <a:xfrm>
            <a:off x="8522407" y="3305432"/>
            <a:ext cx="256500" cy="235700"/>
          </a:xfrm>
          <a:prstGeom prst="rect">
            <a:avLst/>
          </a:prstGeom>
          <a:noFill/>
          <a:ln>
            <a:noFill/>
          </a:ln>
        </p:spPr>
      </p:pic>
      <p:pic>
        <p:nvPicPr>
          <p:cNvPr descr="&lt;math xmlns=&quot;http://www.w3.org/1998/Math/MathML&quot;&gt;&lt;mo&gt;&amp;#x22EE;&lt;/mo&gt;&lt;/math&gt;" id="407" name="Google Shape;407;g2ed1619b06e_1_342" title="vertical ellipsis"/>
          <p:cNvPicPr preferRelativeResize="0"/>
          <p:nvPr/>
        </p:nvPicPr>
        <p:blipFill>
          <a:blip r:embed="rId3">
            <a:alphaModFix/>
          </a:blip>
          <a:stretch>
            <a:fillRect/>
          </a:stretch>
        </p:blipFill>
        <p:spPr>
          <a:xfrm>
            <a:off x="8545063" y="2972110"/>
            <a:ext cx="256475" cy="197925"/>
          </a:xfrm>
          <a:prstGeom prst="rect">
            <a:avLst/>
          </a:prstGeom>
          <a:noFill/>
          <a:ln>
            <a:noFill/>
          </a:ln>
        </p:spPr>
      </p:pic>
      <p:cxnSp>
        <p:nvCxnSpPr>
          <p:cNvPr id="408" name="Google Shape;408;g2ed1619b06e_1_342"/>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409" name="Google Shape;409;g2ed1619b06e_1_342"/>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0" name="Google Shape;410;g2ed1619b06e_1_342"/>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411" name="Google Shape;411;g2ed1619b06e_1_342" title="vertical ellipsis"/>
          <p:cNvPicPr preferRelativeResize="0"/>
          <p:nvPr/>
        </p:nvPicPr>
        <p:blipFill>
          <a:blip r:embed="rId3">
            <a:alphaModFix/>
          </a:blip>
          <a:stretch>
            <a:fillRect/>
          </a:stretch>
        </p:blipFill>
        <p:spPr>
          <a:xfrm>
            <a:off x="6386213" y="2931485"/>
            <a:ext cx="256475" cy="197925"/>
          </a:xfrm>
          <a:prstGeom prst="rect">
            <a:avLst/>
          </a:prstGeom>
          <a:noFill/>
          <a:ln>
            <a:noFill/>
          </a:ln>
        </p:spPr>
      </p:pic>
      <p:cxnSp>
        <p:nvCxnSpPr>
          <p:cNvPr id="412" name="Google Shape;412;g2ed1619b06e_1_342"/>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413" name="Google Shape;413;g2ed1619b06e_1_342"/>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414" name="Google Shape;414;g2ed1619b06e_1_342"/>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415" name="Google Shape;415;g2ed1619b06e_1_342"/>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416" name="Google Shape;416;g2ed1619b06e_1_342"/>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417" name="Google Shape;417;g2ed1619b06e_1_342"/>
          <p:cNvGrpSpPr/>
          <p:nvPr/>
        </p:nvGrpSpPr>
        <p:grpSpPr>
          <a:xfrm>
            <a:off x="5073282" y="2723354"/>
            <a:ext cx="256372" cy="880500"/>
            <a:chOff x="3179220" y="1005991"/>
            <a:chExt cx="256372" cy="880500"/>
          </a:xfrm>
        </p:grpSpPr>
        <p:sp>
          <p:nvSpPr>
            <p:cNvPr id="418" name="Google Shape;418;g2ed1619b06e_1_342"/>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19" name="Google Shape;419;g2ed1619b06e_1_342"/>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20" name="Google Shape;420;g2ed1619b06e_1_342"/>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21" name="Google Shape;421;g2ed1619b06e_1_342"/>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22" name="Google Shape;422;g2ed1619b06e_1_342"/>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423" name="Google Shape;423;g2ed1619b06e_1_342"/>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424" name="Google Shape;424;g2ed1619b06e_1_342"/>
          <p:cNvCxnSpPr/>
          <p:nvPr/>
        </p:nvCxnSpPr>
        <p:spPr>
          <a:xfrm>
            <a:off x="128800" y="1524150"/>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425" name="Google Shape;425;g2ed1619b06e_1_342"/>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cxnSp>
        <p:nvCxnSpPr>
          <p:cNvPr id="426" name="Google Shape;426;g2ed1619b06e_1_342"/>
          <p:cNvCxnSpPr>
            <a:stCxn id="423" idx="3"/>
          </p:cNvCxnSpPr>
          <p:nvPr/>
        </p:nvCxnSpPr>
        <p:spPr>
          <a:xfrm>
            <a:off x="7418285" y="755881"/>
            <a:ext cx="1596900" cy="2242200"/>
          </a:xfrm>
          <a:prstGeom prst="bentConnector2">
            <a:avLst/>
          </a:prstGeom>
          <a:noFill/>
          <a:ln cap="flat" cmpd="sng" w="9525">
            <a:solidFill>
              <a:srgbClr val="44546A"/>
            </a:solidFill>
            <a:prstDash val="solid"/>
            <a:round/>
            <a:headEnd len="med" w="med" type="none"/>
            <a:tailEnd len="med" w="med" type="none"/>
          </a:ln>
        </p:spPr>
      </p:cxnSp>
      <p:cxnSp>
        <p:nvCxnSpPr>
          <p:cNvPr id="427" name="Google Shape;427;g2ed1619b06e_1_342"/>
          <p:cNvCxnSpPr/>
          <p:nvPr/>
        </p:nvCxnSpPr>
        <p:spPr>
          <a:xfrm rot="10800000">
            <a:off x="8875600" y="2995500"/>
            <a:ext cx="139500" cy="0"/>
          </a:xfrm>
          <a:prstGeom prst="straightConnector1">
            <a:avLst/>
          </a:prstGeom>
          <a:noFill/>
          <a:ln cap="flat" cmpd="sng" w="9525">
            <a:solidFill>
              <a:srgbClr val="44546A"/>
            </a:solidFill>
            <a:prstDash val="solid"/>
            <a:round/>
            <a:headEnd len="med" w="med" type="none"/>
            <a:tailEnd len="med" w="med" type="triangle"/>
          </a:ln>
        </p:spPr>
      </p:cxnSp>
      <p:sp>
        <p:nvSpPr>
          <p:cNvPr id="428" name="Google Shape;428;g2ed1619b06e_1_342"/>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429" name="Google Shape;429;g2ed1619b06e_1_342"/>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430" name="Google Shape;430;g2ed1619b06e_1_342"/>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cxnSp>
        <p:nvCxnSpPr>
          <p:cNvPr id="431" name="Google Shape;431;g2ed1619b06e_1_342"/>
          <p:cNvCxnSpPr>
            <a:stCxn id="432" idx="3"/>
          </p:cNvCxnSpPr>
          <p:nvPr/>
        </p:nvCxnSpPr>
        <p:spPr>
          <a:xfrm rot="10800000">
            <a:off x="4164350" y="2152925"/>
            <a:ext cx="324600" cy="8775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g2ed1619b06e_1_342"/>
          <p:cNvCxnSpPr>
            <a:stCxn id="432" idx="3"/>
            <a:endCxn id="418" idx="1"/>
          </p:cNvCxnSpPr>
          <p:nvPr/>
        </p:nvCxnSpPr>
        <p:spPr>
          <a:xfrm>
            <a:off x="4488882" y="3030404"/>
            <a:ext cx="584400" cy="133200"/>
          </a:xfrm>
          <a:prstGeom prst="straightConnector1">
            <a:avLst/>
          </a:prstGeom>
          <a:noFill/>
          <a:ln cap="flat" cmpd="sng" w="9525">
            <a:solidFill>
              <a:schemeClr val="dk2"/>
            </a:solidFill>
            <a:prstDash val="solid"/>
            <a:round/>
            <a:headEnd len="med" w="med" type="none"/>
            <a:tailEnd len="med" w="med" type="triangle"/>
          </a:ln>
        </p:spPr>
      </p:cxnSp>
      <p:sp>
        <p:nvSpPr>
          <p:cNvPr id="434" name="Google Shape;434;g2ed1619b06e_1_342"/>
          <p:cNvSpPr txBox="1"/>
          <p:nvPr/>
        </p:nvSpPr>
        <p:spPr>
          <a:xfrm>
            <a:off x="3221750" y="28804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Validate</a:t>
            </a:r>
            <a:endParaRPr sz="13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2ed1619b06e_1_169"/>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441" name="Google Shape;441;g2ed1619b06e_1_169"/>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442" name="Google Shape;442;g2ed1619b06e_1_169"/>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443" name="Google Shape;443;g2ed1619b06e_1_169"/>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444" name="Google Shape;444;g2ed1619b06e_1_169"/>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445" name="Google Shape;445;g2ed1619b06e_1_169"/>
          <p:cNvGrpSpPr/>
          <p:nvPr/>
        </p:nvGrpSpPr>
        <p:grpSpPr>
          <a:xfrm>
            <a:off x="4011282" y="1274854"/>
            <a:ext cx="256372" cy="880500"/>
            <a:chOff x="3179220" y="1005991"/>
            <a:chExt cx="256372" cy="880500"/>
          </a:xfrm>
        </p:grpSpPr>
        <p:sp>
          <p:nvSpPr>
            <p:cNvPr id="446" name="Google Shape;446;g2ed1619b06e_1_169"/>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47" name="Google Shape;447;g2ed1619b06e_1_169"/>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48" name="Google Shape;448;g2ed1619b06e_1_169"/>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49" name="Google Shape;449;g2ed1619b06e_1_169"/>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50" name="Google Shape;450;g2ed1619b06e_1_169"/>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451" name="Google Shape;451;g2ed1619b06e_1_169"/>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452" name="Google Shape;452;g2ed1619b06e_1_169" title="vertical ellipsis"/>
          <p:cNvPicPr preferRelativeResize="0"/>
          <p:nvPr/>
        </p:nvPicPr>
        <p:blipFill>
          <a:blip r:embed="rId3">
            <a:alphaModFix/>
          </a:blip>
          <a:stretch>
            <a:fillRect/>
          </a:stretch>
        </p:blipFill>
        <p:spPr>
          <a:xfrm>
            <a:off x="2565138" y="1616160"/>
            <a:ext cx="256475" cy="197925"/>
          </a:xfrm>
          <a:prstGeom prst="rect">
            <a:avLst/>
          </a:prstGeom>
          <a:noFill/>
          <a:ln>
            <a:noFill/>
          </a:ln>
        </p:spPr>
      </p:pic>
      <p:cxnSp>
        <p:nvCxnSpPr>
          <p:cNvPr id="453" name="Google Shape;453;g2ed1619b06e_1_169"/>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454" name="Google Shape;454;g2ed1619b06e_1_169"/>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455" name="Google Shape;455;g2ed1619b06e_1_169" title="mu subscript 1"/>
          <p:cNvPicPr preferRelativeResize="0"/>
          <p:nvPr/>
        </p:nvPicPr>
        <p:blipFill>
          <a:blip r:embed="rId4">
            <a:alphaModFix/>
          </a:blip>
          <a:stretch>
            <a:fillRect/>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456" name="Google Shape;456;g2ed1619b06e_1_169" title="mu subscript p"/>
          <p:cNvPicPr preferRelativeResize="0"/>
          <p:nvPr/>
        </p:nvPicPr>
        <p:blipFill>
          <a:blip r:embed="rId5">
            <a:alphaModFix/>
          </a:blip>
          <a:stretch>
            <a:fillRect/>
          </a:stretch>
        </p:blipFill>
        <p:spPr>
          <a:xfrm>
            <a:off x="601995" y="1940870"/>
            <a:ext cx="256500" cy="235700"/>
          </a:xfrm>
          <a:prstGeom prst="rect">
            <a:avLst/>
          </a:prstGeom>
          <a:noFill/>
          <a:ln>
            <a:noFill/>
          </a:ln>
        </p:spPr>
      </p:pic>
      <p:pic>
        <p:nvPicPr>
          <p:cNvPr descr="&lt;math xmlns=&quot;http://www.w3.org/1998/Math/MathML&quot;&gt;&lt;mo&gt;&amp;#x22EE;&lt;/mo&gt;&lt;/math&gt;" id="457" name="Google Shape;457;g2ed1619b06e_1_169" title="vertical ellipsis"/>
          <p:cNvPicPr preferRelativeResize="0"/>
          <p:nvPr/>
        </p:nvPicPr>
        <p:blipFill>
          <a:blip r:embed="rId3">
            <a:alphaModFix/>
          </a:blip>
          <a:stretch>
            <a:fillRect/>
          </a:stretch>
        </p:blipFill>
        <p:spPr>
          <a:xfrm>
            <a:off x="624650" y="1607548"/>
            <a:ext cx="256475" cy="197925"/>
          </a:xfrm>
          <a:prstGeom prst="rect">
            <a:avLst/>
          </a:prstGeom>
          <a:noFill/>
          <a:ln>
            <a:noFill/>
          </a:ln>
        </p:spPr>
      </p:pic>
      <p:cxnSp>
        <p:nvCxnSpPr>
          <p:cNvPr id="458" name="Google Shape;458;g2ed1619b06e_1_169"/>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459" name="Google Shape;459;g2ed1619b06e_1_169"/>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60" name="Google Shape;460;g2ed1619b06e_1_169"/>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t>Data for ROM</a:t>
            </a:r>
            <a:endParaRPr/>
          </a:p>
        </p:txBody>
      </p:sp>
      <p:cxnSp>
        <p:nvCxnSpPr>
          <p:cNvPr id="461" name="Google Shape;461;g2ed1619b06e_1_169"/>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462" name="Google Shape;462;g2ed1619b06e_1_169"/>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2ed1619b06e_1_169"/>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64" name="Google Shape;464;g2ed1619b06e_1_169"/>
          <p:cNvPicPr preferRelativeResize="0"/>
          <p:nvPr/>
        </p:nvPicPr>
        <p:blipFill>
          <a:blip r:embed="rId6">
            <a:alphaModFix/>
          </a:blip>
          <a:stretch>
            <a:fillRect/>
          </a:stretch>
        </p:blipFill>
        <p:spPr>
          <a:xfrm>
            <a:off x="1383571" y="1262430"/>
            <a:ext cx="703149" cy="158064"/>
          </a:xfrm>
          <a:prstGeom prst="rect">
            <a:avLst/>
          </a:prstGeom>
          <a:noFill/>
          <a:ln>
            <a:noFill/>
          </a:ln>
        </p:spPr>
      </p:pic>
      <p:pic>
        <p:nvPicPr>
          <p:cNvPr descr="&lt;math xmlns=&quot;http://www.w3.org/1998/Math/MathML&quot;&gt;&lt;mo&gt;&amp;#x22EE;&lt;/mo&gt;&lt;/math&gt;" id="465" name="Google Shape;465;g2ed1619b06e_1_169" title="vertical ellipsis"/>
          <p:cNvPicPr preferRelativeResize="0"/>
          <p:nvPr/>
        </p:nvPicPr>
        <p:blipFill>
          <a:blip r:embed="rId3">
            <a:alphaModFix/>
          </a:blip>
          <a:stretch>
            <a:fillRect/>
          </a:stretch>
        </p:blipFill>
        <p:spPr>
          <a:xfrm>
            <a:off x="1606887" y="1606910"/>
            <a:ext cx="256475" cy="197925"/>
          </a:xfrm>
          <a:prstGeom prst="rect">
            <a:avLst/>
          </a:prstGeom>
          <a:noFill/>
          <a:ln>
            <a:noFill/>
          </a:ln>
        </p:spPr>
      </p:pic>
      <p:sp>
        <p:nvSpPr>
          <p:cNvPr id="466" name="Google Shape;466;g2ed1619b06e_1_169"/>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67" name="Google Shape;467;g2ed1619b06e_1_169"/>
          <p:cNvPicPr preferRelativeResize="0"/>
          <p:nvPr/>
        </p:nvPicPr>
        <p:blipFill>
          <a:blip r:embed="rId6">
            <a:alphaModFix/>
          </a:blip>
          <a:stretch>
            <a:fillRect/>
          </a:stretch>
        </p:blipFill>
        <p:spPr>
          <a:xfrm>
            <a:off x="1404996" y="1991205"/>
            <a:ext cx="703149" cy="158064"/>
          </a:xfrm>
          <a:prstGeom prst="rect">
            <a:avLst/>
          </a:prstGeom>
          <a:noFill/>
          <a:ln>
            <a:noFill/>
          </a:ln>
        </p:spPr>
      </p:pic>
      <p:sp>
        <p:nvSpPr>
          <p:cNvPr id="468" name="Google Shape;468;g2ed1619b06e_1_169"/>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2ed1619b06e_1_169"/>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ROM</a:t>
            </a:r>
            <a:endParaRPr/>
          </a:p>
        </p:txBody>
      </p:sp>
      <p:cxnSp>
        <p:nvCxnSpPr>
          <p:cNvPr id="470" name="Google Shape;470;g2ed1619b06e_1_169"/>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471" name="Google Shape;471;g2ed1619b06e_1_169"/>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72" name="Google Shape;472;g2ed1619b06e_1_169"/>
          <p:cNvPicPr preferRelativeResize="0"/>
          <p:nvPr/>
        </p:nvPicPr>
        <p:blipFill>
          <a:blip r:embed="rId6">
            <a:alphaModFix/>
          </a:blip>
          <a:stretch>
            <a:fillRect/>
          </a:stretch>
        </p:blipFill>
        <p:spPr>
          <a:xfrm>
            <a:off x="7254971" y="2587005"/>
            <a:ext cx="703149" cy="158064"/>
          </a:xfrm>
          <a:prstGeom prst="rect">
            <a:avLst/>
          </a:prstGeom>
          <a:noFill/>
          <a:ln>
            <a:noFill/>
          </a:ln>
        </p:spPr>
      </p:pic>
      <p:pic>
        <p:nvPicPr>
          <p:cNvPr descr="&lt;math xmlns=&quot;http://www.w3.org/1998/Math/MathML&quot;&gt;&lt;mo&gt;&amp;#x22EE;&lt;/mo&gt;&lt;/math&gt;" id="473" name="Google Shape;473;g2ed1619b06e_1_169" title="vertical ellipsis"/>
          <p:cNvPicPr preferRelativeResize="0"/>
          <p:nvPr/>
        </p:nvPicPr>
        <p:blipFill>
          <a:blip r:embed="rId3">
            <a:alphaModFix/>
          </a:blip>
          <a:stretch>
            <a:fillRect/>
          </a:stretch>
        </p:blipFill>
        <p:spPr>
          <a:xfrm>
            <a:off x="7478288" y="2931485"/>
            <a:ext cx="256475" cy="197925"/>
          </a:xfrm>
          <a:prstGeom prst="rect">
            <a:avLst/>
          </a:prstGeom>
          <a:noFill/>
          <a:ln>
            <a:noFill/>
          </a:ln>
        </p:spPr>
      </p:pic>
      <p:sp>
        <p:nvSpPr>
          <p:cNvPr id="474" name="Google Shape;474;g2ed1619b06e_1_169"/>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475" name="Google Shape;475;g2ed1619b06e_1_169"/>
          <p:cNvPicPr preferRelativeResize="0"/>
          <p:nvPr/>
        </p:nvPicPr>
        <p:blipFill>
          <a:blip r:embed="rId6">
            <a:alphaModFix/>
          </a:blip>
          <a:stretch>
            <a:fillRect/>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476" name="Google Shape;476;g2ed1619b06e_1_169" title="mu subscript 1"/>
          <p:cNvPicPr preferRelativeResize="0"/>
          <p:nvPr/>
        </p:nvPicPr>
        <p:blipFill>
          <a:blip r:embed="rId4">
            <a:alphaModFix/>
          </a:blip>
          <a:stretch>
            <a:fillRect/>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477" name="Google Shape;477;g2ed1619b06e_1_169" title="mu subscript p"/>
          <p:cNvPicPr preferRelativeResize="0"/>
          <p:nvPr/>
        </p:nvPicPr>
        <p:blipFill>
          <a:blip r:embed="rId5">
            <a:alphaModFix/>
          </a:blip>
          <a:stretch>
            <a:fillRect/>
          </a:stretch>
        </p:blipFill>
        <p:spPr>
          <a:xfrm>
            <a:off x="8522407" y="3305432"/>
            <a:ext cx="256500" cy="235700"/>
          </a:xfrm>
          <a:prstGeom prst="rect">
            <a:avLst/>
          </a:prstGeom>
          <a:noFill/>
          <a:ln>
            <a:noFill/>
          </a:ln>
        </p:spPr>
      </p:pic>
      <p:pic>
        <p:nvPicPr>
          <p:cNvPr descr="&lt;math xmlns=&quot;http://www.w3.org/1998/Math/MathML&quot;&gt;&lt;mo&gt;&amp;#x22EE;&lt;/mo&gt;&lt;/math&gt;" id="478" name="Google Shape;478;g2ed1619b06e_1_169" title="vertical ellipsis"/>
          <p:cNvPicPr preferRelativeResize="0"/>
          <p:nvPr/>
        </p:nvPicPr>
        <p:blipFill>
          <a:blip r:embed="rId3">
            <a:alphaModFix/>
          </a:blip>
          <a:stretch>
            <a:fillRect/>
          </a:stretch>
        </p:blipFill>
        <p:spPr>
          <a:xfrm>
            <a:off x="8545063" y="2972110"/>
            <a:ext cx="256475" cy="197925"/>
          </a:xfrm>
          <a:prstGeom prst="rect">
            <a:avLst/>
          </a:prstGeom>
          <a:noFill/>
          <a:ln>
            <a:noFill/>
          </a:ln>
        </p:spPr>
      </p:pic>
      <p:cxnSp>
        <p:nvCxnSpPr>
          <p:cNvPr id="479" name="Google Shape;479;g2ed1619b06e_1_169"/>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480" name="Google Shape;480;g2ed1619b06e_1_169"/>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81" name="Google Shape;481;g2ed1619b06e_1_169"/>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descr="&lt;math xmlns=&quot;http://www.w3.org/1998/Math/MathML&quot;&gt;&lt;mo&gt;&amp;#x22EE;&lt;/mo&gt;&lt;/math&gt;" id="482" name="Google Shape;482;g2ed1619b06e_1_169" title="vertical ellipsis"/>
          <p:cNvPicPr preferRelativeResize="0"/>
          <p:nvPr/>
        </p:nvPicPr>
        <p:blipFill>
          <a:blip r:embed="rId3">
            <a:alphaModFix/>
          </a:blip>
          <a:stretch>
            <a:fillRect/>
          </a:stretch>
        </p:blipFill>
        <p:spPr>
          <a:xfrm>
            <a:off x="6386213" y="2931485"/>
            <a:ext cx="256475" cy="197925"/>
          </a:xfrm>
          <a:prstGeom prst="rect">
            <a:avLst/>
          </a:prstGeom>
          <a:noFill/>
          <a:ln>
            <a:noFill/>
          </a:ln>
        </p:spPr>
      </p:pic>
      <p:cxnSp>
        <p:nvCxnSpPr>
          <p:cNvPr id="483" name="Google Shape;483;g2ed1619b06e_1_169"/>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484" name="Google Shape;484;g2ed1619b06e_1_169"/>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485" name="Google Shape;485;g2ed1619b06e_1_169"/>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486" name="Google Shape;486;g2ed1619b06e_1_169"/>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487" name="Google Shape;487;g2ed1619b06e_1_169"/>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488" name="Google Shape;488;g2ed1619b06e_1_169"/>
          <p:cNvGrpSpPr/>
          <p:nvPr/>
        </p:nvGrpSpPr>
        <p:grpSpPr>
          <a:xfrm>
            <a:off x="5073282" y="2723354"/>
            <a:ext cx="256372" cy="880500"/>
            <a:chOff x="3179220" y="1005991"/>
            <a:chExt cx="256372" cy="880500"/>
          </a:xfrm>
        </p:grpSpPr>
        <p:sp>
          <p:nvSpPr>
            <p:cNvPr id="489" name="Google Shape;489;g2ed1619b06e_1_169"/>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0" name="Google Shape;490;g2ed1619b06e_1_169"/>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1" name="Google Shape;491;g2ed1619b06e_1_169"/>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2" name="Google Shape;492;g2ed1619b06e_1_169"/>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3" name="Google Shape;493;g2ed1619b06e_1_169"/>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sp>
        <p:nvSpPr>
          <p:cNvPr id="494" name="Google Shape;494;g2ed1619b06e_1_169"/>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350">
                <a:solidFill>
                  <a:srgbClr val="000000"/>
                </a:solidFill>
                <a:latin typeface="Calibri"/>
                <a:ea typeface="Calibri"/>
                <a:cs typeface="Calibri"/>
                <a:sym typeface="Calibri"/>
              </a:rPr>
              <a:t>training parameters</a:t>
            </a:r>
            <a:endParaRPr/>
          </a:p>
        </p:txBody>
      </p:sp>
      <p:cxnSp>
        <p:nvCxnSpPr>
          <p:cNvPr id="495" name="Google Shape;495;g2ed1619b06e_1_169"/>
          <p:cNvCxnSpPr/>
          <p:nvPr/>
        </p:nvCxnSpPr>
        <p:spPr>
          <a:xfrm>
            <a:off x="128800" y="1524150"/>
            <a:ext cx="353700" cy="0"/>
          </a:xfrm>
          <a:prstGeom prst="straightConnector1">
            <a:avLst/>
          </a:prstGeom>
          <a:noFill/>
          <a:ln cap="flat" cmpd="sng" w="9525">
            <a:solidFill>
              <a:srgbClr val="44546A"/>
            </a:solidFill>
            <a:prstDash val="solid"/>
            <a:round/>
            <a:headEnd len="med" w="med" type="none"/>
            <a:tailEnd len="med" w="med" type="triangle"/>
          </a:ln>
        </p:spPr>
      </p:cxnSp>
      <p:cxnSp>
        <p:nvCxnSpPr>
          <p:cNvPr id="496" name="Google Shape;496;g2ed1619b06e_1_169"/>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med" w="med" type="none"/>
            <a:tailEnd len="med" w="med" type="none"/>
          </a:ln>
        </p:spPr>
      </p:cxnSp>
      <p:cxnSp>
        <p:nvCxnSpPr>
          <p:cNvPr id="497" name="Google Shape;497;g2ed1619b06e_1_169"/>
          <p:cNvCxnSpPr>
            <a:stCxn id="494" idx="3"/>
          </p:cNvCxnSpPr>
          <p:nvPr/>
        </p:nvCxnSpPr>
        <p:spPr>
          <a:xfrm>
            <a:off x="7418285" y="755881"/>
            <a:ext cx="1596900" cy="2242200"/>
          </a:xfrm>
          <a:prstGeom prst="bentConnector2">
            <a:avLst/>
          </a:prstGeom>
          <a:noFill/>
          <a:ln cap="flat" cmpd="sng" w="9525">
            <a:solidFill>
              <a:srgbClr val="44546A"/>
            </a:solidFill>
            <a:prstDash val="solid"/>
            <a:round/>
            <a:headEnd len="med" w="med" type="none"/>
            <a:tailEnd len="med" w="med" type="none"/>
          </a:ln>
        </p:spPr>
      </p:cxnSp>
      <p:cxnSp>
        <p:nvCxnSpPr>
          <p:cNvPr id="498" name="Google Shape;498;g2ed1619b06e_1_169"/>
          <p:cNvCxnSpPr/>
          <p:nvPr/>
        </p:nvCxnSpPr>
        <p:spPr>
          <a:xfrm rot="10800000">
            <a:off x="8875600" y="2995500"/>
            <a:ext cx="139500" cy="0"/>
          </a:xfrm>
          <a:prstGeom prst="straightConnector1">
            <a:avLst/>
          </a:prstGeom>
          <a:noFill/>
          <a:ln cap="flat" cmpd="sng" w="9525">
            <a:solidFill>
              <a:srgbClr val="44546A"/>
            </a:solidFill>
            <a:prstDash val="solid"/>
            <a:round/>
            <a:headEnd len="med" w="med" type="none"/>
            <a:tailEnd len="med" w="med" type="triangle"/>
          </a:ln>
        </p:spPr>
      </p:cxnSp>
      <p:sp>
        <p:nvSpPr>
          <p:cNvPr id="499" name="Google Shape;499;g2ed1619b06e_1_169"/>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Optimize</a:t>
            </a:r>
            <a:endParaRPr sz="1300">
              <a:solidFill>
                <a:schemeClr val="accent1"/>
              </a:solidFill>
              <a:latin typeface="Lato"/>
              <a:ea typeface="Lato"/>
              <a:cs typeface="Lato"/>
              <a:sym typeface="Lato"/>
            </a:endParaRPr>
          </a:p>
        </p:txBody>
      </p:sp>
      <p:sp>
        <p:nvSpPr>
          <p:cNvPr id="500" name="Google Shape;500;g2ed1619b06e_1_169"/>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FOM</a:t>
            </a:r>
            <a:endParaRPr/>
          </a:p>
        </p:txBody>
      </p:sp>
      <p:sp>
        <p:nvSpPr>
          <p:cNvPr id="501" name="Google Shape;501;g2ed1619b06e_1_169"/>
          <p:cNvSpPr txBox="1"/>
          <p:nvPr>
            <p:ph type="title"/>
          </p:nvPr>
        </p:nvSpPr>
        <p:spPr>
          <a:xfrm>
            <a:off x="449579" y="224709"/>
            <a:ext cx="6568500" cy="43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SzPts val="990"/>
              <a:buNone/>
            </a:pPr>
            <a:r>
              <a:rPr b="1" lang="en-GB" sz="1950">
                <a:solidFill>
                  <a:schemeClr val="dk2"/>
                </a:solidFill>
              </a:rPr>
              <a:t>Overview of ROMs in Kratos</a:t>
            </a:r>
            <a:endParaRPr b="1" sz="960">
              <a:solidFill>
                <a:schemeClr val="dk2"/>
              </a:solidFill>
            </a:endParaRPr>
          </a:p>
        </p:txBody>
      </p:sp>
      <p:cxnSp>
        <p:nvCxnSpPr>
          <p:cNvPr id="502" name="Google Shape;502;g2ed1619b06e_1_169"/>
          <p:cNvCxnSpPr/>
          <p:nvPr/>
        </p:nvCxnSpPr>
        <p:spPr>
          <a:xfrm>
            <a:off x="39075" y="561775"/>
            <a:ext cx="9050100" cy="37200"/>
          </a:xfrm>
          <a:prstGeom prst="straightConnector1">
            <a:avLst/>
          </a:prstGeom>
          <a:noFill/>
          <a:ln cap="flat" cmpd="sng" w="9525">
            <a:solidFill>
              <a:srgbClr val="FF0000"/>
            </a:solidFill>
            <a:prstDash val="solid"/>
            <a:round/>
            <a:headEnd len="med" w="med" type="none"/>
            <a:tailEnd len="med" w="med" type="none"/>
          </a:ln>
        </p:spPr>
      </p:cxnSp>
      <p:cxnSp>
        <p:nvCxnSpPr>
          <p:cNvPr id="503" name="Google Shape;503;g2ed1619b06e_1_169"/>
          <p:cNvCxnSpPr/>
          <p:nvPr/>
        </p:nvCxnSpPr>
        <p:spPr>
          <a:xfrm>
            <a:off x="48375" y="571075"/>
            <a:ext cx="0" cy="4018200"/>
          </a:xfrm>
          <a:prstGeom prst="straightConnector1">
            <a:avLst/>
          </a:prstGeom>
          <a:noFill/>
          <a:ln cap="flat" cmpd="sng" w="9525">
            <a:solidFill>
              <a:srgbClr val="FF0000"/>
            </a:solidFill>
            <a:prstDash val="solid"/>
            <a:round/>
            <a:headEnd len="med" w="med" type="none"/>
            <a:tailEnd len="med" w="med" type="none"/>
          </a:ln>
        </p:spPr>
      </p:cxnSp>
      <p:cxnSp>
        <p:nvCxnSpPr>
          <p:cNvPr id="504" name="Google Shape;504;g2ed1619b06e_1_169"/>
          <p:cNvCxnSpPr/>
          <p:nvPr/>
        </p:nvCxnSpPr>
        <p:spPr>
          <a:xfrm flipH="1">
            <a:off x="9067500" y="602250"/>
            <a:ext cx="22800" cy="4021800"/>
          </a:xfrm>
          <a:prstGeom prst="straightConnector1">
            <a:avLst/>
          </a:prstGeom>
          <a:noFill/>
          <a:ln cap="flat" cmpd="sng" w="9525">
            <a:solidFill>
              <a:srgbClr val="FF0000"/>
            </a:solidFill>
            <a:prstDash val="solid"/>
            <a:round/>
            <a:headEnd len="med" w="med" type="none"/>
            <a:tailEnd len="med" w="med" type="none"/>
          </a:ln>
        </p:spPr>
      </p:cxnSp>
      <p:cxnSp>
        <p:nvCxnSpPr>
          <p:cNvPr id="505" name="Google Shape;505;g2ed1619b06e_1_169"/>
          <p:cNvCxnSpPr/>
          <p:nvPr/>
        </p:nvCxnSpPr>
        <p:spPr>
          <a:xfrm>
            <a:off x="57150" y="4585600"/>
            <a:ext cx="8994300" cy="54300"/>
          </a:xfrm>
          <a:prstGeom prst="straightConnector1">
            <a:avLst/>
          </a:prstGeom>
          <a:noFill/>
          <a:ln cap="flat" cmpd="sng" w="9525">
            <a:solidFill>
              <a:srgbClr val="FF0000"/>
            </a:solidFill>
            <a:prstDash val="solid"/>
            <a:round/>
            <a:headEnd len="med" w="med" type="none"/>
            <a:tailEnd len="med" w="med" type="none"/>
          </a:ln>
        </p:spPr>
      </p:cxnSp>
      <p:sp>
        <p:nvSpPr>
          <p:cNvPr id="506" name="Google Shape;506;g2ed1619b06e_1_169"/>
          <p:cNvSpPr txBox="1"/>
          <p:nvPr/>
        </p:nvSpPr>
        <p:spPr>
          <a:xfrm>
            <a:off x="782600" y="3724650"/>
            <a:ext cx="4220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300">
                <a:solidFill>
                  <a:schemeClr val="dk2"/>
                </a:solidFill>
                <a:latin typeface="Lato"/>
                <a:ea typeface="Lato"/>
                <a:cs typeface="Lato"/>
                <a:sym typeface="Lato"/>
              </a:rPr>
              <a:t>RomManager</a:t>
            </a:r>
            <a:endParaRPr b="1" sz="2300">
              <a:solidFill>
                <a:schemeClr val="dk2"/>
              </a:solidFill>
              <a:latin typeface="Lato"/>
              <a:ea typeface="Lato"/>
              <a:cs typeface="Lato"/>
              <a:sym typeface="Lato"/>
            </a:endParaRPr>
          </a:p>
        </p:txBody>
      </p:sp>
      <p:cxnSp>
        <p:nvCxnSpPr>
          <p:cNvPr id="507" name="Google Shape;507;g2ed1619b06e_1_169"/>
          <p:cNvCxnSpPr>
            <a:stCxn id="508" idx="3"/>
          </p:cNvCxnSpPr>
          <p:nvPr/>
        </p:nvCxnSpPr>
        <p:spPr>
          <a:xfrm rot="10800000">
            <a:off x="4164350" y="2152925"/>
            <a:ext cx="324600" cy="877500"/>
          </a:xfrm>
          <a:prstGeom prst="straightConnector1">
            <a:avLst/>
          </a:prstGeom>
          <a:noFill/>
          <a:ln cap="flat" cmpd="sng" w="9525">
            <a:solidFill>
              <a:schemeClr val="dk2"/>
            </a:solidFill>
            <a:prstDash val="solid"/>
            <a:round/>
            <a:headEnd len="med" w="med" type="none"/>
            <a:tailEnd len="med" w="med" type="triangle"/>
          </a:ln>
        </p:spPr>
      </p:cxnSp>
      <p:cxnSp>
        <p:nvCxnSpPr>
          <p:cNvPr id="509" name="Google Shape;509;g2ed1619b06e_1_169"/>
          <p:cNvCxnSpPr>
            <a:stCxn id="508" idx="3"/>
          </p:cNvCxnSpPr>
          <p:nvPr/>
        </p:nvCxnSpPr>
        <p:spPr>
          <a:xfrm>
            <a:off x="4488950" y="3030425"/>
            <a:ext cx="584400" cy="133200"/>
          </a:xfrm>
          <a:prstGeom prst="straightConnector1">
            <a:avLst/>
          </a:prstGeom>
          <a:noFill/>
          <a:ln cap="flat" cmpd="sng" w="9525">
            <a:solidFill>
              <a:schemeClr val="dk2"/>
            </a:solidFill>
            <a:prstDash val="solid"/>
            <a:round/>
            <a:headEnd len="med" w="med" type="none"/>
            <a:tailEnd len="med" w="med" type="triangle"/>
          </a:ln>
        </p:spPr>
      </p:cxnSp>
      <p:sp>
        <p:nvSpPr>
          <p:cNvPr id="508" name="Google Shape;508;g2ed1619b06e_1_169"/>
          <p:cNvSpPr txBox="1"/>
          <p:nvPr/>
        </p:nvSpPr>
        <p:spPr>
          <a:xfrm>
            <a:off x="3221750" y="2880425"/>
            <a:ext cx="12672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Validate</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