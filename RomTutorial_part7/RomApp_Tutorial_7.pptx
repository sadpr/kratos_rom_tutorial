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
      <p:font typeface="Helvetica Neue"/>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 roundtripDataSignature="AMtx7mg0Np/+8b3Baj4GiGazU0fOYVzq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22" Type="http://schemas.openxmlformats.org/officeDocument/2006/relationships/font" Target="fonts/HelveticaNeue-regular.fntdata"/><Relationship Id="rId21" Type="http://schemas.openxmlformats.org/officeDocument/2006/relationships/font" Target="fonts/Lato-boldItalic.fntdata"/><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Lato-bold.fntdata"/><Relationship Id="rId18" Type="http://schemas.openxmlformats.org/officeDocument/2006/relationships/font" Target="fonts/La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d1619b06e_1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d1619b06e_1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d1619b06e_1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e38cda50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e38cda50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ee38cda50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e38cda50a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e38cda50a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2ee38cda50a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ee36bd9e6d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ee36bd9e6d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2ee36bd9e6d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jpg"/><Relationship Id="rId4" Type="http://schemas.openxmlformats.org/officeDocument/2006/relationships/image" Target="../media/image13.jpg"/><Relationship Id="rId11" Type="http://schemas.openxmlformats.org/officeDocument/2006/relationships/hyperlink" Target="about:blank" TargetMode="External"/><Relationship Id="rId10" Type="http://schemas.openxmlformats.org/officeDocument/2006/relationships/image" Target="../media/image3.png"/><Relationship Id="rId9" Type="http://schemas.openxmlformats.org/officeDocument/2006/relationships/hyperlink" Target="http://www.linkedin.com/company/eflows4hpc" TargetMode="External"/><Relationship Id="rId5" Type="http://schemas.openxmlformats.org/officeDocument/2006/relationships/image" Target="../media/image8.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i="0" lang="en-GB" sz="3500" u="none" cap="none" strike="noStrike">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d1619b06e_1_59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SzPct val="111669"/>
              <a:buNone/>
            </a:pPr>
            <a:r>
              <a:rPr b="1" lang="en-GB" sz="2388">
                <a:solidFill>
                  <a:schemeClr val="dk2"/>
                </a:solidFill>
              </a:rPr>
              <a:t>ROM Advanced Options</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d1619b06e_1_597"/>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or Paraview (For postprocessing)</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StructuralMechanicsApplication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ConstitutiveLawsApplication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ROM Advanced Options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750"/>
              </a:spcBef>
              <a:spcAft>
                <a:spcPts val="0"/>
              </a:spcAft>
              <a:buClr>
                <a:srgbClr val="B7B7B7"/>
              </a:buClr>
              <a:buSzPts val="2000"/>
              <a:buFont typeface="Calibri"/>
              <a:buChar char="-"/>
            </a:pPr>
            <a:r>
              <a:rPr b="1" i="0" lang="en-GB" sz="2000" u="none" cap="none" strike="noStrike">
                <a:solidFill>
                  <a:srgbClr val="B7B7B7"/>
                </a:solidFill>
                <a:latin typeface="Calibri"/>
                <a:ea typeface="Calibri"/>
                <a:cs typeface="Calibri"/>
                <a:sym typeface="Calibri"/>
              </a:rPr>
              <a:t>Rom Database</a:t>
            </a:r>
            <a:endParaRPr b="1" i="0" sz="2000" u="none" cap="none" strike="noStrike">
              <a:solidFill>
                <a:srgbClr val="B7B7B7"/>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Analysis Stage (More specific customizations)</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chemeClr val="dk2"/>
              </a:buClr>
              <a:buSzPts val="2000"/>
              <a:buFont typeface="Calibri"/>
              <a:buChar char="-"/>
            </a:pPr>
            <a:r>
              <a:rPr b="1" i="0" lang="en-GB" sz="2000" u="none" cap="none" strike="noStrike">
                <a:solidFill>
                  <a:schemeClr val="dk2"/>
                </a:solidFill>
                <a:latin typeface="Calibri"/>
                <a:ea typeface="Calibri"/>
                <a:cs typeface="Calibri"/>
                <a:sym typeface="Calibri"/>
              </a:rPr>
              <a:t>Using nonconverged solutions</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Linear or Nonlinear decoder</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Different Projection strategies (Galerkin, LSPG, PG)</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HROM</a:t>
            </a:r>
            <a:endParaRPr b="1" i="0" sz="2000" u="none" cap="none" strike="noStrike">
              <a:solidFill>
                <a:srgbClr val="999999"/>
              </a:solidFill>
              <a:latin typeface="Calibri"/>
              <a:ea typeface="Calibri"/>
              <a:cs typeface="Calibri"/>
              <a:sym typeface="Calibri"/>
            </a:endParaRPr>
          </a:p>
          <a:p>
            <a:pPr indent="0" lvl="0" marL="457200" marR="0" rtl="0" algn="l">
              <a:lnSpc>
                <a:spcPct val="90000"/>
              </a:lnSpc>
              <a:spcBef>
                <a:spcPts val="750"/>
              </a:spcBef>
              <a:spcAft>
                <a:spcPts val="0"/>
              </a:spcAft>
              <a:buClr>
                <a:srgbClr val="000000"/>
              </a:buClr>
              <a:buSzPts val="2000"/>
              <a:buFont typeface="Arial"/>
              <a:buNone/>
            </a:pPr>
            <a:r>
              <a:t/>
            </a:r>
            <a:endParaRPr b="1" i="0" sz="2000" u="none" cap="none" strike="noStrike">
              <a:solidFill>
                <a:srgbClr val="999999"/>
              </a:solidFill>
              <a:latin typeface="Calibri"/>
              <a:ea typeface="Calibri"/>
              <a:cs typeface="Calibri"/>
              <a:sym typeface="Calibri"/>
            </a:endParaRPr>
          </a:p>
          <a:p>
            <a:pPr indent="0" lvl="0" marL="0" marR="0" rtl="0" algn="l">
              <a:lnSpc>
                <a:spcPct val="90000"/>
              </a:lnSpc>
              <a:spcBef>
                <a:spcPts val="75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e38cda50a_0_0"/>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GB">
                <a:solidFill>
                  <a:schemeClr val="dk2"/>
                </a:solidFill>
              </a:rPr>
              <a:t>Using nonconverged solutions</a:t>
            </a:r>
            <a:endParaRPr b="1">
              <a:solidFill>
                <a:schemeClr val="dk2"/>
              </a:solidFill>
            </a:endParaRPr>
          </a:p>
        </p:txBody>
      </p:sp>
      <p:sp>
        <p:nvSpPr>
          <p:cNvPr id="153" name="Google Shape;153;g2ee38cda50a_0_0"/>
          <p:cNvSpPr txBox="1"/>
          <p:nvPr/>
        </p:nvSpPr>
        <p:spPr>
          <a:xfrm>
            <a:off x="3187563" y="1689025"/>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descr="&lt;math xmlns=&quot;http://www.w3.org/1998/Math/MathML&quot;&gt;&lt;mi&gt;&amp;#x3BC;&lt;/mi&gt;&lt;/math&gt;" id="154" name="Google Shape;154;g2ee38cda50a_0_0" title="mu"/>
          <p:cNvPicPr preferRelativeResize="0"/>
          <p:nvPr/>
        </p:nvPicPr>
        <p:blipFill>
          <a:blip r:embed="rId3">
            <a:alphaModFix/>
          </a:blip>
          <a:stretch>
            <a:fillRect/>
          </a:stretch>
        </p:blipFill>
        <p:spPr>
          <a:xfrm>
            <a:off x="1511300" y="1911438"/>
            <a:ext cx="280511" cy="294084"/>
          </a:xfrm>
          <a:prstGeom prst="rect">
            <a:avLst/>
          </a:prstGeom>
          <a:noFill/>
          <a:ln>
            <a:noFill/>
          </a:ln>
        </p:spPr>
      </p:pic>
      <p:cxnSp>
        <p:nvCxnSpPr>
          <p:cNvPr id="155" name="Google Shape;155;g2ee38cda50a_0_0"/>
          <p:cNvCxnSpPr/>
          <p:nvPr/>
        </p:nvCxnSpPr>
        <p:spPr>
          <a:xfrm flipH="1" rot="10800000">
            <a:off x="2096300" y="2056375"/>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56" name="Google Shape;156;g2ee38cda50a_0_0"/>
          <p:cNvSpPr txBox="1"/>
          <p:nvPr/>
        </p:nvSpPr>
        <p:spPr>
          <a:xfrm>
            <a:off x="930275" y="230492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157" name="Google Shape;157;g2ee38cda50a_0_0"/>
          <p:cNvSpPr txBox="1"/>
          <p:nvPr/>
        </p:nvSpPr>
        <p:spPr>
          <a:xfrm>
            <a:off x="888425" y="1252287"/>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158" name="Google Shape;158;g2ee38cda50a_0_0"/>
          <p:cNvSpPr txBox="1"/>
          <p:nvPr/>
        </p:nvSpPr>
        <p:spPr>
          <a:xfrm>
            <a:off x="6267699" y="1254878"/>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OUTPUT</a:t>
            </a:r>
            <a:endParaRPr/>
          </a:p>
        </p:txBody>
      </p:sp>
      <p:sp>
        <p:nvSpPr>
          <p:cNvPr id="159" name="Google Shape;159;g2ee38cda50a_0_0"/>
          <p:cNvSpPr txBox="1"/>
          <p:nvPr/>
        </p:nvSpPr>
        <p:spPr>
          <a:xfrm>
            <a:off x="3359694" y="1252279"/>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Full Order Model (FOM)</a:t>
            </a:r>
            <a:endParaRPr/>
          </a:p>
        </p:txBody>
      </p:sp>
      <p:cxnSp>
        <p:nvCxnSpPr>
          <p:cNvPr id="160" name="Google Shape;160;g2ee38cda50a_0_0"/>
          <p:cNvCxnSpPr/>
          <p:nvPr/>
        </p:nvCxnSpPr>
        <p:spPr>
          <a:xfrm flipH="1" rot="10800000">
            <a:off x="5727525" y="2056388"/>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61" name="Google Shape;161;g2ee38cda50a_0_0"/>
          <p:cNvSpPr/>
          <p:nvPr/>
        </p:nvSpPr>
        <p:spPr>
          <a:xfrm>
            <a:off x="6922446" y="1618250"/>
            <a:ext cx="240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62" name="Google Shape;162;g2ee38cda50a_0_0"/>
          <p:cNvSpPr txBox="1"/>
          <p:nvPr/>
        </p:nvSpPr>
        <p:spPr>
          <a:xfrm>
            <a:off x="6404300" y="24987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pic>
        <p:nvPicPr>
          <p:cNvPr id="163" name="Google Shape;163;g2ee38cda50a_0_0"/>
          <p:cNvPicPr preferRelativeResize="0"/>
          <p:nvPr/>
        </p:nvPicPr>
        <p:blipFill>
          <a:blip r:embed="rId4">
            <a:alphaModFix/>
          </a:blip>
          <a:stretch>
            <a:fillRect/>
          </a:stretch>
        </p:blipFill>
        <p:spPr>
          <a:xfrm>
            <a:off x="7408825" y="1657350"/>
            <a:ext cx="1088767" cy="354850"/>
          </a:xfrm>
          <a:prstGeom prst="rect">
            <a:avLst/>
          </a:prstGeom>
          <a:noFill/>
          <a:ln>
            <a:noFill/>
          </a:ln>
        </p:spPr>
      </p:pic>
      <p:pic>
        <p:nvPicPr>
          <p:cNvPr id="164" name="Google Shape;164;g2ee38cda50a_0_0"/>
          <p:cNvPicPr preferRelativeResize="0"/>
          <p:nvPr/>
        </p:nvPicPr>
        <p:blipFill>
          <a:blip r:embed="rId5">
            <a:alphaModFix/>
          </a:blip>
          <a:stretch>
            <a:fillRect/>
          </a:stretch>
        </p:blipFill>
        <p:spPr>
          <a:xfrm>
            <a:off x="7522950" y="2139663"/>
            <a:ext cx="799887" cy="231625"/>
          </a:xfrm>
          <a:prstGeom prst="rect">
            <a:avLst/>
          </a:prstGeom>
          <a:noFill/>
          <a:ln>
            <a:noFill/>
          </a:ln>
        </p:spPr>
      </p:pic>
      <p:pic>
        <p:nvPicPr>
          <p:cNvPr id="165" name="Google Shape;165;g2ee38cda50a_0_0"/>
          <p:cNvPicPr preferRelativeResize="0"/>
          <p:nvPr/>
        </p:nvPicPr>
        <p:blipFill>
          <a:blip r:embed="rId6">
            <a:alphaModFix/>
          </a:blip>
          <a:stretch>
            <a:fillRect/>
          </a:stretch>
        </p:blipFill>
        <p:spPr>
          <a:xfrm>
            <a:off x="3682125" y="1926575"/>
            <a:ext cx="1524000" cy="342600"/>
          </a:xfrm>
          <a:prstGeom prst="rect">
            <a:avLst/>
          </a:prstGeom>
          <a:noFill/>
          <a:ln>
            <a:noFill/>
          </a:ln>
        </p:spPr>
      </p:pic>
      <p:pic>
        <p:nvPicPr>
          <p:cNvPr id="166" name="Google Shape;166;g2ee38cda50a_0_0"/>
          <p:cNvPicPr preferRelativeResize="0"/>
          <p:nvPr/>
        </p:nvPicPr>
        <p:blipFill>
          <a:blip r:embed="rId7">
            <a:alphaModFix/>
          </a:blip>
          <a:stretch>
            <a:fillRect/>
          </a:stretch>
        </p:blipFill>
        <p:spPr>
          <a:xfrm>
            <a:off x="4136513" y="2985037"/>
            <a:ext cx="615224" cy="615224"/>
          </a:xfrm>
          <a:prstGeom prst="rect">
            <a:avLst/>
          </a:prstGeom>
          <a:noFill/>
          <a:ln>
            <a:noFill/>
          </a:ln>
        </p:spPr>
      </p:pic>
      <p:sp>
        <p:nvSpPr>
          <p:cNvPr id="167" name="Google Shape;167;g2ee38cda50a_0_0"/>
          <p:cNvSpPr/>
          <p:nvPr/>
        </p:nvSpPr>
        <p:spPr>
          <a:xfrm>
            <a:off x="3472871" y="3362775"/>
            <a:ext cx="240600" cy="8805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68" name="Google Shape;168;g2ee38cda50a_0_0"/>
          <p:cNvSpPr/>
          <p:nvPr/>
        </p:nvSpPr>
        <p:spPr>
          <a:xfrm>
            <a:off x="3713471" y="3362775"/>
            <a:ext cx="240600" cy="8805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69" name="Google Shape;169;g2ee38cda50a_0_0"/>
          <p:cNvSpPr/>
          <p:nvPr/>
        </p:nvSpPr>
        <p:spPr>
          <a:xfrm>
            <a:off x="3954071" y="3362775"/>
            <a:ext cx="240600" cy="8805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70" name="Google Shape;170;g2ee38cda50a_0_0"/>
          <p:cNvSpPr txBox="1"/>
          <p:nvPr/>
        </p:nvSpPr>
        <p:spPr>
          <a:xfrm>
            <a:off x="4371525" y="3592375"/>
            <a:ext cx="7998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a:t>
            </a:r>
            <a:endParaRPr sz="1300">
              <a:solidFill>
                <a:schemeClr val="accent1"/>
              </a:solidFill>
              <a:latin typeface="Lato"/>
              <a:ea typeface="Lato"/>
              <a:cs typeface="Lato"/>
              <a:sym typeface="Lato"/>
            </a:endParaRPr>
          </a:p>
        </p:txBody>
      </p:sp>
      <p:sp>
        <p:nvSpPr>
          <p:cNvPr id="171" name="Google Shape;171;g2ee38cda50a_0_0"/>
          <p:cNvSpPr/>
          <p:nvPr/>
        </p:nvSpPr>
        <p:spPr>
          <a:xfrm>
            <a:off x="4736996" y="3362775"/>
            <a:ext cx="240600" cy="8805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72" name="Google Shape;172;g2ee38cda50a_0_0"/>
          <p:cNvSpPr txBox="1"/>
          <p:nvPr/>
        </p:nvSpPr>
        <p:spPr>
          <a:xfrm>
            <a:off x="3365325" y="4355725"/>
            <a:ext cx="20739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nonconverged</a:t>
            </a:r>
            <a:r>
              <a:rPr lang="en-GB" sz="1300">
                <a:solidFill>
                  <a:schemeClr val="accent1"/>
                </a:solidFill>
                <a:latin typeface="Lato"/>
                <a:ea typeface="Lato"/>
                <a:cs typeface="Lato"/>
                <a:sym typeface="Lato"/>
              </a:rPr>
              <a:t> solutions </a:t>
            </a:r>
            <a:endParaRPr sz="13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ee38cda50a_0_30"/>
          <p:cNvSpPr/>
          <p:nvPr/>
        </p:nvSpPr>
        <p:spPr>
          <a:xfrm>
            <a:off x="2630688" y="1873113"/>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179" name="Google Shape;179;g2ee38cda50a_0_30"/>
          <p:cNvCxnSpPr/>
          <p:nvPr/>
        </p:nvCxnSpPr>
        <p:spPr>
          <a:xfrm>
            <a:off x="2327442" y="20261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80" name="Google Shape;180;g2ee38cda50a_0_30"/>
          <p:cNvCxnSpPr/>
          <p:nvPr/>
        </p:nvCxnSpPr>
        <p:spPr>
          <a:xfrm>
            <a:off x="2984650" y="2003663"/>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181" name="Google Shape;181;g2ee38cda50a_0_30"/>
          <p:cNvCxnSpPr/>
          <p:nvPr/>
        </p:nvCxnSpPr>
        <p:spPr>
          <a:xfrm flipH="1" rot="10800000">
            <a:off x="3015050" y="2579613"/>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182" name="Google Shape;182;g2ee38cda50a_0_30"/>
          <p:cNvCxnSpPr/>
          <p:nvPr/>
        </p:nvCxnSpPr>
        <p:spPr>
          <a:xfrm flipH="1" rot="10800000">
            <a:off x="4838000" y="2411525"/>
            <a:ext cx="1716300" cy="16200"/>
          </a:xfrm>
          <a:prstGeom prst="straightConnector1">
            <a:avLst/>
          </a:prstGeom>
          <a:noFill/>
          <a:ln cap="flat" cmpd="sng" w="9525">
            <a:solidFill>
              <a:srgbClr val="4472C4"/>
            </a:solidFill>
            <a:prstDash val="solid"/>
            <a:miter lim="800000"/>
            <a:headEnd len="sm" w="sm" type="none"/>
            <a:tailEnd len="med" w="med" type="triangle"/>
          </a:ln>
        </p:spPr>
      </p:cxnSp>
      <p:sp>
        <p:nvSpPr>
          <p:cNvPr id="183" name="Google Shape;183;g2ee38cda50a_0_30"/>
          <p:cNvSpPr/>
          <p:nvPr/>
        </p:nvSpPr>
        <p:spPr>
          <a:xfrm>
            <a:off x="2611938" y="2601875"/>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184" name="Google Shape;184;g2ee38cda50a_0_30" title="vertical ellipsis"/>
          <p:cNvPicPr preferRelativeResize="0"/>
          <p:nvPr/>
        </p:nvPicPr>
        <p:blipFill>
          <a:blip r:embed="rId3">
            <a:alphaModFix/>
          </a:blip>
          <a:stretch>
            <a:fillRect/>
          </a:stretch>
        </p:blipFill>
        <p:spPr>
          <a:xfrm>
            <a:off x="2565150" y="2292435"/>
            <a:ext cx="256475" cy="197925"/>
          </a:xfrm>
          <a:prstGeom prst="rect">
            <a:avLst/>
          </a:prstGeom>
          <a:noFill/>
          <a:ln>
            <a:noFill/>
          </a:ln>
        </p:spPr>
      </p:pic>
      <p:cxnSp>
        <p:nvCxnSpPr>
          <p:cNvPr id="185" name="Google Shape;185;g2ee38cda50a_0_30"/>
          <p:cNvCxnSpPr/>
          <p:nvPr/>
        </p:nvCxnSpPr>
        <p:spPr>
          <a:xfrm>
            <a:off x="2348867" y="275488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86" name="Google Shape;186;g2ee38cda50a_0_30"/>
          <p:cNvCxnSpPr/>
          <p:nvPr/>
        </p:nvCxnSpPr>
        <p:spPr>
          <a:xfrm>
            <a:off x="2909438" y="2379285"/>
            <a:ext cx="752400" cy="5700"/>
          </a:xfrm>
          <a:prstGeom prst="straightConnector1">
            <a:avLst/>
          </a:prstGeom>
          <a:noFill/>
          <a:ln cap="flat" cmpd="sng" w="9525">
            <a:solidFill>
              <a:srgbClr val="4472C4"/>
            </a:solidFill>
            <a:prstDash val="solid"/>
            <a:miter lim="800000"/>
            <a:headEnd len="sm" w="sm" type="none"/>
            <a:tailEnd len="med" w="med" type="triangle"/>
          </a:ln>
        </p:spPr>
      </p:cxnSp>
      <p:grpSp>
        <p:nvGrpSpPr>
          <p:cNvPr id="187" name="Google Shape;187;g2ee38cda50a_0_30"/>
          <p:cNvGrpSpPr/>
          <p:nvPr/>
        </p:nvGrpSpPr>
        <p:grpSpPr>
          <a:xfrm>
            <a:off x="3761895" y="1941879"/>
            <a:ext cx="204350" cy="880500"/>
            <a:chOff x="3179220" y="1005991"/>
            <a:chExt cx="204350" cy="880500"/>
          </a:xfrm>
        </p:grpSpPr>
        <p:sp>
          <p:nvSpPr>
            <p:cNvPr id="188" name="Google Shape;188;g2ee38cda50a_0_30"/>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89" name="Google Shape;189;g2ee38cda50a_0_30"/>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0" name="Google Shape;190;g2ee38cda50a_0_30"/>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1" name="Google Shape;191;g2ee38cda50a_0_30"/>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pic>
        <p:nvPicPr>
          <p:cNvPr descr="&lt;math xmlns=&quot;http://www.w3.org/1998/Math/MathML&quot;&gt;&lt;msub&gt;&lt;mi&gt;&amp;#x3BC;&lt;/mi&gt;&lt;mn&gt;1&lt;/mn&gt;&lt;/msub&gt;&lt;/math&gt;" id="192" name="Google Shape;192;g2ee38cda50a_0_30" title="mu subscript 1"/>
          <p:cNvPicPr preferRelativeResize="0"/>
          <p:nvPr/>
        </p:nvPicPr>
        <p:blipFill>
          <a:blip r:embed="rId4">
            <a:alphaModFix/>
          </a:blip>
          <a:stretch>
            <a:fillRect/>
          </a:stretch>
        </p:blipFill>
        <p:spPr>
          <a:xfrm>
            <a:off x="624655" y="1978650"/>
            <a:ext cx="211200" cy="169754"/>
          </a:xfrm>
          <a:prstGeom prst="rect">
            <a:avLst/>
          </a:prstGeom>
          <a:noFill/>
          <a:ln>
            <a:noFill/>
          </a:ln>
        </p:spPr>
      </p:pic>
      <p:pic>
        <p:nvPicPr>
          <p:cNvPr descr="&lt;math xmlns=&quot;http://www.w3.org/1998/Math/MathML&quot;&gt;&lt;msub&gt;&lt;mi&gt;&amp;#x3BC;&lt;/mi&gt;&lt;mi&gt;p&lt;/mi&gt;&lt;/msub&gt;&lt;/math&gt;" id="193" name="Google Shape;193;g2ee38cda50a_0_30" title="mu subscript p"/>
          <p:cNvPicPr preferRelativeResize="0"/>
          <p:nvPr/>
        </p:nvPicPr>
        <p:blipFill>
          <a:blip r:embed="rId5">
            <a:alphaModFix/>
          </a:blip>
          <a:stretch>
            <a:fillRect/>
          </a:stretch>
        </p:blipFill>
        <p:spPr>
          <a:xfrm>
            <a:off x="602007" y="2617145"/>
            <a:ext cx="256500" cy="235700"/>
          </a:xfrm>
          <a:prstGeom prst="rect">
            <a:avLst/>
          </a:prstGeom>
          <a:noFill/>
          <a:ln>
            <a:noFill/>
          </a:ln>
        </p:spPr>
      </p:pic>
      <p:pic>
        <p:nvPicPr>
          <p:cNvPr descr="&lt;math xmlns=&quot;http://www.w3.org/1998/Math/MathML&quot;&gt;&lt;mo&gt;&amp;#x22EE;&lt;/mo&gt;&lt;/math&gt;" id="194" name="Google Shape;194;g2ee38cda50a_0_30" title="vertical ellipsis"/>
          <p:cNvPicPr preferRelativeResize="0"/>
          <p:nvPr/>
        </p:nvPicPr>
        <p:blipFill>
          <a:blip r:embed="rId3">
            <a:alphaModFix/>
          </a:blip>
          <a:stretch>
            <a:fillRect/>
          </a:stretch>
        </p:blipFill>
        <p:spPr>
          <a:xfrm>
            <a:off x="624663" y="2283823"/>
            <a:ext cx="256475" cy="197925"/>
          </a:xfrm>
          <a:prstGeom prst="rect">
            <a:avLst/>
          </a:prstGeom>
          <a:noFill/>
          <a:ln>
            <a:noFill/>
          </a:ln>
        </p:spPr>
      </p:pic>
      <p:cxnSp>
        <p:nvCxnSpPr>
          <p:cNvPr id="195" name="Google Shape;195;g2ee38cda50a_0_30"/>
          <p:cNvCxnSpPr/>
          <p:nvPr/>
        </p:nvCxnSpPr>
        <p:spPr>
          <a:xfrm>
            <a:off x="903329" y="2062625"/>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96" name="Google Shape;196;g2ee38cda50a_0_30"/>
          <p:cNvCxnSpPr/>
          <p:nvPr/>
        </p:nvCxnSpPr>
        <p:spPr>
          <a:xfrm>
            <a:off x="903342" y="2754863"/>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197" name="Google Shape;197;g2ee38cda50a_0_30"/>
          <p:cNvSpPr txBox="1"/>
          <p:nvPr/>
        </p:nvSpPr>
        <p:spPr>
          <a:xfrm>
            <a:off x="6808738" y="2182700"/>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t>Data for ROM</a:t>
            </a:r>
            <a:endParaRPr/>
          </a:p>
        </p:txBody>
      </p:sp>
      <p:cxnSp>
        <p:nvCxnSpPr>
          <p:cNvPr id="198" name="Google Shape;198;g2ee38cda50a_0_30"/>
          <p:cNvCxnSpPr/>
          <p:nvPr/>
        </p:nvCxnSpPr>
        <p:spPr>
          <a:xfrm flipH="1">
            <a:off x="7574013" y="2624425"/>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199" name="Google Shape;199;g2ee38cda50a_0_30"/>
          <p:cNvSpPr/>
          <p:nvPr/>
        </p:nvSpPr>
        <p:spPr>
          <a:xfrm>
            <a:off x="1149188" y="1582050"/>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ee38cda50a_0_30"/>
          <p:cNvSpPr txBox="1"/>
          <p:nvPr/>
        </p:nvSpPr>
        <p:spPr>
          <a:xfrm>
            <a:off x="1272400" y="18638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01" name="Google Shape;201;g2ee38cda50a_0_30"/>
          <p:cNvPicPr preferRelativeResize="0"/>
          <p:nvPr/>
        </p:nvPicPr>
        <p:blipFill>
          <a:blip r:embed="rId6">
            <a:alphaModFix/>
          </a:blip>
          <a:stretch>
            <a:fillRect/>
          </a:stretch>
        </p:blipFill>
        <p:spPr>
          <a:xfrm>
            <a:off x="1383583" y="1938705"/>
            <a:ext cx="703149" cy="158064"/>
          </a:xfrm>
          <a:prstGeom prst="rect">
            <a:avLst/>
          </a:prstGeom>
          <a:noFill/>
          <a:ln>
            <a:noFill/>
          </a:ln>
        </p:spPr>
      </p:pic>
      <p:pic>
        <p:nvPicPr>
          <p:cNvPr descr="&lt;math xmlns=&quot;http://www.w3.org/1998/Math/MathML&quot;&gt;&lt;mo&gt;&amp;#x22EE;&lt;/mo&gt;&lt;/math&gt;" id="202" name="Google Shape;202;g2ee38cda50a_0_30" title="vertical ellipsis"/>
          <p:cNvPicPr preferRelativeResize="0"/>
          <p:nvPr/>
        </p:nvPicPr>
        <p:blipFill>
          <a:blip r:embed="rId3">
            <a:alphaModFix/>
          </a:blip>
          <a:stretch>
            <a:fillRect/>
          </a:stretch>
        </p:blipFill>
        <p:spPr>
          <a:xfrm>
            <a:off x="1606900" y="2283185"/>
            <a:ext cx="256475" cy="197925"/>
          </a:xfrm>
          <a:prstGeom prst="rect">
            <a:avLst/>
          </a:prstGeom>
          <a:noFill/>
          <a:ln>
            <a:noFill/>
          </a:ln>
        </p:spPr>
      </p:pic>
      <p:sp>
        <p:nvSpPr>
          <p:cNvPr id="203" name="Google Shape;203;g2ee38cda50a_0_30"/>
          <p:cNvSpPr txBox="1"/>
          <p:nvPr/>
        </p:nvSpPr>
        <p:spPr>
          <a:xfrm>
            <a:off x="1293825" y="25926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04" name="Google Shape;204;g2ee38cda50a_0_30"/>
          <p:cNvPicPr preferRelativeResize="0"/>
          <p:nvPr/>
        </p:nvPicPr>
        <p:blipFill>
          <a:blip r:embed="rId6">
            <a:alphaModFix/>
          </a:blip>
          <a:stretch>
            <a:fillRect/>
          </a:stretch>
        </p:blipFill>
        <p:spPr>
          <a:xfrm>
            <a:off x="1405008" y="2667480"/>
            <a:ext cx="703149" cy="158064"/>
          </a:xfrm>
          <a:prstGeom prst="rect">
            <a:avLst/>
          </a:prstGeom>
          <a:noFill/>
          <a:ln>
            <a:noFill/>
          </a:ln>
        </p:spPr>
      </p:pic>
      <p:sp>
        <p:nvSpPr>
          <p:cNvPr id="205" name="Google Shape;205;g2ee38cda50a_0_30"/>
          <p:cNvSpPr txBox="1"/>
          <p:nvPr/>
        </p:nvSpPr>
        <p:spPr>
          <a:xfrm>
            <a:off x="1422538" y="1524200"/>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206" name="Google Shape;206;g2ee38cda50a_0_30"/>
          <p:cNvSpPr/>
          <p:nvPr/>
        </p:nvSpPr>
        <p:spPr>
          <a:xfrm>
            <a:off x="7008200" y="2897713"/>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ee38cda50a_0_30"/>
          <p:cNvSpPr txBox="1"/>
          <p:nvPr/>
        </p:nvSpPr>
        <p:spPr>
          <a:xfrm>
            <a:off x="7281550" y="2839863"/>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ROM</a:t>
            </a:r>
            <a:endParaRPr/>
          </a:p>
        </p:txBody>
      </p:sp>
      <p:cxnSp>
        <p:nvCxnSpPr>
          <p:cNvPr id="208" name="Google Shape;208;g2ee38cda50a_0_30"/>
          <p:cNvCxnSpPr/>
          <p:nvPr/>
        </p:nvCxnSpPr>
        <p:spPr>
          <a:xfrm rot="10800000">
            <a:off x="8193038" y="3399613"/>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09" name="Google Shape;209;g2ee38cda50a_0_30"/>
          <p:cNvSpPr txBox="1"/>
          <p:nvPr/>
        </p:nvSpPr>
        <p:spPr>
          <a:xfrm>
            <a:off x="7143800" y="31884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10" name="Google Shape;210;g2ee38cda50a_0_30"/>
          <p:cNvPicPr preferRelativeResize="0"/>
          <p:nvPr/>
        </p:nvPicPr>
        <p:blipFill>
          <a:blip r:embed="rId6">
            <a:alphaModFix/>
          </a:blip>
          <a:stretch>
            <a:fillRect/>
          </a:stretch>
        </p:blipFill>
        <p:spPr>
          <a:xfrm>
            <a:off x="7254983" y="3263280"/>
            <a:ext cx="703149" cy="158064"/>
          </a:xfrm>
          <a:prstGeom prst="rect">
            <a:avLst/>
          </a:prstGeom>
          <a:noFill/>
          <a:ln>
            <a:noFill/>
          </a:ln>
        </p:spPr>
      </p:pic>
      <p:pic>
        <p:nvPicPr>
          <p:cNvPr descr="&lt;math xmlns=&quot;http://www.w3.org/1998/Math/MathML&quot;&gt;&lt;mo&gt;&amp;#x22EE;&lt;/mo&gt;&lt;/math&gt;" id="211" name="Google Shape;211;g2ee38cda50a_0_30" title="vertical ellipsis"/>
          <p:cNvPicPr preferRelativeResize="0"/>
          <p:nvPr/>
        </p:nvPicPr>
        <p:blipFill>
          <a:blip r:embed="rId3">
            <a:alphaModFix/>
          </a:blip>
          <a:stretch>
            <a:fillRect/>
          </a:stretch>
        </p:blipFill>
        <p:spPr>
          <a:xfrm>
            <a:off x="7478300" y="3607760"/>
            <a:ext cx="256475" cy="197925"/>
          </a:xfrm>
          <a:prstGeom prst="rect">
            <a:avLst/>
          </a:prstGeom>
          <a:noFill/>
          <a:ln>
            <a:noFill/>
          </a:ln>
        </p:spPr>
      </p:pic>
      <p:sp>
        <p:nvSpPr>
          <p:cNvPr id="212" name="Google Shape;212;g2ee38cda50a_0_30"/>
          <p:cNvSpPr txBox="1"/>
          <p:nvPr/>
        </p:nvSpPr>
        <p:spPr>
          <a:xfrm>
            <a:off x="7165225" y="391718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13" name="Google Shape;213;g2ee38cda50a_0_30"/>
          <p:cNvPicPr preferRelativeResize="0"/>
          <p:nvPr/>
        </p:nvPicPr>
        <p:blipFill>
          <a:blip r:embed="rId6">
            <a:alphaModFix/>
          </a:blip>
          <a:stretch>
            <a:fillRect/>
          </a:stretch>
        </p:blipFill>
        <p:spPr>
          <a:xfrm>
            <a:off x="7276408" y="3992055"/>
            <a:ext cx="703149" cy="158064"/>
          </a:xfrm>
          <a:prstGeom prst="rect">
            <a:avLst/>
          </a:prstGeom>
          <a:noFill/>
          <a:ln>
            <a:noFill/>
          </a:ln>
        </p:spPr>
      </p:pic>
      <p:pic>
        <p:nvPicPr>
          <p:cNvPr descr="&lt;math xmlns=&quot;http://www.w3.org/1998/Math/MathML&quot;&gt;&lt;msub&gt;&lt;mi&gt;&amp;#x3BC;&lt;/mi&gt;&lt;mn&gt;1&lt;/mn&gt;&lt;/msub&gt;&lt;/math&gt;" id="214" name="Google Shape;214;g2ee38cda50a_0_30" title="mu subscript 1"/>
          <p:cNvPicPr preferRelativeResize="0"/>
          <p:nvPr/>
        </p:nvPicPr>
        <p:blipFill>
          <a:blip r:embed="rId4">
            <a:alphaModFix/>
          </a:blip>
          <a:stretch>
            <a:fillRect/>
          </a:stretch>
        </p:blipFill>
        <p:spPr>
          <a:xfrm>
            <a:off x="8545068" y="3343213"/>
            <a:ext cx="211200" cy="169754"/>
          </a:xfrm>
          <a:prstGeom prst="rect">
            <a:avLst/>
          </a:prstGeom>
          <a:noFill/>
          <a:ln>
            <a:noFill/>
          </a:ln>
        </p:spPr>
      </p:pic>
      <p:pic>
        <p:nvPicPr>
          <p:cNvPr descr="&lt;math xmlns=&quot;http://www.w3.org/1998/Math/MathML&quot;&gt;&lt;msub&gt;&lt;mi&gt;&amp;#x3BC;&lt;/mi&gt;&lt;mi&gt;p&lt;/mi&gt;&lt;/msub&gt;&lt;/math&gt;" id="215" name="Google Shape;215;g2ee38cda50a_0_30" title="mu subscript p"/>
          <p:cNvPicPr preferRelativeResize="0"/>
          <p:nvPr/>
        </p:nvPicPr>
        <p:blipFill>
          <a:blip r:embed="rId5">
            <a:alphaModFix/>
          </a:blip>
          <a:stretch>
            <a:fillRect/>
          </a:stretch>
        </p:blipFill>
        <p:spPr>
          <a:xfrm>
            <a:off x="8522420" y="3981707"/>
            <a:ext cx="256500" cy="235700"/>
          </a:xfrm>
          <a:prstGeom prst="rect">
            <a:avLst/>
          </a:prstGeom>
          <a:noFill/>
          <a:ln>
            <a:noFill/>
          </a:ln>
        </p:spPr>
      </p:pic>
      <p:pic>
        <p:nvPicPr>
          <p:cNvPr descr="&lt;math xmlns=&quot;http://www.w3.org/1998/Math/MathML&quot;&gt;&lt;mo&gt;&amp;#x22EE;&lt;/mo&gt;&lt;/math&gt;" id="216" name="Google Shape;216;g2ee38cda50a_0_30" title="vertical ellipsis"/>
          <p:cNvPicPr preferRelativeResize="0"/>
          <p:nvPr/>
        </p:nvPicPr>
        <p:blipFill>
          <a:blip r:embed="rId3">
            <a:alphaModFix/>
          </a:blip>
          <a:stretch>
            <a:fillRect/>
          </a:stretch>
        </p:blipFill>
        <p:spPr>
          <a:xfrm>
            <a:off x="8545075" y="3648385"/>
            <a:ext cx="256475" cy="197925"/>
          </a:xfrm>
          <a:prstGeom prst="rect">
            <a:avLst/>
          </a:prstGeom>
          <a:noFill/>
          <a:ln>
            <a:noFill/>
          </a:ln>
        </p:spPr>
      </p:pic>
      <p:cxnSp>
        <p:nvCxnSpPr>
          <p:cNvPr id="217" name="Google Shape;217;g2ee38cda50a_0_30"/>
          <p:cNvCxnSpPr/>
          <p:nvPr/>
        </p:nvCxnSpPr>
        <p:spPr>
          <a:xfrm rot="10800000">
            <a:off x="8225513" y="4071063"/>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18" name="Google Shape;218;g2ee38cda50a_0_30"/>
          <p:cNvSpPr/>
          <p:nvPr/>
        </p:nvSpPr>
        <p:spPr>
          <a:xfrm>
            <a:off x="6451763" y="3188438"/>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19" name="Google Shape;219;g2ee38cda50a_0_30"/>
          <p:cNvSpPr/>
          <p:nvPr/>
        </p:nvSpPr>
        <p:spPr>
          <a:xfrm>
            <a:off x="6451763" y="3917175"/>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220" name="Google Shape;220;g2ee38cda50a_0_30" title="vertical ellipsis"/>
          <p:cNvPicPr preferRelativeResize="0"/>
          <p:nvPr/>
        </p:nvPicPr>
        <p:blipFill>
          <a:blip r:embed="rId3">
            <a:alphaModFix/>
          </a:blip>
          <a:stretch>
            <a:fillRect/>
          </a:stretch>
        </p:blipFill>
        <p:spPr>
          <a:xfrm>
            <a:off x="6386225" y="3607760"/>
            <a:ext cx="256475" cy="197925"/>
          </a:xfrm>
          <a:prstGeom prst="rect">
            <a:avLst/>
          </a:prstGeom>
          <a:noFill/>
          <a:ln>
            <a:noFill/>
          </a:ln>
        </p:spPr>
      </p:pic>
      <p:cxnSp>
        <p:nvCxnSpPr>
          <p:cNvPr id="221" name="Google Shape;221;g2ee38cda50a_0_30"/>
          <p:cNvCxnSpPr/>
          <p:nvPr/>
        </p:nvCxnSpPr>
        <p:spPr>
          <a:xfrm rot="10800000">
            <a:off x="6695063" y="3411600"/>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222" name="Google Shape;222;g2ee38cda50a_0_30"/>
          <p:cNvCxnSpPr/>
          <p:nvPr/>
        </p:nvCxnSpPr>
        <p:spPr>
          <a:xfrm rot="10800000">
            <a:off x="6727538" y="4083050"/>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223" name="Google Shape;223;g2ee38cda50a_0_30"/>
          <p:cNvCxnSpPr/>
          <p:nvPr/>
        </p:nvCxnSpPr>
        <p:spPr>
          <a:xfrm flipH="1">
            <a:off x="5581034" y="3343218"/>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224" name="Google Shape;224;g2ee38cda50a_0_30"/>
          <p:cNvCxnSpPr/>
          <p:nvPr/>
        </p:nvCxnSpPr>
        <p:spPr>
          <a:xfrm flipH="1">
            <a:off x="5581038" y="3754525"/>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225" name="Google Shape;225;g2ee38cda50a_0_30"/>
          <p:cNvCxnSpPr/>
          <p:nvPr/>
        </p:nvCxnSpPr>
        <p:spPr>
          <a:xfrm rot="10800000">
            <a:off x="5581063" y="3882025"/>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226" name="Google Shape;226;g2ee38cda50a_0_30"/>
          <p:cNvGrpSpPr/>
          <p:nvPr/>
        </p:nvGrpSpPr>
        <p:grpSpPr>
          <a:xfrm>
            <a:off x="5073295" y="3399629"/>
            <a:ext cx="256372" cy="880500"/>
            <a:chOff x="3179220" y="1005991"/>
            <a:chExt cx="256372" cy="880500"/>
          </a:xfrm>
        </p:grpSpPr>
        <p:sp>
          <p:nvSpPr>
            <p:cNvPr id="227" name="Google Shape;227;g2ee38cda50a_0_30"/>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28" name="Google Shape;228;g2ee38cda50a_0_30"/>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29" name="Google Shape;229;g2ee38cda50a_0_30"/>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0" name="Google Shape;230;g2ee38cda50a_0_30"/>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1" name="Google Shape;231;g2ee38cda50a_0_30"/>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232" name="Google Shape;232;g2ee38cda50a_0_30"/>
          <p:cNvSpPr txBox="1"/>
          <p:nvPr/>
        </p:nvSpPr>
        <p:spPr>
          <a:xfrm>
            <a:off x="5107097" y="1282156"/>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233" name="Google Shape;233;g2ee38cda50a_0_30"/>
          <p:cNvCxnSpPr/>
          <p:nvPr/>
        </p:nvCxnSpPr>
        <p:spPr>
          <a:xfrm>
            <a:off x="128813" y="2200425"/>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234" name="Google Shape;234;g2ee38cda50a_0_30"/>
          <p:cNvCxnSpPr/>
          <p:nvPr/>
        </p:nvCxnSpPr>
        <p:spPr>
          <a:xfrm flipH="1" rot="10800000">
            <a:off x="137238" y="1441025"/>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cxnSp>
        <p:nvCxnSpPr>
          <p:cNvPr id="235" name="Google Shape;235;g2ee38cda50a_0_30"/>
          <p:cNvCxnSpPr>
            <a:stCxn id="232" idx="3"/>
          </p:cNvCxnSpPr>
          <p:nvPr/>
        </p:nvCxnSpPr>
        <p:spPr>
          <a:xfrm>
            <a:off x="7418297" y="1432156"/>
            <a:ext cx="1596900" cy="2242200"/>
          </a:xfrm>
          <a:prstGeom prst="bentConnector2">
            <a:avLst/>
          </a:prstGeom>
          <a:noFill/>
          <a:ln cap="flat" cmpd="sng" w="9525">
            <a:solidFill>
              <a:srgbClr val="44546A"/>
            </a:solidFill>
            <a:prstDash val="solid"/>
            <a:round/>
            <a:headEnd len="med" w="med" type="none"/>
            <a:tailEnd len="med" w="med" type="none"/>
          </a:ln>
        </p:spPr>
      </p:cxnSp>
      <p:cxnSp>
        <p:nvCxnSpPr>
          <p:cNvPr id="236" name="Google Shape;236;g2ee38cda50a_0_30"/>
          <p:cNvCxnSpPr/>
          <p:nvPr/>
        </p:nvCxnSpPr>
        <p:spPr>
          <a:xfrm rot="10800000">
            <a:off x="8875613" y="3671775"/>
            <a:ext cx="139500" cy="0"/>
          </a:xfrm>
          <a:prstGeom prst="straightConnector1">
            <a:avLst/>
          </a:prstGeom>
          <a:noFill/>
          <a:ln cap="flat" cmpd="sng" w="9525">
            <a:solidFill>
              <a:srgbClr val="44546A"/>
            </a:solidFill>
            <a:prstDash val="solid"/>
            <a:round/>
            <a:headEnd len="med" w="med" type="none"/>
            <a:tailEnd len="med" w="med" type="triangle"/>
          </a:ln>
        </p:spPr>
      </p:cxnSp>
      <p:sp>
        <p:nvSpPr>
          <p:cNvPr id="237" name="Google Shape;237;g2ee38cda50a_0_30"/>
          <p:cNvSpPr txBox="1"/>
          <p:nvPr/>
        </p:nvSpPr>
        <p:spPr>
          <a:xfrm>
            <a:off x="4851313" y="2056600"/>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238" name="Google Shape;238;g2ee38cda50a_0_30"/>
          <p:cNvSpPr/>
          <p:nvPr/>
        </p:nvSpPr>
        <p:spPr>
          <a:xfrm>
            <a:off x="2756100" y="1873125"/>
            <a:ext cx="177900" cy="3078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39" name="Google Shape;239;g2ee38cda50a_0_30"/>
          <p:cNvSpPr/>
          <p:nvPr/>
        </p:nvSpPr>
        <p:spPr>
          <a:xfrm>
            <a:off x="2741525" y="2601850"/>
            <a:ext cx="177900" cy="3078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40" name="Google Shape;240;g2ee38cda50a_0_30"/>
          <p:cNvSpPr/>
          <p:nvPr/>
        </p:nvSpPr>
        <p:spPr>
          <a:xfrm>
            <a:off x="3976450" y="1941875"/>
            <a:ext cx="740400" cy="8805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41" name="Google Shape;241;g2ee38cda50a_0_30"/>
          <p:cNvSpPr txBox="1"/>
          <p:nvPr/>
        </p:nvSpPr>
        <p:spPr>
          <a:xfrm>
            <a:off x="3280550" y="2806875"/>
            <a:ext cx="28101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converged  + nonconverged solutions</a:t>
            </a:r>
            <a:endParaRPr sz="1300">
              <a:solidFill>
                <a:schemeClr val="accent1"/>
              </a:solidFill>
              <a:latin typeface="Lato"/>
              <a:ea typeface="Lato"/>
              <a:cs typeface="Lato"/>
              <a:sym typeface="Lato"/>
            </a:endParaRPr>
          </a:p>
        </p:txBody>
      </p:sp>
      <p:sp>
        <p:nvSpPr>
          <p:cNvPr id="242" name="Google Shape;242;g2ee38cda50a_0_30"/>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GB">
                <a:solidFill>
                  <a:schemeClr val="dk2"/>
                </a:solidFill>
              </a:rPr>
              <a:t>Using nonconverged solutions</a:t>
            </a:r>
            <a:endParaRPr b="1">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