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aleway"/>
      <p:regular r:id="rId18"/>
      <p:bold r:id="rId19"/>
      <p:italic r:id="rId20"/>
      <p:boldItalic r:id="rId21"/>
    </p:embeddedFont>
    <p:embeddedFont>
      <p:font typeface="Lato"/>
      <p:regular r:id="rId22"/>
      <p:bold r:id="rId23"/>
      <p:italic r:id="rId24"/>
      <p:boldItalic r:id="rId25"/>
    </p:embeddedFont>
    <p:embeddedFont>
      <p:font typeface="Helvetica Neue"/>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0" roundtripDataSignature="AMtx7mgmUpr7xsSHLhAWXygSTnKjitrz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Lato-regular.fntdata"/><Relationship Id="rId21" Type="http://schemas.openxmlformats.org/officeDocument/2006/relationships/font" Target="fonts/Raleway-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regular.fntdata"/><Relationship Id="rId25" Type="http://schemas.openxmlformats.org/officeDocument/2006/relationships/font" Target="fonts/Lato-boldItalic.fntdata"/><Relationship Id="rId28" Type="http://schemas.openxmlformats.org/officeDocument/2006/relationships/font" Target="fonts/HelveticaNeue-italic.fntdata"/><Relationship Id="rId27" Type="http://schemas.openxmlformats.org/officeDocument/2006/relationships/font" Target="fonts/HelveticaNeue-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bold.fntdata"/><Relationship Id="rId1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784" y="4343396"/>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ed1619b06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2ed1619b06e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2ed1619b06e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ee643218f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2ee643218fe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2ee643218fe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deceed00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2edeceed00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2edeceed00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e643218f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2ee643218f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ee643218f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ee643218fe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2ee643218fe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g2ee643218fe_0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ee643218fe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2ee643218fe_0_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g2ee643218fe_0_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edf492c43b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2edf492c43b_0_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2edf492c43b_0_1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edf492c43b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2edf492c43b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g2edf492c43b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edf492c43b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g2edf492c43b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g2edf492c43b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ee643218fe_2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2ee643218fe_2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g2ee643218fe_2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9.jpg"/><Relationship Id="rId4" Type="http://schemas.openxmlformats.org/officeDocument/2006/relationships/image" Target="../media/image2.jpg"/><Relationship Id="rId11" Type="http://schemas.openxmlformats.org/officeDocument/2006/relationships/hyperlink" Target="about:blank" TargetMode="External"/><Relationship Id="rId10" Type="http://schemas.openxmlformats.org/officeDocument/2006/relationships/image" Target="../media/image3.png"/><Relationship Id="rId9" Type="http://schemas.openxmlformats.org/officeDocument/2006/relationships/hyperlink" Target="http://www.linkedin.com/company/eflows4hpc" TargetMode="External"/><Relationship Id="rId5" Type="http://schemas.openxmlformats.org/officeDocument/2006/relationships/image" Target="../media/image4.png"/><Relationship Id="rId6" Type="http://schemas.openxmlformats.org/officeDocument/2006/relationships/hyperlink" Target="http://www.eflows4hpc.eu/" TargetMode="External"/><Relationship Id="rId7" Type="http://schemas.openxmlformats.org/officeDocument/2006/relationships/hyperlink" Target="https://twitter.com/eFlows4HPC" TargetMode="External"/><Relationship Id="rId8"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1">
  <p:cSld name="slide1">
    <p:spTree>
      <p:nvGrpSpPr>
        <p:cNvPr id="15" name="Shape 15"/>
        <p:cNvGrpSpPr/>
        <p:nvPr/>
      </p:nvGrpSpPr>
      <p:grpSpPr>
        <a:xfrm>
          <a:off x="0" y="0"/>
          <a:ext cx="0" cy="0"/>
          <a:chOff x="0" y="0"/>
          <a:chExt cx="0" cy="0"/>
        </a:xfrm>
      </p:grpSpPr>
      <p:sp>
        <p:nvSpPr>
          <p:cNvPr id="16" name="Google Shape;16;p55"/>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0"/>
              </a:spcBef>
              <a:spcAft>
                <a:spcPts val="0"/>
              </a:spcAft>
              <a:buClr>
                <a:schemeClr val="accent1"/>
              </a:buClr>
              <a:buSzPts val="2400"/>
              <a:buFont typeface="Calibri"/>
              <a:buNone/>
              <a:defRPr b="0" i="0" sz="2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17" name="Google Shape;17;p55"/>
          <p:cNvSpPr txBox="1"/>
          <p:nvPr>
            <p:ph idx="1" type="body"/>
          </p:nvPr>
        </p:nvSpPr>
        <p:spPr>
          <a:xfrm>
            <a:off x="449579" y="1031288"/>
            <a:ext cx="8278800" cy="3423300"/>
          </a:xfrm>
          <a:prstGeom prst="rect">
            <a:avLst/>
          </a:prstGeom>
          <a:noFill/>
          <a:ln>
            <a:noFill/>
          </a:ln>
        </p:spPr>
        <p:txBody>
          <a:bodyPr anchorCtr="0" anchor="t" bIns="45700" lIns="91425" spcFirstLastPara="1" rIns="91425" wrap="square" tIns="45700">
            <a:normAutofit/>
          </a:bodyPr>
          <a:lstStyle>
            <a:lvl1pPr indent="-355600" lvl="0" marL="457200" marR="0" algn="l">
              <a:lnSpc>
                <a:spcPct val="90000"/>
              </a:lnSpc>
              <a:spcBef>
                <a:spcPts val="75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1pPr>
            <a:lvl2pPr indent="-355600" lvl="1" marL="914400" marR="0" algn="l">
              <a:lnSpc>
                <a:spcPct val="90000"/>
              </a:lnSpc>
              <a:spcBef>
                <a:spcPts val="120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2pPr>
            <a:lvl3pPr indent="-342900" lvl="2" marL="1371600" marR="0" algn="l">
              <a:lnSpc>
                <a:spcPct val="90000"/>
              </a:lnSpc>
              <a:spcBef>
                <a:spcPts val="1200"/>
              </a:spcBef>
              <a:spcAft>
                <a:spcPts val="0"/>
              </a:spcAft>
              <a:buClr>
                <a:schemeClr val="accent1"/>
              </a:buClr>
              <a:buSzPts val="1800"/>
              <a:buFont typeface="Arial"/>
              <a:buChar char="•"/>
              <a:defRPr b="0" i="0" sz="1800" u="none" cap="none" strike="noStrike">
                <a:solidFill>
                  <a:srgbClr val="595959"/>
                </a:solidFill>
                <a:latin typeface="Calibri"/>
                <a:ea typeface="Calibri"/>
                <a:cs typeface="Calibri"/>
                <a:sym typeface="Calibri"/>
              </a:defRPr>
            </a:lvl3pPr>
            <a:lvl4pPr indent="-323850" lvl="3" marL="1828800" marR="0" algn="l">
              <a:lnSpc>
                <a:spcPct val="90000"/>
              </a:lnSpc>
              <a:spcBef>
                <a:spcPts val="1200"/>
              </a:spcBef>
              <a:spcAft>
                <a:spcPts val="0"/>
              </a:spcAft>
              <a:buClr>
                <a:srgbClr val="37A5AE"/>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4pPr>
            <a:lvl5pPr indent="-323850" lvl="4" marL="2286000" marR="0" algn="l">
              <a:lnSpc>
                <a:spcPct val="90000"/>
              </a:lnSpc>
              <a:spcBef>
                <a:spcPts val="1200"/>
              </a:spcBef>
              <a:spcAft>
                <a:spcPts val="0"/>
              </a:spcAft>
              <a:buClr>
                <a:srgbClr val="3F6BA3"/>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5pPr>
            <a:lvl6pPr indent="-314325" lvl="5" marL="27432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algn="l">
              <a:lnSpc>
                <a:spcPct val="90000"/>
              </a:lnSpc>
              <a:spcBef>
                <a:spcPts val="1200"/>
              </a:spcBef>
              <a:spcAft>
                <a:spcPts val="120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8" name="Shape 18"/>
        <p:cNvGrpSpPr/>
        <p:nvPr/>
      </p:nvGrpSpPr>
      <p:grpSpPr>
        <a:xfrm>
          <a:off x="0" y="0"/>
          <a:ext cx="0" cy="0"/>
          <a:chOff x="0" y="0"/>
          <a:chExt cx="0" cy="0"/>
        </a:xfrm>
      </p:grpSpPr>
      <p:sp>
        <p:nvSpPr>
          <p:cNvPr id="19" name="Google Shape;19;p5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 name="Google Shape;20;p56"/>
          <p:cNvGrpSpPr/>
          <p:nvPr/>
        </p:nvGrpSpPr>
        <p:grpSpPr>
          <a:xfrm>
            <a:off x="830392" y="1191256"/>
            <a:ext cx="745763" cy="45826"/>
            <a:chOff x="4580561" y="2589004"/>
            <a:chExt cx="1064464" cy="25200"/>
          </a:xfrm>
        </p:grpSpPr>
        <p:sp>
          <p:nvSpPr>
            <p:cNvPr id="21" name="Google Shape;21;p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5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4" name="Google Shape;24;p5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5" name="Google Shape;25;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grpSp>
        <p:nvGrpSpPr>
          <p:cNvPr id="27" name="Google Shape;27;p57"/>
          <p:cNvGrpSpPr/>
          <p:nvPr/>
        </p:nvGrpSpPr>
        <p:grpSpPr>
          <a:xfrm>
            <a:off x="830392" y="1191256"/>
            <a:ext cx="745763" cy="45826"/>
            <a:chOff x="4580561" y="2589004"/>
            <a:chExt cx="1064464" cy="25200"/>
          </a:xfrm>
        </p:grpSpPr>
        <p:sp>
          <p:nvSpPr>
            <p:cNvPr id="28" name="Google Shape;28;p5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1" name="Google Shape;31;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 name="Google Shape;34;p58"/>
          <p:cNvGrpSpPr/>
          <p:nvPr/>
        </p:nvGrpSpPr>
        <p:grpSpPr>
          <a:xfrm>
            <a:off x="830392" y="1191256"/>
            <a:ext cx="745763" cy="45826"/>
            <a:chOff x="4580561" y="2589004"/>
            <a:chExt cx="1064464" cy="25200"/>
          </a:xfrm>
        </p:grpSpPr>
        <p:sp>
          <p:nvSpPr>
            <p:cNvPr id="35" name="Google Shape;35;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8" name="Google Shape;38;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9"/>
          <p:cNvGrpSpPr/>
          <p:nvPr/>
        </p:nvGrpSpPr>
        <p:grpSpPr>
          <a:xfrm>
            <a:off x="830392" y="1191256"/>
            <a:ext cx="745763" cy="45826"/>
            <a:chOff x="4580561" y="2589004"/>
            <a:chExt cx="1064464" cy="25200"/>
          </a:xfrm>
        </p:grpSpPr>
        <p:sp>
          <p:nvSpPr>
            <p:cNvPr id="43" name="Google Shape;43;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5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0"/>
          <p:cNvGrpSpPr/>
          <p:nvPr/>
        </p:nvGrpSpPr>
        <p:grpSpPr>
          <a:xfrm>
            <a:off x="830392" y="1191256"/>
            <a:ext cx="745763" cy="45826"/>
            <a:chOff x="4580561" y="2589004"/>
            <a:chExt cx="1064464" cy="25200"/>
          </a:xfrm>
        </p:grpSpPr>
        <p:sp>
          <p:nvSpPr>
            <p:cNvPr id="52" name="Google Shape;52;p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1"/>
          <p:cNvGrpSpPr/>
          <p:nvPr/>
        </p:nvGrpSpPr>
        <p:grpSpPr>
          <a:xfrm>
            <a:off x="830392" y="1191256"/>
            <a:ext cx="745763" cy="45826"/>
            <a:chOff x="4580561" y="2589004"/>
            <a:chExt cx="1064464" cy="25200"/>
          </a:xfrm>
        </p:grpSpPr>
        <p:sp>
          <p:nvSpPr>
            <p:cNvPr id="59" name="Google Shape;59;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2"/>
          <p:cNvGrpSpPr/>
          <p:nvPr/>
        </p:nvGrpSpPr>
        <p:grpSpPr>
          <a:xfrm>
            <a:off x="830392" y="4169130"/>
            <a:ext cx="745763" cy="45826"/>
            <a:chOff x="4580561" y="2589004"/>
            <a:chExt cx="1064464" cy="25200"/>
          </a:xfrm>
        </p:grpSpPr>
        <p:sp>
          <p:nvSpPr>
            <p:cNvPr id="66" name="Google Shape;66;p6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6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 name="Google Shape;72;p63"/>
          <p:cNvGrpSpPr/>
          <p:nvPr/>
        </p:nvGrpSpPr>
        <p:grpSpPr>
          <a:xfrm>
            <a:off x="830392" y="1191256"/>
            <a:ext cx="745763" cy="45826"/>
            <a:chOff x="4580561" y="2589004"/>
            <a:chExt cx="1064464" cy="25200"/>
          </a:xfrm>
        </p:grpSpPr>
        <p:sp>
          <p:nvSpPr>
            <p:cNvPr id="73" name="Google Shape;73;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6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6" name="Google Shape;76;p6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7" name="Google Shape;77;p6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6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81" name="Google Shape;81;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82" name="Shape 82"/>
        <p:cNvGrpSpPr/>
        <p:nvPr/>
      </p:nvGrpSpPr>
      <p:grpSpPr>
        <a:xfrm>
          <a:off x="0" y="0"/>
          <a:ext cx="0" cy="0"/>
          <a:chOff x="0" y="0"/>
          <a:chExt cx="0" cy="0"/>
        </a:xfrm>
      </p:grpSpPr>
      <p:grpSp>
        <p:nvGrpSpPr>
          <p:cNvPr id="83" name="Google Shape;83;p65"/>
          <p:cNvGrpSpPr/>
          <p:nvPr/>
        </p:nvGrpSpPr>
        <p:grpSpPr>
          <a:xfrm>
            <a:off x="830392" y="4169130"/>
            <a:ext cx="745763" cy="45826"/>
            <a:chOff x="4580561" y="2589004"/>
            <a:chExt cx="1064464" cy="25200"/>
          </a:xfrm>
        </p:grpSpPr>
        <p:sp>
          <p:nvSpPr>
            <p:cNvPr id="84" name="Google Shape;84;p6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6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7" name="Google Shape;87;p6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8" name="Google Shape;88;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hanks">
  <p:cSld name="slide thanks">
    <p:spTree>
      <p:nvGrpSpPr>
        <p:cNvPr id="89" name="Shape 89"/>
        <p:cNvGrpSpPr/>
        <p:nvPr/>
      </p:nvGrpSpPr>
      <p:grpSpPr>
        <a:xfrm>
          <a:off x="0" y="0"/>
          <a:ext cx="0" cy="0"/>
          <a:chOff x="0" y="0"/>
          <a:chExt cx="0" cy="0"/>
        </a:xfrm>
      </p:grpSpPr>
      <p:sp>
        <p:nvSpPr>
          <p:cNvPr id="90" name="Google Shape;90;p66"/>
          <p:cNvSpPr txBox="1"/>
          <p:nvPr>
            <p:ph type="ctrTitle"/>
          </p:nvPr>
        </p:nvSpPr>
        <p:spPr>
          <a:xfrm>
            <a:off x="0" y="944471"/>
            <a:ext cx="9144000" cy="947400"/>
          </a:xfrm>
          <a:prstGeom prst="rect">
            <a:avLst/>
          </a:prstGeom>
          <a:noFill/>
          <a:ln>
            <a:noFill/>
          </a:ln>
        </p:spPr>
        <p:txBody>
          <a:bodyPr anchorCtr="0" anchor="b" bIns="45700" lIns="91425" spcFirstLastPara="1" rIns="91425" wrap="square" tIns="45700">
            <a:normAutofit/>
          </a:bodyPr>
          <a:lstStyle>
            <a:lvl1pPr lvl="0" marR="0" algn="ctr">
              <a:lnSpc>
                <a:spcPct val="90000"/>
              </a:lnSpc>
              <a:spcBef>
                <a:spcPts val="0"/>
              </a:spcBef>
              <a:spcAft>
                <a:spcPts val="0"/>
              </a:spcAft>
              <a:buClr>
                <a:schemeClr val="accent1"/>
              </a:buClr>
              <a:buSzPts val="5400"/>
              <a:buFont typeface="Calibri"/>
              <a:buNone/>
              <a:defRPr b="0" i="0" sz="5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pic>
        <p:nvPicPr>
          <p:cNvPr id="91" name="Google Shape;91;p66"/>
          <p:cNvPicPr preferRelativeResize="0"/>
          <p:nvPr/>
        </p:nvPicPr>
        <p:blipFill rotWithShape="1">
          <a:blip r:embed="rId2">
            <a:alphaModFix/>
          </a:blip>
          <a:srcRect b="20534" l="0" r="2684" t="12047"/>
          <a:stretch/>
        </p:blipFill>
        <p:spPr>
          <a:xfrm>
            <a:off x="2743128" y="2081209"/>
            <a:ext cx="3714235" cy="1313305"/>
          </a:xfrm>
          <a:prstGeom prst="rect">
            <a:avLst/>
          </a:prstGeom>
          <a:noFill/>
          <a:ln>
            <a:noFill/>
          </a:ln>
        </p:spPr>
      </p:pic>
      <p:pic>
        <p:nvPicPr>
          <p:cNvPr id="92" name="Google Shape;92;p66"/>
          <p:cNvPicPr preferRelativeResize="0"/>
          <p:nvPr/>
        </p:nvPicPr>
        <p:blipFill rotWithShape="1">
          <a:blip r:embed="rId3">
            <a:alphaModFix/>
          </a:blip>
          <a:srcRect b="49684" l="4954" r="6258" t="41889"/>
          <a:stretch/>
        </p:blipFill>
        <p:spPr>
          <a:xfrm>
            <a:off x="-2" y="-1"/>
            <a:ext cx="9144003" cy="356261"/>
          </a:xfrm>
          <a:prstGeom prst="rect">
            <a:avLst/>
          </a:prstGeom>
          <a:noFill/>
          <a:ln>
            <a:noFill/>
          </a:ln>
        </p:spPr>
      </p:pic>
      <p:pic>
        <p:nvPicPr>
          <p:cNvPr id="93" name="Google Shape;93;p66"/>
          <p:cNvPicPr preferRelativeResize="0"/>
          <p:nvPr/>
        </p:nvPicPr>
        <p:blipFill rotWithShape="1">
          <a:blip r:embed="rId4">
            <a:alphaModFix/>
          </a:blip>
          <a:srcRect b="52681" l="2873" r="4448" t="809"/>
          <a:stretch/>
        </p:blipFill>
        <p:spPr>
          <a:xfrm rot="10800000">
            <a:off x="1" y="3690849"/>
            <a:ext cx="9143998" cy="1458452"/>
          </a:xfrm>
          <a:prstGeom prst="rect">
            <a:avLst/>
          </a:prstGeom>
          <a:noFill/>
          <a:ln>
            <a:noFill/>
          </a:ln>
        </p:spPr>
      </p:pic>
      <p:pic>
        <p:nvPicPr>
          <p:cNvPr id="94" name="Google Shape;94;p66"/>
          <p:cNvPicPr preferRelativeResize="0"/>
          <p:nvPr/>
        </p:nvPicPr>
        <p:blipFill rotWithShape="1">
          <a:blip r:embed="rId5">
            <a:alphaModFix/>
          </a:blip>
          <a:srcRect b="0" l="0" r="0" t="0"/>
          <a:stretch/>
        </p:blipFill>
        <p:spPr>
          <a:xfrm>
            <a:off x="1406615" y="4688228"/>
            <a:ext cx="364155" cy="242768"/>
          </a:xfrm>
          <a:prstGeom prst="rect">
            <a:avLst/>
          </a:prstGeom>
          <a:noFill/>
          <a:ln>
            <a:noFill/>
          </a:ln>
        </p:spPr>
      </p:pic>
      <p:sp>
        <p:nvSpPr>
          <p:cNvPr id="95" name="Google Shape;95;p66"/>
          <p:cNvSpPr/>
          <p:nvPr/>
        </p:nvSpPr>
        <p:spPr>
          <a:xfrm>
            <a:off x="1783085" y="4663951"/>
            <a:ext cx="66411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chemeClr val="dk1"/>
                </a:solidFill>
                <a:latin typeface="Calibri"/>
                <a:ea typeface="Calibri"/>
                <a:cs typeface="Calibri"/>
                <a:sym typeface="Calibri"/>
              </a:rPr>
              <a:t>This project has received funding from the European High-Performance Computing Joint Undertaking (JU) under grant agreement No 955558. The JU receives support from the European Union’s Horizon 2020 research and innovation programme and Spain, Germany, France, Italy, Poland, Switzerland, Norway.  </a:t>
            </a:r>
            <a:endParaRPr b="0" i="0" sz="1400" u="none" cap="none" strike="noStrike">
              <a:solidFill>
                <a:srgbClr val="000000"/>
              </a:solidFill>
              <a:latin typeface="Arial"/>
              <a:ea typeface="Arial"/>
              <a:cs typeface="Arial"/>
              <a:sym typeface="Arial"/>
            </a:endParaRPr>
          </a:p>
        </p:txBody>
      </p:sp>
      <p:sp>
        <p:nvSpPr>
          <p:cNvPr id="96" name="Google Shape;96;p66"/>
          <p:cNvSpPr/>
          <p:nvPr/>
        </p:nvSpPr>
        <p:spPr>
          <a:xfrm>
            <a:off x="3797509" y="3824075"/>
            <a:ext cx="17124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sng" cap="none" strike="noStrike">
                <a:solidFill>
                  <a:schemeClr val="hlink"/>
                </a:solidFill>
                <a:latin typeface="Calibri"/>
                <a:ea typeface="Calibri"/>
                <a:cs typeface="Calibri"/>
                <a:sym typeface="Calibri"/>
                <a:hlinkClick r:id="rId6"/>
              </a:rPr>
              <a:t>www.eFlows4HPC.eu</a:t>
            </a:r>
            <a:endParaRPr b="1" i="0" sz="1350" u="none" cap="none" strike="noStrike">
              <a:solidFill>
                <a:srgbClr val="7F7F7F"/>
              </a:solidFill>
              <a:latin typeface="Calibri"/>
              <a:ea typeface="Calibri"/>
              <a:cs typeface="Calibri"/>
              <a:sym typeface="Calibri"/>
            </a:endParaRPr>
          </a:p>
        </p:txBody>
      </p:sp>
      <p:pic>
        <p:nvPicPr>
          <p:cNvPr id="97" name="Google Shape;97;p66">
            <a:hlinkClick r:id="rId7"/>
          </p:cNvPr>
          <p:cNvPicPr preferRelativeResize="0"/>
          <p:nvPr/>
        </p:nvPicPr>
        <p:blipFill rotWithShape="1">
          <a:blip r:embed="rId8">
            <a:alphaModFix/>
          </a:blip>
          <a:srcRect b="0" l="0" r="0" t="0"/>
          <a:stretch/>
        </p:blipFill>
        <p:spPr>
          <a:xfrm>
            <a:off x="3278293" y="4266438"/>
            <a:ext cx="256790" cy="256790"/>
          </a:xfrm>
          <a:prstGeom prst="rect">
            <a:avLst/>
          </a:prstGeom>
          <a:noFill/>
          <a:ln>
            <a:noFill/>
          </a:ln>
        </p:spPr>
      </p:pic>
      <p:pic>
        <p:nvPicPr>
          <p:cNvPr id="98" name="Google Shape;98;p66">
            <a:hlinkClick r:id="rId9"/>
          </p:cNvPr>
          <p:cNvPicPr preferRelativeResize="0"/>
          <p:nvPr/>
        </p:nvPicPr>
        <p:blipFill rotWithShape="1">
          <a:blip r:embed="rId10">
            <a:alphaModFix/>
          </a:blip>
          <a:srcRect b="0" l="0" r="0" t="0"/>
          <a:stretch/>
        </p:blipFill>
        <p:spPr>
          <a:xfrm>
            <a:off x="4669593" y="4264000"/>
            <a:ext cx="256790" cy="256790"/>
          </a:xfrm>
          <a:prstGeom prst="rect">
            <a:avLst/>
          </a:prstGeom>
          <a:noFill/>
          <a:ln>
            <a:noFill/>
          </a:ln>
        </p:spPr>
      </p:pic>
      <p:sp>
        <p:nvSpPr>
          <p:cNvPr id="99" name="Google Shape;99;p66"/>
          <p:cNvSpPr txBox="1"/>
          <p:nvPr/>
        </p:nvSpPr>
        <p:spPr>
          <a:xfrm>
            <a:off x="2416477" y="5579369"/>
            <a:ext cx="1875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GB" sz="1350" u="sng" cap="none" strike="noStrike">
                <a:solidFill>
                  <a:schemeClr val="hlink"/>
                </a:solidFill>
                <a:latin typeface="Calibri"/>
                <a:ea typeface="Calibri"/>
                <a:cs typeface="Calibri"/>
                <a:sym typeface="Calibri"/>
                <a:hlinkClick r:id="rId11"/>
              </a:rPr>
              <a:t>.</a:t>
            </a:r>
            <a:endParaRPr b="0" i="0" sz="1350" u="none" cap="none" strike="noStrike">
              <a:solidFill>
                <a:srgbClr val="595959"/>
              </a:solidFill>
              <a:latin typeface="Calibri"/>
              <a:ea typeface="Calibri"/>
              <a:cs typeface="Calibri"/>
              <a:sym typeface="Calibri"/>
            </a:endParaRPr>
          </a:p>
        </p:txBody>
      </p:sp>
      <p:sp>
        <p:nvSpPr>
          <p:cNvPr id="100" name="Google Shape;100;p66"/>
          <p:cNvSpPr txBox="1"/>
          <p:nvPr/>
        </p:nvSpPr>
        <p:spPr>
          <a:xfrm>
            <a:off x="3488696" y="4264000"/>
            <a:ext cx="2461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a:t>
            </a:r>
            <a:endParaRPr b="0" i="0" sz="1400" u="none" cap="none" strike="noStrike">
              <a:solidFill>
                <a:srgbClr val="000000"/>
              </a:solidFill>
              <a:latin typeface="Arial"/>
              <a:ea typeface="Arial"/>
              <a:cs typeface="Arial"/>
              <a:sym typeface="Arial"/>
            </a:endParaRPr>
          </a:p>
        </p:txBody>
      </p:sp>
      <p:sp>
        <p:nvSpPr>
          <p:cNvPr id="101" name="Google Shape;101;p66"/>
          <p:cNvSpPr txBox="1"/>
          <p:nvPr/>
        </p:nvSpPr>
        <p:spPr>
          <a:xfrm>
            <a:off x="4875527" y="4262795"/>
            <a:ext cx="2959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 Project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2" name="Shape 102"/>
        <p:cNvGrpSpPr/>
        <p:nvPr/>
      </p:nvGrpSpPr>
      <p:grpSpPr>
        <a:xfrm>
          <a:off x="0" y="0"/>
          <a:ext cx="0" cy="0"/>
          <a:chOff x="0" y="0"/>
          <a:chExt cx="0" cy="0"/>
        </a:xfrm>
      </p:grpSpPr>
      <p:sp>
        <p:nvSpPr>
          <p:cNvPr id="103" name="Google Shape;103;p67"/>
          <p:cNvSpPr txBox="1"/>
          <p:nvPr>
            <p:ph type="title"/>
          </p:nvPr>
        </p:nvSpPr>
        <p:spPr>
          <a:xfrm>
            <a:off x="566303" y="105981"/>
            <a:ext cx="7886700" cy="373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900"/>
              <a:buNone/>
              <a:defRPr sz="29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7"/>
          <p:cNvSpPr txBox="1"/>
          <p:nvPr>
            <p:ph idx="11" type="ftr"/>
          </p:nvPr>
        </p:nvSpPr>
        <p:spPr>
          <a:xfrm>
            <a:off x="3334443" y="4736089"/>
            <a:ext cx="40950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5" name="Google Shape;105;p67"/>
          <p:cNvSpPr txBox="1"/>
          <p:nvPr>
            <p:ph idx="12" type="sldNum"/>
          </p:nvPr>
        </p:nvSpPr>
        <p:spPr>
          <a:xfrm>
            <a:off x="6457950" y="473608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11" name="Google Shape;11;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12" name="Google Shape;12;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25.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23.png"/><Relationship Id="rId7" Type="http://schemas.openxmlformats.org/officeDocument/2006/relationships/image" Target="../media/image21.png"/></Relationships>
</file>

<file path=ppt/slides/_rels/slide10.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26.png"/><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18.png"/><Relationship Id="rId8" Type="http://schemas.openxmlformats.org/officeDocument/2006/relationships/image" Target="../media/image27.png"/></Relationships>
</file>

<file path=ppt/slides/_rels/slide11.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30.png"/><Relationship Id="rId12" Type="http://schemas.openxmlformats.org/officeDocument/2006/relationships/image" Target="../media/image32.png"/><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21.pn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image" Target="../media/image29.png"/><Relationship Id="rId8"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31.png"/><Relationship Id="rId9"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image" Target="../media/image26.png"/><Relationship Id="rId7" Type="http://schemas.openxmlformats.org/officeDocument/2006/relationships/image" Target="../media/image21.png"/><Relationship Id="rId8"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p:nvPr/>
        </p:nvSpPr>
        <p:spPr>
          <a:xfrm>
            <a:off x="4415400" y="5047920"/>
            <a:ext cx="1842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215250" y="2303565"/>
            <a:ext cx="8713500" cy="906000"/>
          </a:xfrm>
          <a:prstGeom prst="rect">
            <a:avLst/>
          </a:prstGeom>
          <a:noFill/>
          <a:ln>
            <a:noFill/>
          </a:ln>
        </p:spPr>
        <p:txBody>
          <a:bodyPr anchorCtr="0" anchor="b" bIns="45000" lIns="90000" spcFirstLastPara="1" rIns="90000" wrap="square" tIns="45000">
            <a:normAutofit/>
          </a:bodyPr>
          <a:lstStyle/>
          <a:p>
            <a:pPr indent="0" lvl="0" marL="0" marR="0" rtl="0" algn="ctr">
              <a:lnSpc>
                <a:spcPct val="100000"/>
              </a:lnSpc>
              <a:spcBef>
                <a:spcPts val="0"/>
              </a:spcBef>
              <a:spcAft>
                <a:spcPts val="0"/>
              </a:spcAft>
              <a:buClr>
                <a:srgbClr val="000000"/>
              </a:buClr>
              <a:buSzPts val="3600"/>
              <a:buFont typeface="Arial"/>
              <a:buNone/>
            </a:pPr>
            <a:r>
              <a:rPr b="1" i="0" lang="en-GB" sz="3600" u="none" cap="none" strike="noStrike">
                <a:solidFill>
                  <a:srgbClr val="4472C4"/>
                </a:solidFill>
                <a:latin typeface="Calibri"/>
                <a:ea typeface="Calibri"/>
                <a:cs typeface="Calibri"/>
                <a:sym typeface="Calibri"/>
              </a:rPr>
              <a:t>RomApplication Tutorial</a:t>
            </a:r>
            <a:endParaRPr b="1" i="0" sz="3600" u="none" cap="none" strike="noStrike">
              <a:solidFill>
                <a:srgbClr val="000000"/>
              </a:solidFill>
              <a:latin typeface="Calibri"/>
              <a:ea typeface="Calibri"/>
              <a:cs typeface="Calibri"/>
              <a:sym typeface="Calibri"/>
            </a:endParaRPr>
          </a:p>
        </p:txBody>
      </p:sp>
      <p:pic>
        <p:nvPicPr>
          <p:cNvPr id="112" name="Google Shape;112;p1"/>
          <p:cNvPicPr preferRelativeResize="0"/>
          <p:nvPr/>
        </p:nvPicPr>
        <p:blipFill rotWithShape="1">
          <a:blip r:embed="rId3">
            <a:alphaModFix/>
          </a:blip>
          <a:srcRect b="0" l="0" r="0" t="0"/>
          <a:stretch/>
        </p:blipFill>
        <p:spPr>
          <a:xfrm>
            <a:off x="3408088" y="582050"/>
            <a:ext cx="2327523" cy="523225"/>
          </a:xfrm>
          <a:prstGeom prst="rect">
            <a:avLst/>
          </a:prstGeom>
          <a:noFill/>
          <a:ln>
            <a:noFill/>
          </a:ln>
        </p:spPr>
      </p:pic>
      <p:pic>
        <p:nvPicPr>
          <p:cNvPr id="113" name="Google Shape;113;p1"/>
          <p:cNvPicPr preferRelativeResize="0"/>
          <p:nvPr/>
        </p:nvPicPr>
        <p:blipFill rotWithShape="1">
          <a:blip r:embed="rId4">
            <a:alphaModFix/>
          </a:blip>
          <a:srcRect b="0" l="0" r="0" t="0"/>
          <a:stretch/>
        </p:blipFill>
        <p:spPr>
          <a:xfrm>
            <a:off x="754800" y="478525"/>
            <a:ext cx="1433896" cy="300000"/>
          </a:xfrm>
          <a:prstGeom prst="rect">
            <a:avLst/>
          </a:prstGeom>
          <a:noFill/>
          <a:ln>
            <a:noFill/>
          </a:ln>
        </p:spPr>
      </p:pic>
      <p:pic>
        <p:nvPicPr>
          <p:cNvPr id="114" name="Google Shape;114;p1"/>
          <p:cNvPicPr preferRelativeResize="0"/>
          <p:nvPr/>
        </p:nvPicPr>
        <p:blipFill rotWithShape="1">
          <a:blip r:embed="rId5">
            <a:alphaModFix/>
          </a:blip>
          <a:srcRect b="0" l="0" r="0" t="0"/>
          <a:stretch/>
        </p:blipFill>
        <p:spPr>
          <a:xfrm>
            <a:off x="946650" y="843100"/>
            <a:ext cx="853900" cy="346025"/>
          </a:xfrm>
          <a:prstGeom prst="rect">
            <a:avLst/>
          </a:prstGeom>
          <a:noFill/>
          <a:ln>
            <a:noFill/>
          </a:ln>
        </p:spPr>
      </p:pic>
      <p:pic>
        <p:nvPicPr>
          <p:cNvPr id="115" name="Google Shape;115;p1"/>
          <p:cNvPicPr preferRelativeResize="0"/>
          <p:nvPr/>
        </p:nvPicPr>
        <p:blipFill rotWithShape="1">
          <a:blip r:embed="rId6">
            <a:alphaModFix/>
          </a:blip>
          <a:srcRect b="0" l="0" r="0" t="0"/>
          <a:stretch/>
        </p:blipFill>
        <p:spPr>
          <a:xfrm>
            <a:off x="7052225" y="332288"/>
            <a:ext cx="1022751" cy="1022751"/>
          </a:xfrm>
          <a:prstGeom prst="rect">
            <a:avLst/>
          </a:prstGeom>
          <a:noFill/>
          <a:ln>
            <a:noFill/>
          </a:ln>
        </p:spPr>
      </p:pic>
      <p:sp>
        <p:nvSpPr>
          <p:cNvPr id="116" name="Google Shape;116;p1"/>
          <p:cNvSpPr txBox="1"/>
          <p:nvPr>
            <p:ph idx="4294967295" type="title"/>
          </p:nvPr>
        </p:nvSpPr>
        <p:spPr>
          <a:xfrm>
            <a:off x="836801" y="3429375"/>
            <a:ext cx="4161300" cy="4341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GB"/>
              <a:t>Reduced Order Modelling and Physics-informed Neural Networks</a:t>
            </a:r>
            <a:endParaRPr b="1">
              <a:solidFill>
                <a:schemeClr val="dk2"/>
              </a:solidFill>
            </a:endParaRPr>
          </a:p>
        </p:txBody>
      </p:sp>
      <p:pic>
        <p:nvPicPr>
          <p:cNvPr id="117" name="Google Shape;117;p1"/>
          <p:cNvPicPr preferRelativeResize="0"/>
          <p:nvPr/>
        </p:nvPicPr>
        <p:blipFill rotWithShape="1">
          <a:blip r:embed="rId7">
            <a:alphaModFix/>
          </a:blip>
          <a:srcRect b="0" l="0" r="0" t="0"/>
          <a:stretch/>
        </p:blipFill>
        <p:spPr>
          <a:xfrm>
            <a:off x="5313857" y="3667450"/>
            <a:ext cx="2255381" cy="90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Content</a:t>
            </a:r>
            <a:endParaRPr b="1" sz="3000">
              <a:solidFill>
                <a:schemeClr val="dk2"/>
              </a:solidFill>
            </a:endParaRPr>
          </a:p>
        </p:txBody>
      </p:sp>
      <p:sp>
        <p:nvSpPr>
          <p:cNvPr id="124" name="Google Shape;124;p2"/>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 name="Google Shape;125;p2"/>
          <p:cNvSpPr txBox="1"/>
          <p:nvPr/>
        </p:nvSpPr>
        <p:spPr>
          <a:xfrm>
            <a:off x="847425" y="1072950"/>
            <a:ext cx="7421700" cy="3392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Overview of ROMs in Kratos </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FOM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ROM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ROM Example 2 (FluidDynamics)</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i="0" lang="en-GB" sz="2400" u="none" cap="none" strike="noStrike">
                <a:solidFill>
                  <a:schemeClr val="dk2"/>
                </a:solidFill>
                <a:latin typeface="Calibri"/>
                <a:ea typeface="Calibri"/>
                <a:cs typeface="Calibri"/>
                <a:sym typeface="Calibri"/>
              </a:rPr>
              <a:t>ROM Advanced Options </a:t>
            </a:r>
            <a:endParaRPr b="1" i="0" sz="24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ed1619b06e_1_0"/>
          <p:cNvSpPr txBox="1"/>
          <p:nvPr/>
        </p:nvSpPr>
        <p:spPr>
          <a:xfrm>
            <a:off x="1408650" y="1628800"/>
            <a:ext cx="6326700" cy="11544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3500"/>
              <a:buFont typeface="Arial"/>
              <a:buNone/>
            </a:pPr>
            <a:r>
              <a:rPr b="1" i="0" lang="en-GB" sz="3500" u="none" cap="none" strike="noStrike">
                <a:solidFill>
                  <a:schemeClr val="dk2"/>
                </a:solidFill>
                <a:latin typeface="Calibri"/>
                <a:ea typeface="Calibri"/>
                <a:cs typeface="Calibri"/>
                <a:sym typeface="Calibri"/>
              </a:rPr>
              <a:t>ROM Advanced Options </a:t>
            </a:r>
            <a:endParaRPr b="1" i="0" sz="3500" u="none" cap="none" strike="noStrike">
              <a:solidFill>
                <a:schemeClr val="dk2"/>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500"/>
              <a:buFont typeface="Arial"/>
              <a:buNone/>
            </a:pPr>
            <a:r>
              <a:t/>
            </a:r>
            <a:endParaRPr b="1" i="0" sz="3500" u="none" cap="none" strike="noStrike">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ee643218fe_1_0"/>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None/>
            </a:pPr>
            <a:r>
              <a:rPr b="1" lang="en-GB" sz="2388">
                <a:solidFill>
                  <a:schemeClr val="dk2"/>
                </a:solidFill>
              </a:rPr>
              <a:t>ROM Advanced Options</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spcBef>
                <a:spcPts val="0"/>
              </a:spcBef>
              <a:spcAft>
                <a:spcPts val="0"/>
              </a:spcAft>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sp>
        <p:nvSpPr>
          <p:cNvPr id="138" name="Google Shape;138;g2ee643218fe_1_0"/>
          <p:cNvSpPr txBox="1"/>
          <p:nvPr/>
        </p:nvSpPr>
        <p:spPr>
          <a:xfrm>
            <a:off x="615075" y="1134450"/>
            <a:ext cx="8112000" cy="193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GB" sz="1900" u="none" cap="none" strike="noStrike">
                <a:solidFill>
                  <a:srgbClr val="000000"/>
                </a:solidFill>
                <a:latin typeface="Lato"/>
                <a:ea typeface="Lato"/>
                <a:cs typeface="Lato"/>
                <a:sym typeface="Lato"/>
              </a:rPr>
              <a:t>Requirements: </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GiD (</a:t>
            </a:r>
            <a:r>
              <a:rPr b="1" lang="en-GB" sz="1900">
                <a:latin typeface="Lato"/>
                <a:ea typeface="Lato"/>
                <a:cs typeface="Lato"/>
                <a:sym typeface="Lato"/>
              </a:rPr>
              <a:t>For postprocessing</a:t>
            </a:r>
            <a:r>
              <a:rPr b="1" i="0" lang="en-GB" sz="1900" u="none" cap="none" strike="noStrike">
                <a:solidFill>
                  <a:srgbClr val="000000"/>
                </a:solidFill>
                <a:latin typeface="Lato"/>
                <a:ea typeface="Lato"/>
                <a:cs typeface="Lato"/>
                <a:sym typeface="Lato"/>
              </a:rPr>
              <a:t>)</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Kratos:</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lang="en-GB" sz="1900">
                <a:latin typeface="Lato"/>
                <a:ea typeface="Lato"/>
                <a:cs typeface="Lato"/>
                <a:sym typeface="Lato"/>
              </a:rPr>
              <a:t>FluidDynamicsApplication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RomApplication</a:t>
            </a:r>
            <a:endParaRPr b="1" i="0" sz="1900" u="none" cap="none" strike="noStrike">
              <a:solidFill>
                <a:srgbClr val="000000"/>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2edeceed005_0_1"/>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ROM Advanced Options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45" name="Google Shape;145;g2edeceed005_0_1"/>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6" name="Google Shape;146;g2edeceed005_0_1"/>
          <p:cNvSpPr txBox="1"/>
          <p:nvPr/>
        </p:nvSpPr>
        <p:spPr>
          <a:xfrm>
            <a:off x="847425" y="1072950"/>
            <a:ext cx="7421700" cy="35301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Rom Database</a:t>
            </a:r>
            <a:endParaRPr b="1" i="0" sz="2000" u="none" cap="none" strike="noStrike">
              <a:solidFill>
                <a:srgbClr val="999999"/>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Analysis Stage (More specific customizations)</a:t>
            </a:r>
            <a:endParaRPr b="1" i="0" sz="2000" u="none" cap="none" strike="noStrike">
              <a:solidFill>
                <a:schemeClr val="dk2"/>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Using nonconverged solutions</a:t>
            </a:r>
            <a:endParaRPr b="1" i="0" sz="2000" u="none" cap="none" strike="noStrike">
              <a:solidFill>
                <a:srgbClr val="999999"/>
              </a:solidFill>
              <a:latin typeface="Calibri"/>
              <a:ea typeface="Calibri"/>
              <a:cs typeface="Calibri"/>
              <a:sym typeface="Calibri"/>
            </a:endParaRPr>
          </a:p>
          <a:p>
            <a:pPr indent="-355600" lvl="0" marL="457200" rtl="0" algn="l">
              <a:spcBef>
                <a:spcPts val="750"/>
              </a:spcBef>
              <a:spcAft>
                <a:spcPts val="0"/>
              </a:spcAft>
              <a:buClr>
                <a:srgbClr val="999999"/>
              </a:buClr>
              <a:buSzPts val="2000"/>
              <a:buFont typeface="Calibri"/>
              <a:buChar char="-"/>
            </a:pPr>
            <a:r>
              <a:rPr b="1" lang="en-GB" sz="2000">
                <a:solidFill>
                  <a:srgbClr val="999999"/>
                </a:solidFill>
                <a:latin typeface="Calibri"/>
                <a:ea typeface="Calibri"/>
                <a:cs typeface="Calibri"/>
                <a:sym typeface="Calibri"/>
              </a:rPr>
              <a:t>Linear or Nonlinear decoder</a:t>
            </a:r>
            <a:endParaRPr b="1" sz="2000">
              <a:solidFill>
                <a:srgbClr val="999999"/>
              </a:solidFill>
              <a:latin typeface="Calibri"/>
              <a:ea typeface="Calibri"/>
              <a:cs typeface="Calibri"/>
              <a:sym typeface="Calibri"/>
            </a:endParaRPr>
          </a:p>
          <a:p>
            <a:pPr indent="-355600" lvl="0" marL="457200" marR="0" rtl="0" algn="l">
              <a:lnSpc>
                <a:spcPct val="100000"/>
              </a:lnSpc>
              <a:spcBef>
                <a:spcPts val="750"/>
              </a:spcBef>
              <a:spcAft>
                <a:spcPts val="0"/>
              </a:spcAft>
              <a:buClr>
                <a:schemeClr val="dk2"/>
              </a:buClr>
              <a:buSzPts val="2000"/>
              <a:buFont typeface="Calibri"/>
              <a:buChar char="-"/>
            </a:pPr>
            <a:r>
              <a:rPr b="1" i="0" lang="en-GB" sz="2000" u="none" cap="none" strike="noStrike">
                <a:solidFill>
                  <a:schemeClr val="dk2"/>
                </a:solidFill>
                <a:latin typeface="Calibri"/>
                <a:ea typeface="Calibri"/>
                <a:cs typeface="Calibri"/>
                <a:sym typeface="Calibri"/>
              </a:rPr>
              <a:t>Different Projection strategies (Galerkin, LSPG, PG)</a:t>
            </a:r>
            <a:endParaRPr b="1" i="0" sz="2000" u="none" cap="none" strike="noStrike">
              <a:solidFill>
                <a:srgbClr val="999999"/>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HROM</a:t>
            </a:r>
            <a:endParaRPr b="1" i="0" sz="2000" u="none" cap="none" strike="noStrike">
              <a:solidFill>
                <a:srgbClr val="999999"/>
              </a:solidFill>
              <a:latin typeface="Calibri"/>
              <a:ea typeface="Calibri"/>
              <a:cs typeface="Calibri"/>
              <a:sym typeface="Calibri"/>
            </a:endParaRPr>
          </a:p>
          <a:p>
            <a:pPr indent="0" lvl="0" marL="457200" marR="0" rtl="0" algn="l">
              <a:lnSpc>
                <a:spcPct val="90000"/>
              </a:lnSpc>
              <a:spcBef>
                <a:spcPts val="750"/>
              </a:spcBef>
              <a:spcAft>
                <a:spcPts val="0"/>
              </a:spcAft>
              <a:buClr>
                <a:srgbClr val="000000"/>
              </a:buClr>
              <a:buSzPts val="2000"/>
              <a:buFont typeface="Arial"/>
              <a:buNone/>
            </a:pPr>
            <a:r>
              <a:t/>
            </a:r>
            <a:endParaRPr b="1" i="0" sz="2000" u="none" cap="none" strike="noStrike">
              <a:solidFill>
                <a:srgbClr val="999999"/>
              </a:solidFill>
              <a:latin typeface="Calibri"/>
              <a:ea typeface="Calibri"/>
              <a:cs typeface="Calibri"/>
              <a:sym typeface="Calibri"/>
            </a:endParaRPr>
          </a:p>
          <a:p>
            <a:pPr indent="0" lvl="0" marL="0" marR="0" rtl="0" algn="l">
              <a:lnSpc>
                <a:spcPct val="90000"/>
              </a:lnSpc>
              <a:spcBef>
                <a:spcPts val="75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ee643218fe_0_0"/>
          <p:cNvSpPr txBox="1"/>
          <p:nvPr>
            <p:ph type="title"/>
          </p:nvPr>
        </p:nvSpPr>
        <p:spPr>
          <a:xfrm>
            <a:off x="449574" y="224700"/>
            <a:ext cx="81951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Different Projection strategies (Galerkin, LSPG, PG)</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53" name="Google Shape;153;g2ee643218fe_0_0"/>
          <p:cNvSpPr/>
          <p:nvPr/>
        </p:nvSpPr>
        <p:spPr>
          <a:xfrm>
            <a:off x="1175495" y="1904013"/>
            <a:ext cx="73500" cy="19020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54" name="Google Shape;154;g2ee643218fe_0_0"/>
          <p:cNvSpPr/>
          <p:nvPr/>
        </p:nvSpPr>
        <p:spPr>
          <a:xfrm>
            <a:off x="3127875" y="1888675"/>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55" name="Google Shape;155;g2ee643218fe_0_0"/>
          <p:cNvSpPr txBox="1"/>
          <p:nvPr/>
        </p:nvSpPr>
        <p:spPr>
          <a:xfrm>
            <a:off x="565326" y="2695200"/>
            <a:ext cx="7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Ndofs</a:t>
            </a:r>
            <a:endParaRPr/>
          </a:p>
        </p:txBody>
      </p:sp>
      <p:sp>
        <p:nvSpPr>
          <p:cNvPr id="156" name="Google Shape;156;g2ee643218fe_0_0"/>
          <p:cNvSpPr txBox="1"/>
          <p:nvPr/>
        </p:nvSpPr>
        <p:spPr>
          <a:xfrm>
            <a:off x="3276300" y="1965625"/>
            <a:ext cx="3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a:t>
            </a:r>
            <a:endParaRPr/>
          </a:p>
        </p:txBody>
      </p:sp>
      <p:sp>
        <p:nvSpPr>
          <p:cNvPr id="157" name="Google Shape;157;g2ee643218fe_0_0"/>
          <p:cNvSpPr/>
          <p:nvPr/>
        </p:nvSpPr>
        <p:spPr>
          <a:xfrm>
            <a:off x="2551925" y="1863525"/>
            <a:ext cx="537300" cy="19413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158" name="Google Shape;158;g2ee643218fe_0_0"/>
          <p:cNvSpPr txBox="1"/>
          <p:nvPr/>
        </p:nvSpPr>
        <p:spPr>
          <a:xfrm>
            <a:off x="2645050" y="1377975"/>
            <a:ext cx="3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a:t>
            </a:r>
            <a:endParaRPr/>
          </a:p>
        </p:txBody>
      </p:sp>
      <p:sp>
        <p:nvSpPr>
          <p:cNvPr id="159" name="Google Shape;159;g2ee643218fe_0_0"/>
          <p:cNvSpPr txBox="1"/>
          <p:nvPr/>
        </p:nvSpPr>
        <p:spPr>
          <a:xfrm>
            <a:off x="1479756" y="2578000"/>
            <a:ext cx="1917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202124"/>
                </a:solidFill>
                <a:highlight>
                  <a:srgbClr val="FFFFFF"/>
                </a:highlight>
              </a:rPr>
              <a:t> ≈     = </a:t>
            </a:r>
            <a:endParaRPr/>
          </a:p>
        </p:txBody>
      </p:sp>
      <p:sp>
        <p:nvSpPr>
          <p:cNvPr id="160" name="Google Shape;160;g2ee643218fe_0_0"/>
          <p:cNvSpPr/>
          <p:nvPr/>
        </p:nvSpPr>
        <p:spPr>
          <a:xfrm>
            <a:off x="2087200" y="1863525"/>
            <a:ext cx="73500" cy="19413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61" name="Google Shape;161;g2ee643218fe_0_0"/>
          <p:cNvSpPr txBox="1"/>
          <p:nvPr/>
        </p:nvSpPr>
        <p:spPr>
          <a:xfrm>
            <a:off x="2605750" y="2537850"/>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
        <p:nvSpPr>
          <p:cNvPr id="162" name="Google Shape;162;g2ee643218fe_0_0"/>
          <p:cNvSpPr/>
          <p:nvPr/>
        </p:nvSpPr>
        <p:spPr>
          <a:xfrm>
            <a:off x="5756024" y="1940025"/>
            <a:ext cx="537300" cy="19020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163" name="Google Shape;163;g2ee643218fe_0_0"/>
          <p:cNvSpPr txBox="1"/>
          <p:nvPr/>
        </p:nvSpPr>
        <p:spPr>
          <a:xfrm>
            <a:off x="5809850" y="2614350"/>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
        <p:nvSpPr>
          <p:cNvPr id="164" name="Google Shape;164;g2ee643218fe_0_0"/>
          <p:cNvSpPr txBox="1"/>
          <p:nvPr/>
        </p:nvSpPr>
        <p:spPr>
          <a:xfrm>
            <a:off x="5715000" y="1539825"/>
            <a:ext cx="57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Ninf</a:t>
            </a:r>
            <a:endParaRPr/>
          </a:p>
          <a:p>
            <a:pPr indent="0" lvl="0" marL="0" rtl="0" algn="l">
              <a:spcBef>
                <a:spcPts val="0"/>
              </a:spcBef>
              <a:spcAft>
                <a:spcPts val="0"/>
              </a:spcAft>
              <a:buNone/>
            </a:pPr>
            <a:r>
              <a:t/>
            </a:r>
            <a:endParaRPr/>
          </a:p>
        </p:txBody>
      </p:sp>
      <p:sp>
        <p:nvSpPr>
          <p:cNvPr id="165" name="Google Shape;165;g2ee643218fe_0_0"/>
          <p:cNvSpPr txBox="1"/>
          <p:nvPr/>
        </p:nvSpPr>
        <p:spPr>
          <a:xfrm>
            <a:off x="6456998" y="2384225"/>
            <a:ext cx="462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t>+</a:t>
            </a:r>
            <a:endParaRPr sz="2000"/>
          </a:p>
        </p:txBody>
      </p:sp>
      <p:sp>
        <p:nvSpPr>
          <p:cNvPr id="166" name="Google Shape;166;g2ee643218fe_0_0"/>
          <p:cNvSpPr/>
          <p:nvPr/>
        </p:nvSpPr>
        <p:spPr>
          <a:xfrm>
            <a:off x="7018074" y="1940025"/>
            <a:ext cx="841500" cy="1902000"/>
          </a:xfrm>
          <a:prstGeom prst="rect">
            <a:avLst/>
          </a:prstGeom>
          <a:solidFill>
            <a:srgbClr val="0000FF"/>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167" name="Google Shape;167;g2ee643218fe_0_0"/>
          <p:cNvSpPr txBox="1"/>
          <p:nvPr/>
        </p:nvSpPr>
        <p:spPr>
          <a:xfrm>
            <a:off x="7093225" y="1639250"/>
            <a:ext cx="69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Nsup</a:t>
            </a:r>
            <a:endParaRPr/>
          </a:p>
        </p:txBody>
      </p:sp>
      <p:sp>
        <p:nvSpPr>
          <p:cNvPr id="168" name="Google Shape;168;g2ee643218fe_0_0"/>
          <p:cNvSpPr/>
          <p:nvPr/>
        </p:nvSpPr>
        <p:spPr>
          <a:xfrm>
            <a:off x="6383500" y="1948200"/>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69" name="Google Shape;169;g2ee643218fe_0_0"/>
          <p:cNvSpPr/>
          <p:nvPr/>
        </p:nvSpPr>
        <p:spPr>
          <a:xfrm>
            <a:off x="4755695" y="1867788"/>
            <a:ext cx="73500" cy="19020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70" name="Google Shape;170;g2ee643218fe_0_0"/>
          <p:cNvSpPr txBox="1"/>
          <p:nvPr/>
        </p:nvSpPr>
        <p:spPr>
          <a:xfrm>
            <a:off x="4829206" y="2557125"/>
            <a:ext cx="1917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202124"/>
                </a:solidFill>
                <a:highlight>
                  <a:srgbClr val="FFFFFF"/>
                </a:highlight>
              </a:rPr>
              <a:t>≈     = </a:t>
            </a:r>
            <a:endParaRPr/>
          </a:p>
        </p:txBody>
      </p:sp>
      <p:sp>
        <p:nvSpPr>
          <p:cNvPr id="171" name="Google Shape;171;g2ee643218fe_0_0"/>
          <p:cNvSpPr/>
          <p:nvPr/>
        </p:nvSpPr>
        <p:spPr>
          <a:xfrm>
            <a:off x="5255863" y="1863525"/>
            <a:ext cx="73500" cy="19413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72" name="Google Shape;172;g2ee643218fe_0_0"/>
          <p:cNvSpPr txBox="1"/>
          <p:nvPr/>
        </p:nvSpPr>
        <p:spPr>
          <a:xfrm>
            <a:off x="6404112" y="1917450"/>
            <a:ext cx="57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Ninf</a:t>
            </a:r>
            <a:endParaRPr/>
          </a:p>
          <a:p>
            <a:pPr indent="0" lvl="0" marL="0" rtl="0" algn="l">
              <a:spcBef>
                <a:spcPts val="0"/>
              </a:spcBef>
              <a:spcAft>
                <a:spcPts val="0"/>
              </a:spcAft>
              <a:buNone/>
            </a:pPr>
            <a:r>
              <a:t/>
            </a:r>
            <a:endParaRPr/>
          </a:p>
        </p:txBody>
      </p:sp>
      <p:sp>
        <p:nvSpPr>
          <p:cNvPr id="173" name="Google Shape;173;g2ee643218fe_0_0"/>
          <p:cNvSpPr txBox="1"/>
          <p:nvPr/>
        </p:nvSpPr>
        <p:spPr>
          <a:xfrm>
            <a:off x="7958043" y="1965625"/>
            <a:ext cx="8415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t>NN(  )</a:t>
            </a:r>
            <a:endParaRPr sz="1500"/>
          </a:p>
          <a:p>
            <a:pPr indent="0" lvl="0" marL="0" rtl="0" algn="l">
              <a:spcBef>
                <a:spcPts val="0"/>
              </a:spcBef>
              <a:spcAft>
                <a:spcPts val="0"/>
              </a:spcAft>
              <a:buNone/>
            </a:pPr>
            <a:r>
              <a:t/>
            </a:r>
            <a:endParaRPr/>
          </a:p>
        </p:txBody>
      </p:sp>
      <p:sp>
        <p:nvSpPr>
          <p:cNvPr id="174" name="Google Shape;174;g2ee643218fe_0_0"/>
          <p:cNvSpPr/>
          <p:nvPr/>
        </p:nvSpPr>
        <p:spPr>
          <a:xfrm>
            <a:off x="8402100" y="1917450"/>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id="175" name="Google Shape;175;g2ee643218fe_0_0"/>
          <p:cNvPicPr preferRelativeResize="0"/>
          <p:nvPr/>
        </p:nvPicPr>
        <p:blipFill>
          <a:blip r:embed="rId3">
            <a:alphaModFix/>
          </a:blip>
          <a:stretch>
            <a:fillRect/>
          </a:stretch>
        </p:blipFill>
        <p:spPr>
          <a:xfrm>
            <a:off x="3865175" y="930225"/>
            <a:ext cx="1290450" cy="666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2ee643218fe_0_32"/>
          <p:cNvSpPr txBox="1"/>
          <p:nvPr>
            <p:ph type="title"/>
          </p:nvPr>
        </p:nvSpPr>
        <p:spPr>
          <a:xfrm>
            <a:off x="449574" y="224700"/>
            <a:ext cx="81951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Different Projection strategies (Galerkin, LSPG, PG)</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82" name="Google Shape;182;g2ee643218fe_0_32"/>
          <p:cNvSpPr/>
          <p:nvPr/>
        </p:nvSpPr>
        <p:spPr>
          <a:xfrm>
            <a:off x="1175495" y="1904013"/>
            <a:ext cx="73500" cy="19020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83" name="Google Shape;183;g2ee643218fe_0_32"/>
          <p:cNvSpPr/>
          <p:nvPr/>
        </p:nvSpPr>
        <p:spPr>
          <a:xfrm>
            <a:off x="3127875" y="1888675"/>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84" name="Google Shape;184;g2ee643218fe_0_32"/>
          <p:cNvSpPr txBox="1"/>
          <p:nvPr/>
        </p:nvSpPr>
        <p:spPr>
          <a:xfrm>
            <a:off x="565326" y="2695200"/>
            <a:ext cx="7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Ndofs</a:t>
            </a:r>
            <a:endParaRPr/>
          </a:p>
        </p:txBody>
      </p:sp>
      <p:sp>
        <p:nvSpPr>
          <p:cNvPr id="185" name="Google Shape;185;g2ee643218fe_0_32"/>
          <p:cNvSpPr txBox="1"/>
          <p:nvPr/>
        </p:nvSpPr>
        <p:spPr>
          <a:xfrm>
            <a:off x="3276300" y="1965625"/>
            <a:ext cx="3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a:t>
            </a:r>
            <a:endParaRPr/>
          </a:p>
        </p:txBody>
      </p:sp>
      <p:sp>
        <p:nvSpPr>
          <p:cNvPr id="186" name="Google Shape;186;g2ee643218fe_0_32"/>
          <p:cNvSpPr/>
          <p:nvPr/>
        </p:nvSpPr>
        <p:spPr>
          <a:xfrm>
            <a:off x="2551925" y="1863525"/>
            <a:ext cx="537300" cy="19413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187" name="Google Shape;187;g2ee643218fe_0_32"/>
          <p:cNvSpPr txBox="1"/>
          <p:nvPr/>
        </p:nvSpPr>
        <p:spPr>
          <a:xfrm>
            <a:off x="2645050" y="1377975"/>
            <a:ext cx="3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a:t>
            </a:r>
            <a:endParaRPr/>
          </a:p>
        </p:txBody>
      </p:sp>
      <p:sp>
        <p:nvSpPr>
          <p:cNvPr id="188" name="Google Shape;188;g2ee643218fe_0_32"/>
          <p:cNvSpPr txBox="1"/>
          <p:nvPr/>
        </p:nvSpPr>
        <p:spPr>
          <a:xfrm>
            <a:off x="1479756" y="2578000"/>
            <a:ext cx="1917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202124"/>
                </a:solidFill>
                <a:highlight>
                  <a:srgbClr val="FFFFFF"/>
                </a:highlight>
              </a:rPr>
              <a:t> ≈     = </a:t>
            </a:r>
            <a:endParaRPr/>
          </a:p>
        </p:txBody>
      </p:sp>
      <p:sp>
        <p:nvSpPr>
          <p:cNvPr id="189" name="Google Shape;189;g2ee643218fe_0_32"/>
          <p:cNvSpPr/>
          <p:nvPr/>
        </p:nvSpPr>
        <p:spPr>
          <a:xfrm>
            <a:off x="2087200" y="1863525"/>
            <a:ext cx="73500" cy="19413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90" name="Google Shape;190;g2ee643218fe_0_32"/>
          <p:cNvSpPr txBox="1"/>
          <p:nvPr/>
        </p:nvSpPr>
        <p:spPr>
          <a:xfrm>
            <a:off x="2605750" y="2537850"/>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
        <p:nvSpPr>
          <p:cNvPr id="191" name="Google Shape;191;g2ee643218fe_0_32"/>
          <p:cNvSpPr/>
          <p:nvPr/>
        </p:nvSpPr>
        <p:spPr>
          <a:xfrm>
            <a:off x="5756024" y="1940025"/>
            <a:ext cx="537300" cy="19020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192" name="Google Shape;192;g2ee643218fe_0_32"/>
          <p:cNvSpPr txBox="1"/>
          <p:nvPr/>
        </p:nvSpPr>
        <p:spPr>
          <a:xfrm>
            <a:off x="5809850" y="2614350"/>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
        <p:nvSpPr>
          <p:cNvPr id="193" name="Google Shape;193;g2ee643218fe_0_32"/>
          <p:cNvSpPr txBox="1"/>
          <p:nvPr/>
        </p:nvSpPr>
        <p:spPr>
          <a:xfrm>
            <a:off x="5715000" y="1539825"/>
            <a:ext cx="57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Ninf</a:t>
            </a:r>
            <a:endParaRPr/>
          </a:p>
          <a:p>
            <a:pPr indent="0" lvl="0" marL="0" rtl="0" algn="l">
              <a:spcBef>
                <a:spcPts val="0"/>
              </a:spcBef>
              <a:spcAft>
                <a:spcPts val="0"/>
              </a:spcAft>
              <a:buNone/>
            </a:pPr>
            <a:r>
              <a:t/>
            </a:r>
            <a:endParaRPr/>
          </a:p>
        </p:txBody>
      </p:sp>
      <p:sp>
        <p:nvSpPr>
          <p:cNvPr id="194" name="Google Shape;194;g2ee643218fe_0_32"/>
          <p:cNvSpPr txBox="1"/>
          <p:nvPr/>
        </p:nvSpPr>
        <p:spPr>
          <a:xfrm>
            <a:off x="6456998" y="2384225"/>
            <a:ext cx="462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t>+</a:t>
            </a:r>
            <a:endParaRPr sz="2000"/>
          </a:p>
        </p:txBody>
      </p:sp>
      <p:sp>
        <p:nvSpPr>
          <p:cNvPr id="195" name="Google Shape;195;g2ee643218fe_0_32"/>
          <p:cNvSpPr/>
          <p:nvPr/>
        </p:nvSpPr>
        <p:spPr>
          <a:xfrm>
            <a:off x="7018074" y="1940025"/>
            <a:ext cx="841500" cy="1902000"/>
          </a:xfrm>
          <a:prstGeom prst="rect">
            <a:avLst/>
          </a:prstGeom>
          <a:solidFill>
            <a:srgbClr val="0000FF"/>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196" name="Google Shape;196;g2ee643218fe_0_32"/>
          <p:cNvSpPr txBox="1"/>
          <p:nvPr/>
        </p:nvSpPr>
        <p:spPr>
          <a:xfrm>
            <a:off x="7093225" y="1639250"/>
            <a:ext cx="69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Nsup</a:t>
            </a:r>
            <a:endParaRPr/>
          </a:p>
        </p:txBody>
      </p:sp>
      <p:sp>
        <p:nvSpPr>
          <p:cNvPr id="197" name="Google Shape;197;g2ee643218fe_0_32"/>
          <p:cNvSpPr/>
          <p:nvPr/>
        </p:nvSpPr>
        <p:spPr>
          <a:xfrm>
            <a:off x="6383500" y="1948200"/>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98" name="Google Shape;198;g2ee643218fe_0_32"/>
          <p:cNvSpPr/>
          <p:nvPr/>
        </p:nvSpPr>
        <p:spPr>
          <a:xfrm>
            <a:off x="4755695" y="1867788"/>
            <a:ext cx="73500" cy="19020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199" name="Google Shape;199;g2ee643218fe_0_32"/>
          <p:cNvSpPr txBox="1"/>
          <p:nvPr/>
        </p:nvSpPr>
        <p:spPr>
          <a:xfrm>
            <a:off x="4829206" y="2557125"/>
            <a:ext cx="1917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202124"/>
                </a:solidFill>
                <a:highlight>
                  <a:srgbClr val="FFFFFF"/>
                </a:highlight>
              </a:rPr>
              <a:t>≈     = </a:t>
            </a:r>
            <a:endParaRPr/>
          </a:p>
        </p:txBody>
      </p:sp>
      <p:sp>
        <p:nvSpPr>
          <p:cNvPr id="200" name="Google Shape;200;g2ee643218fe_0_32"/>
          <p:cNvSpPr/>
          <p:nvPr/>
        </p:nvSpPr>
        <p:spPr>
          <a:xfrm>
            <a:off x="5255863" y="1863525"/>
            <a:ext cx="73500" cy="19413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01" name="Google Shape;201;g2ee643218fe_0_32"/>
          <p:cNvSpPr txBox="1"/>
          <p:nvPr/>
        </p:nvSpPr>
        <p:spPr>
          <a:xfrm>
            <a:off x="6404112" y="1917450"/>
            <a:ext cx="57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Ninf</a:t>
            </a:r>
            <a:endParaRPr/>
          </a:p>
          <a:p>
            <a:pPr indent="0" lvl="0" marL="0" rtl="0" algn="l">
              <a:spcBef>
                <a:spcPts val="0"/>
              </a:spcBef>
              <a:spcAft>
                <a:spcPts val="0"/>
              </a:spcAft>
              <a:buNone/>
            </a:pPr>
            <a:r>
              <a:t/>
            </a:r>
            <a:endParaRPr/>
          </a:p>
        </p:txBody>
      </p:sp>
      <p:sp>
        <p:nvSpPr>
          <p:cNvPr id="202" name="Google Shape;202;g2ee643218fe_0_32"/>
          <p:cNvSpPr txBox="1"/>
          <p:nvPr/>
        </p:nvSpPr>
        <p:spPr>
          <a:xfrm>
            <a:off x="7958043" y="1965625"/>
            <a:ext cx="8415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t>NN(  )</a:t>
            </a:r>
            <a:endParaRPr sz="1500"/>
          </a:p>
          <a:p>
            <a:pPr indent="0" lvl="0" marL="0" rtl="0" algn="l">
              <a:spcBef>
                <a:spcPts val="0"/>
              </a:spcBef>
              <a:spcAft>
                <a:spcPts val="0"/>
              </a:spcAft>
              <a:buNone/>
            </a:pPr>
            <a:r>
              <a:t/>
            </a:r>
            <a:endParaRPr/>
          </a:p>
        </p:txBody>
      </p:sp>
      <p:sp>
        <p:nvSpPr>
          <p:cNvPr id="203" name="Google Shape;203;g2ee643218fe_0_32"/>
          <p:cNvSpPr/>
          <p:nvPr/>
        </p:nvSpPr>
        <p:spPr>
          <a:xfrm>
            <a:off x="8402100" y="1917450"/>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id="204" name="Google Shape;204;g2ee643218fe_0_32"/>
          <p:cNvPicPr preferRelativeResize="0"/>
          <p:nvPr/>
        </p:nvPicPr>
        <p:blipFill>
          <a:blip r:embed="rId3">
            <a:alphaModFix/>
          </a:blip>
          <a:stretch>
            <a:fillRect/>
          </a:stretch>
        </p:blipFill>
        <p:spPr>
          <a:xfrm>
            <a:off x="3865175" y="930225"/>
            <a:ext cx="1290450" cy="666150"/>
          </a:xfrm>
          <a:prstGeom prst="rect">
            <a:avLst/>
          </a:prstGeom>
          <a:noFill/>
          <a:ln>
            <a:noFill/>
          </a:ln>
        </p:spPr>
      </p:pic>
      <p:pic>
        <p:nvPicPr>
          <p:cNvPr id="205" name="Google Shape;205;g2ee643218fe_0_32"/>
          <p:cNvPicPr preferRelativeResize="0"/>
          <p:nvPr/>
        </p:nvPicPr>
        <p:blipFill>
          <a:blip r:embed="rId4">
            <a:alphaModFix/>
          </a:blip>
          <a:stretch>
            <a:fillRect/>
          </a:stretch>
        </p:blipFill>
        <p:spPr>
          <a:xfrm>
            <a:off x="1376375" y="4095450"/>
            <a:ext cx="2124061" cy="615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2ee643218fe_0_91"/>
          <p:cNvSpPr txBox="1"/>
          <p:nvPr>
            <p:ph type="title"/>
          </p:nvPr>
        </p:nvSpPr>
        <p:spPr>
          <a:xfrm>
            <a:off x="449574" y="224700"/>
            <a:ext cx="81951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Different Projection strategies (Galerkin, LSPG, PG)</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212" name="Google Shape;212;g2ee643218fe_0_91"/>
          <p:cNvSpPr/>
          <p:nvPr/>
        </p:nvSpPr>
        <p:spPr>
          <a:xfrm>
            <a:off x="1175495" y="1904013"/>
            <a:ext cx="73500" cy="19020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13" name="Google Shape;213;g2ee643218fe_0_91"/>
          <p:cNvSpPr/>
          <p:nvPr/>
        </p:nvSpPr>
        <p:spPr>
          <a:xfrm>
            <a:off x="3127875" y="1888675"/>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14" name="Google Shape;214;g2ee643218fe_0_91"/>
          <p:cNvSpPr txBox="1"/>
          <p:nvPr/>
        </p:nvSpPr>
        <p:spPr>
          <a:xfrm>
            <a:off x="565326" y="2695200"/>
            <a:ext cx="7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Ndofs</a:t>
            </a:r>
            <a:endParaRPr/>
          </a:p>
        </p:txBody>
      </p:sp>
      <p:sp>
        <p:nvSpPr>
          <p:cNvPr id="215" name="Google Shape;215;g2ee643218fe_0_91"/>
          <p:cNvSpPr txBox="1"/>
          <p:nvPr/>
        </p:nvSpPr>
        <p:spPr>
          <a:xfrm>
            <a:off x="3276300" y="1965625"/>
            <a:ext cx="3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a:t>
            </a:r>
            <a:endParaRPr/>
          </a:p>
        </p:txBody>
      </p:sp>
      <p:sp>
        <p:nvSpPr>
          <p:cNvPr id="216" name="Google Shape;216;g2ee643218fe_0_91"/>
          <p:cNvSpPr/>
          <p:nvPr/>
        </p:nvSpPr>
        <p:spPr>
          <a:xfrm>
            <a:off x="2551925" y="1863525"/>
            <a:ext cx="537300" cy="19413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17" name="Google Shape;217;g2ee643218fe_0_91"/>
          <p:cNvSpPr txBox="1"/>
          <p:nvPr/>
        </p:nvSpPr>
        <p:spPr>
          <a:xfrm>
            <a:off x="2645050" y="1377975"/>
            <a:ext cx="33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a:t>
            </a:r>
            <a:endParaRPr/>
          </a:p>
        </p:txBody>
      </p:sp>
      <p:sp>
        <p:nvSpPr>
          <p:cNvPr id="218" name="Google Shape;218;g2ee643218fe_0_91"/>
          <p:cNvSpPr txBox="1"/>
          <p:nvPr/>
        </p:nvSpPr>
        <p:spPr>
          <a:xfrm>
            <a:off x="1479756" y="2578000"/>
            <a:ext cx="1917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202124"/>
                </a:solidFill>
                <a:highlight>
                  <a:srgbClr val="FFFFFF"/>
                </a:highlight>
              </a:rPr>
              <a:t> ≈     = </a:t>
            </a:r>
            <a:endParaRPr/>
          </a:p>
        </p:txBody>
      </p:sp>
      <p:sp>
        <p:nvSpPr>
          <p:cNvPr id="219" name="Google Shape;219;g2ee643218fe_0_91"/>
          <p:cNvSpPr/>
          <p:nvPr/>
        </p:nvSpPr>
        <p:spPr>
          <a:xfrm>
            <a:off x="2087200" y="1863525"/>
            <a:ext cx="73500" cy="19413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20" name="Google Shape;220;g2ee643218fe_0_91"/>
          <p:cNvSpPr txBox="1"/>
          <p:nvPr/>
        </p:nvSpPr>
        <p:spPr>
          <a:xfrm>
            <a:off x="2605750" y="2537850"/>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
        <p:nvSpPr>
          <p:cNvPr id="221" name="Google Shape;221;g2ee643218fe_0_91"/>
          <p:cNvSpPr/>
          <p:nvPr/>
        </p:nvSpPr>
        <p:spPr>
          <a:xfrm>
            <a:off x="5756024" y="1940025"/>
            <a:ext cx="537300" cy="1902000"/>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22" name="Google Shape;222;g2ee643218fe_0_91"/>
          <p:cNvSpPr txBox="1"/>
          <p:nvPr/>
        </p:nvSpPr>
        <p:spPr>
          <a:xfrm>
            <a:off x="5809850" y="2614350"/>
            <a:ext cx="791400" cy="5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50">
                <a:solidFill>
                  <a:srgbClr val="202122"/>
                </a:solidFill>
                <a:highlight>
                  <a:srgbClr val="FFFFFF"/>
                </a:highlight>
              </a:rPr>
              <a:t>Φ</a:t>
            </a:r>
            <a:endParaRPr sz="5200"/>
          </a:p>
        </p:txBody>
      </p:sp>
      <p:sp>
        <p:nvSpPr>
          <p:cNvPr id="223" name="Google Shape;223;g2ee643218fe_0_91"/>
          <p:cNvSpPr txBox="1"/>
          <p:nvPr/>
        </p:nvSpPr>
        <p:spPr>
          <a:xfrm>
            <a:off x="5715000" y="1539825"/>
            <a:ext cx="57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Ninf</a:t>
            </a:r>
            <a:endParaRPr/>
          </a:p>
          <a:p>
            <a:pPr indent="0" lvl="0" marL="0" rtl="0" algn="l">
              <a:spcBef>
                <a:spcPts val="0"/>
              </a:spcBef>
              <a:spcAft>
                <a:spcPts val="0"/>
              </a:spcAft>
              <a:buNone/>
            </a:pPr>
            <a:r>
              <a:t/>
            </a:r>
            <a:endParaRPr/>
          </a:p>
        </p:txBody>
      </p:sp>
      <p:sp>
        <p:nvSpPr>
          <p:cNvPr id="224" name="Google Shape;224;g2ee643218fe_0_91"/>
          <p:cNvSpPr txBox="1"/>
          <p:nvPr/>
        </p:nvSpPr>
        <p:spPr>
          <a:xfrm>
            <a:off x="6456998" y="2384225"/>
            <a:ext cx="462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t>+</a:t>
            </a:r>
            <a:endParaRPr sz="2000"/>
          </a:p>
        </p:txBody>
      </p:sp>
      <p:sp>
        <p:nvSpPr>
          <p:cNvPr id="225" name="Google Shape;225;g2ee643218fe_0_91"/>
          <p:cNvSpPr/>
          <p:nvPr/>
        </p:nvSpPr>
        <p:spPr>
          <a:xfrm>
            <a:off x="7018074" y="1940025"/>
            <a:ext cx="841500" cy="1902000"/>
          </a:xfrm>
          <a:prstGeom prst="rect">
            <a:avLst/>
          </a:prstGeom>
          <a:solidFill>
            <a:srgbClr val="0000FF"/>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000000"/>
              </a:solidFill>
              <a:latin typeface="Calibri"/>
              <a:ea typeface="Calibri"/>
              <a:cs typeface="Calibri"/>
              <a:sym typeface="Calibri"/>
            </a:endParaRPr>
          </a:p>
        </p:txBody>
      </p:sp>
      <p:sp>
        <p:nvSpPr>
          <p:cNvPr id="226" name="Google Shape;226;g2ee643218fe_0_91"/>
          <p:cNvSpPr txBox="1"/>
          <p:nvPr/>
        </p:nvSpPr>
        <p:spPr>
          <a:xfrm>
            <a:off x="7093225" y="1639250"/>
            <a:ext cx="69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Nsup</a:t>
            </a:r>
            <a:endParaRPr/>
          </a:p>
        </p:txBody>
      </p:sp>
      <p:sp>
        <p:nvSpPr>
          <p:cNvPr id="227" name="Google Shape;227;g2ee643218fe_0_91"/>
          <p:cNvSpPr/>
          <p:nvPr/>
        </p:nvSpPr>
        <p:spPr>
          <a:xfrm>
            <a:off x="6383500" y="1948200"/>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28" name="Google Shape;228;g2ee643218fe_0_91"/>
          <p:cNvSpPr/>
          <p:nvPr/>
        </p:nvSpPr>
        <p:spPr>
          <a:xfrm>
            <a:off x="4755695" y="1867788"/>
            <a:ext cx="73500" cy="19020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29" name="Google Shape;229;g2ee643218fe_0_91"/>
          <p:cNvSpPr txBox="1"/>
          <p:nvPr/>
        </p:nvSpPr>
        <p:spPr>
          <a:xfrm>
            <a:off x="4829206" y="2557125"/>
            <a:ext cx="1917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202124"/>
                </a:solidFill>
                <a:highlight>
                  <a:srgbClr val="FFFFFF"/>
                </a:highlight>
              </a:rPr>
              <a:t>≈     = </a:t>
            </a:r>
            <a:endParaRPr/>
          </a:p>
        </p:txBody>
      </p:sp>
      <p:sp>
        <p:nvSpPr>
          <p:cNvPr id="230" name="Google Shape;230;g2ee643218fe_0_91"/>
          <p:cNvSpPr/>
          <p:nvPr/>
        </p:nvSpPr>
        <p:spPr>
          <a:xfrm>
            <a:off x="5255863" y="1863525"/>
            <a:ext cx="73500" cy="19413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231" name="Google Shape;231;g2ee643218fe_0_91"/>
          <p:cNvSpPr txBox="1"/>
          <p:nvPr/>
        </p:nvSpPr>
        <p:spPr>
          <a:xfrm>
            <a:off x="6404112" y="1917450"/>
            <a:ext cx="578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Ninf</a:t>
            </a:r>
            <a:endParaRPr/>
          </a:p>
          <a:p>
            <a:pPr indent="0" lvl="0" marL="0" rtl="0" algn="l">
              <a:spcBef>
                <a:spcPts val="0"/>
              </a:spcBef>
              <a:spcAft>
                <a:spcPts val="0"/>
              </a:spcAft>
              <a:buNone/>
            </a:pPr>
            <a:r>
              <a:t/>
            </a:r>
            <a:endParaRPr/>
          </a:p>
        </p:txBody>
      </p:sp>
      <p:sp>
        <p:nvSpPr>
          <p:cNvPr id="232" name="Google Shape;232;g2ee643218fe_0_91"/>
          <p:cNvSpPr txBox="1"/>
          <p:nvPr/>
        </p:nvSpPr>
        <p:spPr>
          <a:xfrm>
            <a:off x="7958043" y="1965625"/>
            <a:ext cx="8415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t>NN(  )</a:t>
            </a:r>
            <a:endParaRPr sz="1500"/>
          </a:p>
          <a:p>
            <a:pPr indent="0" lvl="0" marL="0" rtl="0" algn="l">
              <a:spcBef>
                <a:spcPts val="0"/>
              </a:spcBef>
              <a:spcAft>
                <a:spcPts val="0"/>
              </a:spcAft>
              <a:buNone/>
            </a:pPr>
            <a:r>
              <a:t/>
            </a:r>
            <a:endParaRPr/>
          </a:p>
        </p:txBody>
      </p:sp>
      <p:sp>
        <p:nvSpPr>
          <p:cNvPr id="233" name="Google Shape;233;g2ee643218fe_0_91"/>
          <p:cNvSpPr/>
          <p:nvPr/>
        </p:nvSpPr>
        <p:spPr>
          <a:xfrm>
            <a:off x="8402100" y="1917450"/>
            <a:ext cx="73500" cy="5541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pic>
        <p:nvPicPr>
          <p:cNvPr id="234" name="Google Shape;234;g2ee643218fe_0_91"/>
          <p:cNvPicPr preferRelativeResize="0"/>
          <p:nvPr/>
        </p:nvPicPr>
        <p:blipFill>
          <a:blip r:embed="rId3">
            <a:alphaModFix/>
          </a:blip>
          <a:stretch>
            <a:fillRect/>
          </a:stretch>
        </p:blipFill>
        <p:spPr>
          <a:xfrm>
            <a:off x="3865175" y="930225"/>
            <a:ext cx="1290450" cy="666150"/>
          </a:xfrm>
          <a:prstGeom prst="rect">
            <a:avLst/>
          </a:prstGeom>
          <a:noFill/>
          <a:ln>
            <a:noFill/>
          </a:ln>
        </p:spPr>
      </p:pic>
      <p:pic>
        <p:nvPicPr>
          <p:cNvPr id="235" name="Google Shape;235;g2ee643218fe_0_91"/>
          <p:cNvPicPr preferRelativeResize="0"/>
          <p:nvPr/>
        </p:nvPicPr>
        <p:blipFill>
          <a:blip r:embed="rId4">
            <a:alphaModFix/>
          </a:blip>
          <a:stretch>
            <a:fillRect/>
          </a:stretch>
        </p:blipFill>
        <p:spPr>
          <a:xfrm>
            <a:off x="4964025" y="4101999"/>
            <a:ext cx="3913478" cy="561900"/>
          </a:xfrm>
          <a:prstGeom prst="rect">
            <a:avLst/>
          </a:prstGeom>
          <a:noFill/>
          <a:ln>
            <a:noFill/>
          </a:ln>
        </p:spPr>
      </p:pic>
      <p:pic>
        <p:nvPicPr>
          <p:cNvPr id="236" name="Google Shape;236;g2ee643218fe_0_91"/>
          <p:cNvPicPr preferRelativeResize="0"/>
          <p:nvPr/>
        </p:nvPicPr>
        <p:blipFill>
          <a:blip r:embed="rId5">
            <a:alphaModFix/>
          </a:blip>
          <a:stretch>
            <a:fillRect/>
          </a:stretch>
        </p:blipFill>
        <p:spPr>
          <a:xfrm>
            <a:off x="1376375" y="4095450"/>
            <a:ext cx="2124061" cy="615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edf492c43b_0_115"/>
          <p:cNvSpPr txBox="1"/>
          <p:nvPr>
            <p:ph type="title"/>
          </p:nvPr>
        </p:nvSpPr>
        <p:spPr>
          <a:xfrm>
            <a:off x="449574" y="224700"/>
            <a:ext cx="81951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Different Projection strategies (Galerkin, LSPG, PG)</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pic>
        <p:nvPicPr>
          <p:cNvPr descr="A green square with black text&#10;&#10;Description automatically generated" id="243" name="Google Shape;243;g2edf492c43b_0_115"/>
          <p:cNvPicPr preferRelativeResize="0"/>
          <p:nvPr/>
        </p:nvPicPr>
        <p:blipFill rotWithShape="1">
          <a:blip r:embed="rId3">
            <a:alphaModFix/>
          </a:blip>
          <a:srcRect b="0" l="0" r="0" t="0"/>
          <a:stretch/>
        </p:blipFill>
        <p:spPr>
          <a:xfrm>
            <a:off x="2098575" y="1554234"/>
            <a:ext cx="2800350" cy="2476500"/>
          </a:xfrm>
          <a:prstGeom prst="rect">
            <a:avLst/>
          </a:prstGeom>
          <a:noFill/>
          <a:ln>
            <a:noFill/>
          </a:ln>
        </p:spPr>
      </p:pic>
      <p:pic>
        <p:nvPicPr>
          <p:cNvPr descr="A picture containing calendar&#10;&#10;Description automatically generated" id="244" name="Google Shape;244;g2edf492c43b_0_115"/>
          <p:cNvPicPr preferRelativeResize="0"/>
          <p:nvPr/>
        </p:nvPicPr>
        <p:blipFill rotWithShape="1">
          <a:blip r:embed="rId4">
            <a:alphaModFix/>
          </a:blip>
          <a:srcRect b="0" l="0" r="0" t="0"/>
          <a:stretch/>
        </p:blipFill>
        <p:spPr>
          <a:xfrm>
            <a:off x="5001126" y="1552947"/>
            <a:ext cx="485775" cy="2505075"/>
          </a:xfrm>
          <a:prstGeom prst="rect">
            <a:avLst/>
          </a:prstGeom>
          <a:noFill/>
          <a:ln>
            <a:noFill/>
          </a:ln>
        </p:spPr>
      </p:pic>
      <p:pic>
        <p:nvPicPr>
          <p:cNvPr descr="A picture containing text&#10;&#10;Description automatically generated" id="245" name="Google Shape;245;g2edf492c43b_0_115"/>
          <p:cNvPicPr preferRelativeResize="0"/>
          <p:nvPr/>
        </p:nvPicPr>
        <p:blipFill rotWithShape="1">
          <a:blip r:embed="rId5">
            <a:alphaModFix/>
          </a:blip>
          <a:srcRect b="0" l="0" r="0" t="0"/>
          <a:stretch/>
        </p:blipFill>
        <p:spPr>
          <a:xfrm>
            <a:off x="5978081" y="1531065"/>
            <a:ext cx="485775" cy="2505075"/>
          </a:xfrm>
          <a:prstGeom prst="rect">
            <a:avLst/>
          </a:prstGeom>
          <a:noFill/>
          <a:ln>
            <a:noFill/>
          </a:ln>
        </p:spPr>
      </p:pic>
      <p:pic>
        <p:nvPicPr>
          <p:cNvPr id="246" name="Google Shape;246;g2edf492c43b_0_115"/>
          <p:cNvPicPr preferRelativeResize="0"/>
          <p:nvPr/>
        </p:nvPicPr>
        <p:blipFill rotWithShape="1">
          <a:blip r:embed="rId6">
            <a:alphaModFix/>
          </a:blip>
          <a:srcRect b="0" l="0" r="0" t="0"/>
          <a:stretch/>
        </p:blipFill>
        <p:spPr>
          <a:xfrm>
            <a:off x="5554605" y="2765454"/>
            <a:ext cx="228600" cy="28575"/>
          </a:xfrm>
          <a:prstGeom prst="rect">
            <a:avLst/>
          </a:prstGeom>
          <a:noFill/>
          <a:ln>
            <a:noFill/>
          </a:ln>
        </p:spPr>
      </p:pic>
      <p:pic>
        <p:nvPicPr>
          <p:cNvPr id="247" name="Google Shape;247;g2edf492c43b_0_115"/>
          <p:cNvPicPr preferRelativeResize="0"/>
          <p:nvPr/>
        </p:nvPicPr>
        <p:blipFill>
          <a:blip r:embed="rId7">
            <a:alphaModFix/>
          </a:blip>
          <a:stretch>
            <a:fillRect/>
          </a:stretch>
        </p:blipFill>
        <p:spPr>
          <a:xfrm>
            <a:off x="4140050" y="3928000"/>
            <a:ext cx="863900" cy="208450"/>
          </a:xfrm>
          <a:prstGeom prst="rect">
            <a:avLst/>
          </a:prstGeom>
          <a:noFill/>
          <a:ln>
            <a:noFill/>
          </a:ln>
        </p:spPr>
      </p:pic>
      <p:pic>
        <p:nvPicPr>
          <p:cNvPr id="248" name="Google Shape;248;g2edf492c43b_0_115"/>
          <p:cNvPicPr preferRelativeResize="0"/>
          <p:nvPr/>
        </p:nvPicPr>
        <p:blipFill rotWithShape="1">
          <a:blip r:embed="rId7">
            <a:alphaModFix/>
          </a:blip>
          <a:srcRect b="0" l="0" r="56480" t="0"/>
          <a:stretch/>
        </p:blipFill>
        <p:spPr>
          <a:xfrm>
            <a:off x="5250525" y="3928000"/>
            <a:ext cx="375957" cy="208450"/>
          </a:xfrm>
          <a:prstGeom prst="rect">
            <a:avLst/>
          </a:prstGeom>
          <a:noFill/>
          <a:ln>
            <a:noFill/>
          </a:ln>
        </p:spPr>
      </p:pic>
      <p:pic>
        <p:nvPicPr>
          <p:cNvPr id="249" name="Google Shape;249;g2edf492c43b_0_115"/>
          <p:cNvPicPr preferRelativeResize="0"/>
          <p:nvPr/>
        </p:nvPicPr>
        <p:blipFill rotWithShape="1">
          <a:blip r:embed="rId7">
            <a:alphaModFix/>
          </a:blip>
          <a:srcRect b="0" l="0" r="56480" t="0"/>
          <a:stretch/>
        </p:blipFill>
        <p:spPr>
          <a:xfrm>
            <a:off x="6241875" y="3928000"/>
            <a:ext cx="375957" cy="208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edf492c43b_0_11"/>
          <p:cNvSpPr txBox="1"/>
          <p:nvPr>
            <p:ph type="title"/>
          </p:nvPr>
        </p:nvSpPr>
        <p:spPr>
          <a:xfrm>
            <a:off x="449574" y="224700"/>
            <a:ext cx="81951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Different Projection strategies (</a:t>
            </a:r>
            <a:r>
              <a:rPr b="1" lang="en-GB" sz="3000">
                <a:solidFill>
                  <a:srgbClr val="FF0000"/>
                </a:solidFill>
              </a:rPr>
              <a:t>Galerkin</a:t>
            </a:r>
            <a:r>
              <a:rPr b="1" lang="en-GB" sz="3000">
                <a:solidFill>
                  <a:schemeClr val="dk2"/>
                </a:solidFill>
              </a:rPr>
              <a:t>, LSPG, PG)</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pic>
        <p:nvPicPr>
          <p:cNvPr descr="A green square with black text&#10;&#10;Description automatically generated" id="256" name="Google Shape;256;g2edf492c43b_0_11"/>
          <p:cNvPicPr preferRelativeResize="0"/>
          <p:nvPr/>
        </p:nvPicPr>
        <p:blipFill rotWithShape="1">
          <a:blip r:embed="rId3">
            <a:alphaModFix/>
          </a:blip>
          <a:srcRect b="0" l="0" r="0" t="0"/>
          <a:stretch/>
        </p:blipFill>
        <p:spPr>
          <a:xfrm>
            <a:off x="2836277" y="1316490"/>
            <a:ext cx="1938087" cy="1624575"/>
          </a:xfrm>
          <a:prstGeom prst="rect">
            <a:avLst/>
          </a:prstGeom>
          <a:noFill/>
          <a:ln>
            <a:noFill/>
          </a:ln>
        </p:spPr>
      </p:pic>
      <p:pic>
        <p:nvPicPr>
          <p:cNvPr descr="A picture containing text&#10;&#10;Description automatically generated" id="257" name="Google Shape;257;g2edf492c43b_0_11"/>
          <p:cNvPicPr preferRelativeResize="0"/>
          <p:nvPr/>
        </p:nvPicPr>
        <p:blipFill rotWithShape="1">
          <a:blip r:embed="rId4">
            <a:alphaModFix/>
          </a:blip>
          <a:srcRect b="0" l="0" r="0" t="0"/>
          <a:stretch/>
        </p:blipFill>
        <p:spPr>
          <a:xfrm>
            <a:off x="7922910" y="1301292"/>
            <a:ext cx="336199" cy="1643321"/>
          </a:xfrm>
          <a:prstGeom prst="rect">
            <a:avLst/>
          </a:prstGeom>
          <a:noFill/>
          <a:ln>
            <a:noFill/>
          </a:ln>
        </p:spPr>
      </p:pic>
      <p:pic>
        <p:nvPicPr>
          <p:cNvPr id="258" name="Google Shape;258;g2edf492c43b_0_11"/>
          <p:cNvPicPr preferRelativeResize="0"/>
          <p:nvPr/>
        </p:nvPicPr>
        <p:blipFill rotWithShape="1">
          <a:blip r:embed="rId5">
            <a:alphaModFix/>
          </a:blip>
          <a:srcRect b="0" l="0" r="0" t="0"/>
          <a:stretch/>
        </p:blipFill>
        <p:spPr>
          <a:xfrm>
            <a:off x="5833916" y="2111046"/>
            <a:ext cx="158211" cy="18745"/>
          </a:xfrm>
          <a:prstGeom prst="rect">
            <a:avLst/>
          </a:prstGeom>
          <a:noFill/>
          <a:ln>
            <a:noFill/>
          </a:ln>
        </p:spPr>
      </p:pic>
      <p:pic>
        <p:nvPicPr>
          <p:cNvPr descr="A picture containing chart&#10;&#10;Description automatically generated" id="259" name="Google Shape;259;g2edf492c43b_0_11"/>
          <p:cNvPicPr preferRelativeResize="0"/>
          <p:nvPr/>
        </p:nvPicPr>
        <p:blipFill rotWithShape="1">
          <a:blip r:embed="rId6">
            <a:alphaModFix/>
          </a:blip>
          <a:srcRect b="0" l="0" r="0" t="0"/>
          <a:stretch/>
        </p:blipFill>
        <p:spPr>
          <a:xfrm>
            <a:off x="4802335" y="1315646"/>
            <a:ext cx="626253" cy="1599582"/>
          </a:xfrm>
          <a:prstGeom prst="rect">
            <a:avLst/>
          </a:prstGeom>
          <a:noFill/>
          <a:ln>
            <a:noFill/>
          </a:ln>
        </p:spPr>
      </p:pic>
      <p:pic>
        <p:nvPicPr>
          <p:cNvPr descr="A picture containing text&#10;&#10;Description automatically generated" id="260" name="Google Shape;260;g2edf492c43b_0_11"/>
          <p:cNvPicPr preferRelativeResize="0"/>
          <p:nvPr/>
        </p:nvPicPr>
        <p:blipFill rotWithShape="1">
          <a:blip r:embed="rId7">
            <a:alphaModFix/>
          </a:blip>
          <a:srcRect b="0" l="0" r="0" t="0"/>
          <a:stretch/>
        </p:blipFill>
        <p:spPr>
          <a:xfrm>
            <a:off x="840285" y="1317419"/>
            <a:ext cx="1898535" cy="418640"/>
          </a:xfrm>
          <a:prstGeom prst="rect">
            <a:avLst/>
          </a:prstGeom>
          <a:noFill/>
          <a:ln>
            <a:noFill/>
          </a:ln>
        </p:spPr>
      </p:pic>
      <p:pic>
        <p:nvPicPr>
          <p:cNvPr descr="A picture containing text&#10;&#10;Description automatically generated" id="261" name="Google Shape;261;g2edf492c43b_0_11"/>
          <p:cNvPicPr preferRelativeResize="0"/>
          <p:nvPr/>
        </p:nvPicPr>
        <p:blipFill rotWithShape="1">
          <a:blip r:embed="rId7">
            <a:alphaModFix/>
          </a:blip>
          <a:srcRect b="0" l="0" r="0" t="0"/>
          <a:stretch/>
        </p:blipFill>
        <p:spPr>
          <a:xfrm>
            <a:off x="5992840" y="1303909"/>
            <a:ext cx="1898535" cy="418640"/>
          </a:xfrm>
          <a:prstGeom prst="rect">
            <a:avLst/>
          </a:prstGeom>
          <a:noFill/>
          <a:ln>
            <a:noFill/>
          </a:ln>
        </p:spPr>
      </p:pic>
      <p:pic>
        <p:nvPicPr>
          <p:cNvPr id="262" name="Google Shape;262;g2edf492c43b_0_11"/>
          <p:cNvPicPr preferRelativeResize="0"/>
          <p:nvPr/>
        </p:nvPicPr>
        <p:blipFill rotWithShape="1">
          <a:blip r:embed="rId8">
            <a:alphaModFix/>
          </a:blip>
          <a:srcRect b="0" l="0" r="0" t="0"/>
          <a:stretch/>
        </p:blipFill>
        <p:spPr>
          <a:xfrm>
            <a:off x="5414514" y="1313789"/>
            <a:ext cx="290054" cy="412392"/>
          </a:xfrm>
          <a:prstGeom prst="rect">
            <a:avLst/>
          </a:prstGeom>
          <a:noFill/>
          <a:ln>
            <a:noFill/>
          </a:ln>
        </p:spPr>
      </p:pic>
      <p:pic>
        <p:nvPicPr>
          <p:cNvPr id="263" name="Google Shape;263;g2edf492c43b_0_11"/>
          <p:cNvPicPr preferRelativeResize="0"/>
          <p:nvPr/>
        </p:nvPicPr>
        <p:blipFill>
          <a:blip r:embed="rId9">
            <a:alphaModFix/>
          </a:blip>
          <a:stretch>
            <a:fillRect/>
          </a:stretch>
        </p:blipFill>
        <p:spPr>
          <a:xfrm>
            <a:off x="4067450" y="2876025"/>
            <a:ext cx="706931" cy="170575"/>
          </a:xfrm>
          <a:prstGeom prst="rect">
            <a:avLst/>
          </a:prstGeom>
          <a:noFill/>
          <a:ln>
            <a:noFill/>
          </a:ln>
        </p:spPr>
      </p:pic>
      <p:pic>
        <p:nvPicPr>
          <p:cNvPr id="264" name="Google Shape;264;g2edf492c43b_0_11"/>
          <p:cNvPicPr preferRelativeResize="0"/>
          <p:nvPr/>
        </p:nvPicPr>
        <p:blipFill rotWithShape="1">
          <a:blip r:embed="rId9">
            <a:alphaModFix/>
          </a:blip>
          <a:srcRect b="0" l="0" r="56480" t="0"/>
          <a:stretch/>
        </p:blipFill>
        <p:spPr>
          <a:xfrm>
            <a:off x="8131475" y="2857100"/>
            <a:ext cx="375957" cy="208450"/>
          </a:xfrm>
          <a:prstGeom prst="rect">
            <a:avLst/>
          </a:prstGeom>
          <a:noFill/>
          <a:ln>
            <a:noFill/>
          </a:ln>
        </p:spPr>
      </p:pic>
      <p:pic>
        <p:nvPicPr>
          <p:cNvPr id="265" name="Google Shape;265;g2edf492c43b_0_11"/>
          <p:cNvPicPr preferRelativeResize="0"/>
          <p:nvPr/>
        </p:nvPicPr>
        <p:blipFill>
          <a:blip r:embed="rId10">
            <a:alphaModFix/>
          </a:blip>
          <a:stretch>
            <a:fillRect/>
          </a:stretch>
        </p:blipFill>
        <p:spPr>
          <a:xfrm>
            <a:off x="5127575" y="2857088"/>
            <a:ext cx="863942" cy="208450"/>
          </a:xfrm>
          <a:prstGeom prst="rect">
            <a:avLst/>
          </a:prstGeom>
          <a:noFill/>
          <a:ln>
            <a:noFill/>
          </a:ln>
        </p:spPr>
      </p:pic>
      <p:pic>
        <p:nvPicPr>
          <p:cNvPr id="266" name="Google Shape;266;g2edf492c43b_0_11"/>
          <p:cNvPicPr preferRelativeResize="0"/>
          <p:nvPr/>
        </p:nvPicPr>
        <p:blipFill rotWithShape="1">
          <a:blip r:embed="rId10">
            <a:alphaModFix/>
          </a:blip>
          <a:srcRect b="0" l="68762" r="8604" t="0"/>
          <a:stretch/>
        </p:blipFill>
        <p:spPr>
          <a:xfrm>
            <a:off x="5612962" y="1653725"/>
            <a:ext cx="195527" cy="208450"/>
          </a:xfrm>
          <a:prstGeom prst="rect">
            <a:avLst/>
          </a:prstGeom>
          <a:noFill/>
          <a:ln>
            <a:noFill/>
          </a:ln>
        </p:spPr>
      </p:pic>
      <p:pic>
        <p:nvPicPr>
          <p:cNvPr id="267" name="Google Shape;267;g2edf492c43b_0_11"/>
          <p:cNvPicPr preferRelativeResize="0"/>
          <p:nvPr/>
        </p:nvPicPr>
        <p:blipFill>
          <a:blip r:embed="rId11">
            <a:alphaModFix/>
          </a:blip>
          <a:stretch>
            <a:fillRect/>
          </a:stretch>
        </p:blipFill>
        <p:spPr>
          <a:xfrm>
            <a:off x="2181725" y="1672663"/>
            <a:ext cx="654550" cy="170575"/>
          </a:xfrm>
          <a:prstGeom prst="rect">
            <a:avLst/>
          </a:prstGeom>
          <a:noFill/>
          <a:ln>
            <a:noFill/>
          </a:ln>
        </p:spPr>
      </p:pic>
      <p:pic>
        <p:nvPicPr>
          <p:cNvPr id="268" name="Google Shape;268;g2edf492c43b_0_11"/>
          <p:cNvPicPr preferRelativeResize="0"/>
          <p:nvPr/>
        </p:nvPicPr>
        <p:blipFill>
          <a:blip r:embed="rId11">
            <a:alphaModFix/>
          </a:blip>
          <a:stretch>
            <a:fillRect/>
          </a:stretch>
        </p:blipFill>
        <p:spPr>
          <a:xfrm>
            <a:off x="7268350" y="1653713"/>
            <a:ext cx="654550" cy="170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2edf492c43b_0_66"/>
          <p:cNvSpPr txBox="1"/>
          <p:nvPr>
            <p:ph type="title"/>
          </p:nvPr>
        </p:nvSpPr>
        <p:spPr>
          <a:xfrm>
            <a:off x="449574" y="224700"/>
            <a:ext cx="81951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Different Projection strategies (Galerkin, </a:t>
            </a:r>
            <a:r>
              <a:rPr b="1" lang="en-GB" sz="3000">
                <a:solidFill>
                  <a:srgbClr val="FF0000"/>
                </a:solidFill>
              </a:rPr>
              <a:t>LSPG</a:t>
            </a:r>
            <a:r>
              <a:rPr b="1" lang="en-GB" sz="3000">
                <a:solidFill>
                  <a:schemeClr val="dk2"/>
                </a:solidFill>
              </a:rPr>
              <a:t>, PG)</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pic>
        <p:nvPicPr>
          <p:cNvPr descr="A green square with black text&#10;&#10;Description automatically generated" id="275" name="Google Shape;275;g2edf492c43b_0_66"/>
          <p:cNvPicPr preferRelativeResize="0"/>
          <p:nvPr/>
        </p:nvPicPr>
        <p:blipFill rotWithShape="1">
          <a:blip r:embed="rId3">
            <a:alphaModFix/>
          </a:blip>
          <a:srcRect b="0" l="0" r="0" t="0"/>
          <a:stretch/>
        </p:blipFill>
        <p:spPr>
          <a:xfrm>
            <a:off x="3346704" y="1515010"/>
            <a:ext cx="1388638" cy="949686"/>
          </a:xfrm>
          <a:prstGeom prst="rect">
            <a:avLst/>
          </a:prstGeom>
          <a:noFill/>
          <a:ln>
            <a:noFill/>
          </a:ln>
        </p:spPr>
      </p:pic>
      <p:pic>
        <p:nvPicPr>
          <p:cNvPr descr="A picture containing text&#10;&#10;Description automatically generated" id="276" name="Google Shape;276;g2edf492c43b_0_66"/>
          <p:cNvPicPr preferRelativeResize="0"/>
          <p:nvPr/>
        </p:nvPicPr>
        <p:blipFill rotWithShape="1">
          <a:blip r:embed="rId4">
            <a:alphaModFix/>
          </a:blip>
          <a:srcRect b="0" l="0" r="0" t="0"/>
          <a:stretch/>
        </p:blipFill>
        <p:spPr>
          <a:xfrm>
            <a:off x="8487138" y="1502375"/>
            <a:ext cx="242487" cy="959653"/>
          </a:xfrm>
          <a:prstGeom prst="rect">
            <a:avLst/>
          </a:prstGeom>
          <a:noFill/>
          <a:ln>
            <a:noFill/>
          </a:ln>
        </p:spPr>
      </p:pic>
      <p:pic>
        <p:nvPicPr>
          <p:cNvPr descr="A picture containing chart&#10;&#10;Description automatically generated" id="277" name="Google Shape;277;g2edf492c43b_0_66"/>
          <p:cNvPicPr preferRelativeResize="0"/>
          <p:nvPr/>
        </p:nvPicPr>
        <p:blipFill rotWithShape="1">
          <a:blip r:embed="rId5">
            <a:alphaModFix/>
          </a:blip>
          <a:srcRect b="0" l="0" r="0" t="0"/>
          <a:stretch/>
        </p:blipFill>
        <p:spPr>
          <a:xfrm>
            <a:off x="4693267" y="1514308"/>
            <a:ext cx="452379" cy="934525"/>
          </a:xfrm>
          <a:prstGeom prst="rect">
            <a:avLst/>
          </a:prstGeom>
          <a:noFill/>
          <a:ln>
            <a:noFill/>
          </a:ln>
        </p:spPr>
      </p:pic>
      <p:pic>
        <p:nvPicPr>
          <p:cNvPr id="278" name="Google Shape;278;g2edf492c43b_0_66"/>
          <p:cNvPicPr preferRelativeResize="0"/>
          <p:nvPr/>
        </p:nvPicPr>
        <p:blipFill rotWithShape="1">
          <a:blip r:embed="rId6">
            <a:alphaModFix/>
          </a:blip>
          <a:srcRect b="0" l="0" r="0" t="0"/>
          <a:stretch/>
        </p:blipFill>
        <p:spPr>
          <a:xfrm>
            <a:off x="5151409" y="1512764"/>
            <a:ext cx="209893" cy="242616"/>
          </a:xfrm>
          <a:prstGeom prst="rect">
            <a:avLst/>
          </a:prstGeom>
          <a:noFill/>
          <a:ln>
            <a:noFill/>
          </a:ln>
        </p:spPr>
      </p:pic>
      <p:pic>
        <p:nvPicPr>
          <p:cNvPr descr="A green and red squares&#10;&#10;Description automatically generated" id="279" name="Google Shape;279;g2edf492c43b_0_66"/>
          <p:cNvPicPr preferRelativeResize="0"/>
          <p:nvPr/>
        </p:nvPicPr>
        <p:blipFill rotWithShape="1">
          <a:blip r:embed="rId7">
            <a:alphaModFix/>
          </a:blip>
          <a:srcRect b="0" l="0" r="0" t="0"/>
          <a:stretch/>
        </p:blipFill>
        <p:spPr>
          <a:xfrm>
            <a:off x="693775" y="1524299"/>
            <a:ext cx="2704484" cy="940133"/>
          </a:xfrm>
          <a:prstGeom prst="rect">
            <a:avLst/>
          </a:prstGeom>
          <a:noFill/>
          <a:ln>
            <a:noFill/>
          </a:ln>
        </p:spPr>
      </p:pic>
      <p:pic>
        <p:nvPicPr>
          <p:cNvPr descr="A green and red squares&#10;&#10;Description automatically generated" id="280" name="Google Shape;280;g2edf492c43b_0_66"/>
          <p:cNvPicPr preferRelativeResize="0"/>
          <p:nvPr/>
        </p:nvPicPr>
        <p:blipFill rotWithShape="1">
          <a:blip r:embed="rId7">
            <a:alphaModFix/>
          </a:blip>
          <a:srcRect b="0" l="0" r="0" t="0"/>
          <a:stretch/>
        </p:blipFill>
        <p:spPr>
          <a:xfrm>
            <a:off x="5653938" y="1513068"/>
            <a:ext cx="2704484" cy="940133"/>
          </a:xfrm>
          <a:prstGeom prst="rect">
            <a:avLst/>
          </a:prstGeom>
          <a:noFill/>
          <a:ln>
            <a:noFill/>
          </a:ln>
        </p:spPr>
      </p:pic>
      <p:pic>
        <p:nvPicPr>
          <p:cNvPr id="281" name="Google Shape;281;g2edf492c43b_0_66"/>
          <p:cNvPicPr preferRelativeResize="0"/>
          <p:nvPr/>
        </p:nvPicPr>
        <p:blipFill rotWithShape="1">
          <a:blip r:embed="rId8">
            <a:alphaModFix/>
          </a:blip>
          <a:srcRect b="0" l="0" r="0" t="0"/>
          <a:stretch/>
        </p:blipFill>
        <p:spPr>
          <a:xfrm>
            <a:off x="5428608" y="1911083"/>
            <a:ext cx="161697" cy="15583"/>
          </a:xfrm>
          <a:prstGeom prst="rect">
            <a:avLst/>
          </a:prstGeom>
          <a:noFill/>
          <a:ln>
            <a:noFill/>
          </a:ln>
        </p:spPr>
      </p:pic>
      <p:pic>
        <p:nvPicPr>
          <p:cNvPr id="282" name="Google Shape;282;g2edf492c43b_0_66"/>
          <p:cNvPicPr preferRelativeResize="0"/>
          <p:nvPr/>
        </p:nvPicPr>
        <p:blipFill>
          <a:blip r:embed="rId9">
            <a:alphaModFix/>
          </a:blip>
          <a:stretch>
            <a:fillRect/>
          </a:stretch>
        </p:blipFill>
        <p:spPr>
          <a:xfrm>
            <a:off x="4075300" y="2401175"/>
            <a:ext cx="706931" cy="170575"/>
          </a:xfrm>
          <a:prstGeom prst="rect">
            <a:avLst/>
          </a:prstGeom>
          <a:noFill/>
          <a:ln>
            <a:noFill/>
          </a:ln>
        </p:spPr>
      </p:pic>
      <p:pic>
        <p:nvPicPr>
          <p:cNvPr id="283" name="Google Shape;283;g2edf492c43b_0_66"/>
          <p:cNvPicPr preferRelativeResize="0"/>
          <p:nvPr/>
        </p:nvPicPr>
        <p:blipFill>
          <a:blip r:embed="rId9">
            <a:alphaModFix/>
          </a:blip>
          <a:stretch>
            <a:fillRect/>
          </a:stretch>
        </p:blipFill>
        <p:spPr>
          <a:xfrm>
            <a:off x="2753625" y="2401175"/>
            <a:ext cx="706931" cy="170575"/>
          </a:xfrm>
          <a:prstGeom prst="rect">
            <a:avLst/>
          </a:prstGeom>
          <a:noFill/>
          <a:ln>
            <a:noFill/>
          </a:ln>
        </p:spPr>
      </p:pic>
      <p:pic>
        <p:nvPicPr>
          <p:cNvPr id="284" name="Google Shape;284;g2edf492c43b_0_66"/>
          <p:cNvPicPr preferRelativeResize="0"/>
          <p:nvPr/>
        </p:nvPicPr>
        <p:blipFill>
          <a:blip r:embed="rId10">
            <a:alphaModFix/>
          </a:blip>
          <a:stretch>
            <a:fillRect/>
          </a:stretch>
        </p:blipFill>
        <p:spPr>
          <a:xfrm>
            <a:off x="1371000" y="1688338"/>
            <a:ext cx="654550" cy="170575"/>
          </a:xfrm>
          <a:prstGeom prst="rect">
            <a:avLst/>
          </a:prstGeom>
          <a:noFill/>
          <a:ln>
            <a:noFill/>
          </a:ln>
        </p:spPr>
      </p:pic>
      <p:pic>
        <p:nvPicPr>
          <p:cNvPr id="285" name="Google Shape;285;g2edf492c43b_0_66"/>
          <p:cNvPicPr preferRelativeResize="0"/>
          <p:nvPr/>
        </p:nvPicPr>
        <p:blipFill>
          <a:blip r:embed="rId10">
            <a:alphaModFix/>
          </a:blip>
          <a:stretch>
            <a:fillRect/>
          </a:stretch>
        </p:blipFill>
        <p:spPr>
          <a:xfrm>
            <a:off x="6356425" y="1688338"/>
            <a:ext cx="654550" cy="170575"/>
          </a:xfrm>
          <a:prstGeom prst="rect">
            <a:avLst/>
          </a:prstGeom>
          <a:noFill/>
          <a:ln>
            <a:noFill/>
          </a:ln>
        </p:spPr>
      </p:pic>
      <p:pic>
        <p:nvPicPr>
          <p:cNvPr id="286" name="Google Shape;286;g2edf492c43b_0_66"/>
          <p:cNvPicPr preferRelativeResize="0"/>
          <p:nvPr/>
        </p:nvPicPr>
        <p:blipFill>
          <a:blip r:embed="rId9">
            <a:alphaModFix/>
          </a:blip>
          <a:stretch>
            <a:fillRect/>
          </a:stretch>
        </p:blipFill>
        <p:spPr>
          <a:xfrm>
            <a:off x="7701150" y="2401175"/>
            <a:ext cx="706931" cy="170575"/>
          </a:xfrm>
          <a:prstGeom prst="rect">
            <a:avLst/>
          </a:prstGeom>
          <a:noFill/>
          <a:ln>
            <a:noFill/>
          </a:ln>
        </p:spPr>
      </p:pic>
      <p:pic>
        <p:nvPicPr>
          <p:cNvPr id="287" name="Google Shape;287;g2edf492c43b_0_66"/>
          <p:cNvPicPr preferRelativeResize="0"/>
          <p:nvPr/>
        </p:nvPicPr>
        <p:blipFill>
          <a:blip r:embed="rId11">
            <a:alphaModFix/>
          </a:blip>
          <a:stretch>
            <a:fillRect/>
          </a:stretch>
        </p:blipFill>
        <p:spPr>
          <a:xfrm>
            <a:off x="4908050" y="2382226"/>
            <a:ext cx="863942" cy="208450"/>
          </a:xfrm>
          <a:prstGeom prst="rect">
            <a:avLst/>
          </a:prstGeom>
          <a:noFill/>
          <a:ln>
            <a:noFill/>
          </a:ln>
        </p:spPr>
      </p:pic>
      <p:pic>
        <p:nvPicPr>
          <p:cNvPr id="288" name="Google Shape;288;g2edf492c43b_0_66"/>
          <p:cNvPicPr preferRelativeResize="0"/>
          <p:nvPr/>
        </p:nvPicPr>
        <p:blipFill rotWithShape="1">
          <a:blip r:embed="rId11">
            <a:alphaModFix/>
          </a:blip>
          <a:srcRect b="0" l="68762" r="8604" t="0"/>
          <a:stretch/>
        </p:blipFill>
        <p:spPr>
          <a:xfrm>
            <a:off x="5302037" y="1669400"/>
            <a:ext cx="195527" cy="208450"/>
          </a:xfrm>
          <a:prstGeom prst="rect">
            <a:avLst/>
          </a:prstGeom>
          <a:noFill/>
          <a:ln>
            <a:noFill/>
          </a:ln>
        </p:spPr>
      </p:pic>
      <p:pic>
        <p:nvPicPr>
          <p:cNvPr id="289" name="Google Shape;289;g2edf492c43b_0_66"/>
          <p:cNvPicPr preferRelativeResize="0"/>
          <p:nvPr/>
        </p:nvPicPr>
        <p:blipFill rotWithShape="1">
          <a:blip r:embed="rId9">
            <a:alphaModFix/>
          </a:blip>
          <a:srcRect b="0" l="0" r="56480" t="0"/>
          <a:stretch/>
        </p:blipFill>
        <p:spPr>
          <a:xfrm>
            <a:off x="8609750" y="2382237"/>
            <a:ext cx="375957" cy="208450"/>
          </a:xfrm>
          <a:prstGeom prst="rect">
            <a:avLst/>
          </a:prstGeom>
          <a:noFill/>
          <a:ln>
            <a:noFill/>
          </a:ln>
        </p:spPr>
      </p:pic>
      <p:pic>
        <p:nvPicPr>
          <p:cNvPr id="290" name="Google Shape;290;g2edf492c43b_0_66"/>
          <p:cNvPicPr preferRelativeResize="0"/>
          <p:nvPr/>
        </p:nvPicPr>
        <p:blipFill>
          <a:blip r:embed="rId12">
            <a:alphaModFix/>
          </a:blip>
          <a:stretch>
            <a:fillRect/>
          </a:stretch>
        </p:blipFill>
        <p:spPr>
          <a:xfrm>
            <a:off x="6707275" y="3430775"/>
            <a:ext cx="1355524" cy="13819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2ee643218fe_2_21"/>
          <p:cNvSpPr txBox="1"/>
          <p:nvPr>
            <p:ph type="title"/>
          </p:nvPr>
        </p:nvSpPr>
        <p:spPr>
          <a:xfrm>
            <a:off x="449574" y="224700"/>
            <a:ext cx="8195100" cy="43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GB" sz="3000">
                <a:solidFill>
                  <a:schemeClr val="dk2"/>
                </a:solidFill>
              </a:rPr>
              <a:t>Different Projection strategies (Galerkin, LSPG, </a:t>
            </a:r>
            <a:r>
              <a:rPr b="1" lang="en-GB" sz="3000">
                <a:solidFill>
                  <a:srgbClr val="FF0000"/>
                </a:solidFill>
              </a:rPr>
              <a:t>PG</a:t>
            </a:r>
            <a:r>
              <a:rPr b="1" lang="en-GB" sz="3000">
                <a:solidFill>
                  <a:schemeClr val="dk2"/>
                </a:solidFill>
              </a:rPr>
              <a:t>)</a:t>
            </a:r>
            <a:endParaRPr b="1" sz="3000">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pic>
        <p:nvPicPr>
          <p:cNvPr id="297" name="Google Shape;297;g2ee643218fe_2_21"/>
          <p:cNvPicPr preferRelativeResize="0"/>
          <p:nvPr/>
        </p:nvPicPr>
        <p:blipFill rotWithShape="1">
          <a:blip r:embed="rId3">
            <a:alphaModFix/>
          </a:blip>
          <a:srcRect b="0" l="0" r="0" t="0"/>
          <a:stretch/>
        </p:blipFill>
        <p:spPr>
          <a:xfrm>
            <a:off x="5549530" y="1916191"/>
            <a:ext cx="296737" cy="444905"/>
          </a:xfrm>
          <a:prstGeom prst="rect">
            <a:avLst/>
          </a:prstGeom>
          <a:noFill/>
          <a:ln>
            <a:noFill/>
          </a:ln>
        </p:spPr>
      </p:pic>
      <p:pic>
        <p:nvPicPr>
          <p:cNvPr descr="A blue and black rectangle with black text&#10;&#10;Description automatically generated" id="298" name="Google Shape;298;g2ee643218fe_2_21"/>
          <p:cNvPicPr preferRelativeResize="0"/>
          <p:nvPr/>
        </p:nvPicPr>
        <p:blipFill rotWithShape="1">
          <a:blip r:embed="rId4">
            <a:alphaModFix/>
          </a:blip>
          <a:srcRect b="0" l="0" r="0" t="0"/>
          <a:stretch/>
        </p:blipFill>
        <p:spPr>
          <a:xfrm>
            <a:off x="5845283" y="1913825"/>
            <a:ext cx="2743200" cy="1915329"/>
          </a:xfrm>
          <a:prstGeom prst="rect">
            <a:avLst/>
          </a:prstGeom>
          <a:noFill/>
          <a:ln>
            <a:noFill/>
          </a:ln>
        </p:spPr>
      </p:pic>
      <p:pic>
        <p:nvPicPr>
          <p:cNvPr descr="A green and blue squares&#10;&#10;Description automatically generated" id="299" name="Google Shape;299;g2ee643218fe_2_21"/>
          <p:cNvPicPr preferRelativeResize="0"/>
          <p:nvPr/>
        </p:nvPicPr>
        <p:blipFill rotWithShape="1">
          <a:blip r:embed="rId5">
            <a:alphaModFix/>
          </a:blip>
          <a:srcRect b="0" l="0" r="0" t="0"/>
          <a:stretch/>
        </p:blipFill>
        <p:spPr>
          <a:xfrm>
            <a:off x="784495" y="1919890"/>
            <a:ext cx="4860966" cy="1919780"/>
          </a:xfrm>
          <a:prstGeom prst="rect">
            <a:avLst/>
          </a:prstGeom>
          <a:noFill/>
          <a:ln>
            <a:noFill/>
          </a:ln>
        </p:spPr>
      </p:pic>
      <p:pic>
        <p:nvPicPr>
          <p:cNvPr id="300" name="Google Shape;300;g2ee643218fe_2_21"/>
          <p:cNvPicPr preferRelativeResize="0"/>
          <p:nvPr/>
        </p:nvPicPr>
        <p:blipFill rotWithShape="1">
          <a:blip r:embed="rId6">
            <a:alphaModFix/>
          </a:blip>
          <a:srcRect b="0" l="68762" r="8604" t="0"/>
          <a:stretch/>
        </p:blipFill>
        <p:spPr>
          <a:xfrm>
            <a:off x="5725437" y="2296650"/>
            <a:ext cx="195527" cy="208450"/>
          </a:xfrm>
          <a:prstGeom prst="rect">
            <a:avLst/>
          </a:prstGeom>
          <a:noFill/>
          <a:ln>
            <a:noFill/>
          </a:ln>
        </p:spPr>
      </p:pic>
      <p:pic>
        <p:nvPicPr>
          <p:cNvPr id="301" name="Google Shape;301;g2ee643218fe_2_21"/>
          <p:cNvPicPr preferRelativeResize="0"/>
          <p:nvPr/>
        </p:nvPicPr>
        <p:blipFill>
          <a:blip r:embed="rId6">
            <a:alphaModFix/>
          </a:blip>
          <a:stretch>
            <a:fillRect/>
          </a:stretch>
        </p:blipFill>
        <p:spPr>
          <a:xfrm>
            <a:off x="5265925" y="3738663"/>
            <a:ext cx="863942" cy="208450"/>
          </a:xfrm>
          <a:prstGeom prst="rect">
            <a:avLst/>
          </a:prstGeom>
          <a:noFill/>
          <a:ln>
            <a:noFill/>
          </a:ln>
        </p:spPr>
      </p:pic>
      <p:pic>
        <p:nvPicPr>
          <p:cNvPr id="302" name="Google Shape;302;g2ee643218fe_2_21"/>
          <p:cNvPicPr preferRelativeResize="0"/>
          <p:nvPr/>
        </p:nvPicPr>
        <p:blipFill>
          <a:blip r:embed="rId7">
            <a:alphaModFix/>
          </a:blip>
          <a:stretch>
            <a:fillRect/>
          </a:stretch>
        </p:blipFill>
        <p:spPr>
          <a:xfrm>
            <a:off x="4392375" y="3757600"/>
            <a:ext cx="706931" cy="170575"/>
          </a:xfrm>
          <a:prstGeom prst="rect">
            <a:avLst/>
          </a:prstGeom>
          <a:noFill/>
          <a:ln>
            <a:noFill/>
          </a:ln>
        </p:spPr>
      </p:pic>
      <p:pic>
        <p:nvPicPr>
          <p:cNvPr id="303" name="Google Shape;303;g2ee643218fe_2_21"/>
          <p:cNvPicPr preferRelativeResize="0"/>
          <p:nvPr/>
        </p:nvPicPr>
        <p:blipFill>
          <a:blip r:embed="rId8">
            <a:alphaModFix/>
          </a:blip>
          <a:stretch>
            <a:fillRect/>
          </a:stretch>
        </p:blipFill>
        <p:spPr>
          <a:xfrm>
            <a:off x="2151775" y="2571750"/>
            <a:ext cx="799870" cy="208450"/>
          </a:xfrm>
          <a:prstGeom prst="rect">
            <a:avLst/>
          </a:prstGeom>
          <a:noFill/>
          <a:ln>
            <a:noFill/>
          </a:ln>
        </p:spPr>
      </p:pic>
      <p:pic>
        <p:nvPicPr>
          <p:cNvPr id="304" name="Google Shape;304;g2ee643218fe_2_21"/>
          <p:cNvPicPr preferRelativeResize="0"/>
          <p:nvPr/>
        </p:nvPicPr>
        <p:blipFill>
          <a:blip r:embed="rId8">
            <a:alphaModFix/>
          </a:blip>
          <a:stretch>
            <a:fillRect/>
          </a:stretch>
        </p:blipFill>
        <p:spPr>
          <a:xfrm>
            <a:off x="7436400" y="2571755"/>
            <a:ext cx="799875" cy="208444"/>
          </a:xfrm>
          <a:prstGeom prst="rect">
            <a:avLst/>
          </a:prstGeom>
          <a:noFill/>
          <a:ln>
            <a:noFill/>
          </a:ln>
        </p:spPr>
      </p:pic>
      <p:pic>
        <p:nvPicPr>
          <p:cNvPr id="305" name="Google Shape;305;g2ee643218fe_2_21"/>
          <p:cNvPicPr preferRelativeResize="0"/>
          <p:nvPr/>
        </p:nvPicPr>
        <p:blipFill rotWithShape="1">
          <a:blip r:embed="rId7">
            <a:alphaModFix/>
          </a:blip>
          <a:srcRect b="0" l="0" r="56480" t="0"/>
          <a:stretch/>
        </p:blipFill>
        <p:spPr>
          <a:xfrm>
            <a:off x="8476450" y="3738675"/>
            <a:ext cx="375957" cy="208450"/>
          </a:xfrm>
          <a:prstGeom prst="rect">
            <a:avLst/>
          </a:prstGeom>
          <a:noFill/>
          <a:ln>
            <a:noFill/>
          </a:ln>
        </p:spPr>
      </p:pic>
      <p:pic>
        <p:nvPicPr>
          <p:cNvPr id="306" name="Google Shape;306;g2ee643218fe_2_21"/>
          <p:cNvPicPr preferRelativeResize="0"/>
          <p:nvPr/>
        </p:nvPicPr>
        <p:blipFill>
          <a:blip r:embed="rId9">
            <a:alphaModFix/>
          </a:blip>
          <a:stretch>
            <a:fillRect/>
          </a:stretch>
        </p:blipFill>
        <p:spPr>
          <a:xfrm>
            <a:off x="673575" y="3738675"/>
            <a:ext cx="1204000" cy="120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