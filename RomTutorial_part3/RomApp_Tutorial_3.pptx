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4" roundtripDataSignature="AMtx7mi6amLerz7Hn4sCIqGk9/M/iFv8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d1619b06e_1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d1619b06e_1_5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d1619b06e_1_5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1619b06e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1619b06e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1619b06e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d1619b06e_1_6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2ed1619b06e_1_6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ed1619b06e_1_6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d48e17426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d48e17426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2ed48e17426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d8295bb96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d8295bb96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2ed8295bb96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d4f072cc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2ed4f072cc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2ed4f072cc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d4f072cc1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ed4f072cc1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2ed4f072cc1_0_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ed8295bb9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ed8295bb96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2ed8295bb96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ed4f072cc1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2ed4f072cc1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2ed4f072cc1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ed4f072cc1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2ed4f072cc1_0_1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2ed4f072cc1_0_1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ed4f072cc1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2ed4f072cc1_0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2ed4f072cc1_0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ed4f072cc1_0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2ed4f072cc1_0_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2ed4f072cc1_0_3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ed1619b06e_1_4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2ed1619b06e_1_4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2ed1619b06e_1_4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jpg"/><Relationship Id="rId4" Type="http://schemas.openxmlformats.org/officeDocument/2006/relationships/image" Target="../media/image14.jpg"/><Relationship Id="rId11" Type="http://schemas.openxmlformats.org/officeDocument/2006/relationships/hyperlink" Target="about:blank" TargetMode="External"/><Relationship Id="rId10" Type="http://schemas.openxmlformats.org/officeDocument/2006/relationships/image" Target="../media/image17.png"/><Relationship Id="rId9" Type="http://schemas.openxmlformats.org/officeDocument/2006/relationships/hyperlink" Target="http://www.linkedin.com/company/eflows4hpc" TargetMode="External"/><Relationship Id="rId5" Type="http://schemas.openxmlformats.org/officeDocument/2006/relationships/image" Target="../media/image9.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2"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SzPts val="2400"/>
              <a:buFont typeface="Calibri"/>
              <a:buChar char="-"/>
            </a:pPr>
            <a:r>
              <a:rPr b="1" i="0" lang="en-GB" sz="2400" u="none" cap="none" strike="noStrike">
                <a:latin typeface="Calibri"/>
                <a:ea typeface="Calibri"/>
                <a:cs typeface="Calibri"/>
                <a:sym typeface="Calibri"/>
              </a:rPr>
              <a:t>Setup a ROM (StructuralMechanics)</a:t>
            </a:r>
            <a:endParaRPr b="1" i="0" sz="2400" u="none" cap="none" strike="noStrike">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Advanced Options </a:t>
            </a:r>
            <a:endParaRPr b="1" i="0" sz="2400" u="none" cap="none" strike="noStrike">
              <a:solidFill>
                <a:srgbClr val="99999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639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GB" sz="3500">
                <a:solidFill>
                  <a:schemeClr val="dk2"/>
                </a:solidFill>
                <a:latin typeface="Calibri"/>
                <a:ea typeface="Calibri"/>
                <a:cs typeface="Calibri"/>
                <a:sym typeface="Calibri"/>
              </a:rPr>
              <a:t>Setup a ROM (StructuralMechanics)</a:t>
            </a:r>
            <a:endParaRPr b="1" sz="3500">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sz="35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d1619b06e_1_597"/>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Setup a ROM (StructuralMechanics)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d1619b06e_1_597"/>
          <p:cNvSpPr txBox="1"/>
          <p:nvPr/>
        </p:nvSpPr>
        <p:spPr>
          <a:xfrm>
            <a:off x="615075" y="1134450"/>
            <a:ext cx="81120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a:t>
            </a:r>
            <a:r>
              <a:rPr b="1" lang="en-GB" sz="1900">
                <a:latin typeface="Lato"/>
                <a:ea typeface="Lato"/>
                <a:cs typeface="Lato"/>
                <a:sym typeface="Lato"/>
              </a:rPr>
              <a:t>or Paraview (For </a:t>
            </a:r>
            <a:r>
              <a:rPr b="1" lang="en-GB" sz="1900">
                <a:latin typeface="Lato"/>
                <a:ea typeface="Lato"/>
                <a:cs typeface="Lato"/>
                <a:sym typeface="Lato"/>
              </a:rPr>
              <a:t>post processing</a:t>
            </a:r>
            <a:r>
              <a:rPr b="1" lang="en-GB" sz="1900">
                <a:latin typeface="Lato"/>
                <a:ea typeface="Lato"/>
                <a:cs typeface="Lato"/>
                <a:sym typeface="Lato"/>
              </a:rPr>
              <a:t>)</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r>
              <a:rPr b="1" lang="en-GB" sz="1900">
                <a:latin typeface="Lato"/>
                <a:ea typeface="Lato"/>
                <a:cs typeface="Lato"/>
                <a:sym typeface="Lato"/>
              </a:rPr>
              <a:t>:</a:t>
            </a:r>
            <a:endParaRPr b="1" sz="1900">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StructuralMechanicsApplication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ConstitutiveLawsApplication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t>
            </a:r>
            <a:r>
              <a:rPr b="1" lang="en-GB" sz="1900">
                <a:latin typeface="Lato"/>
                <a:ea typeface="Lato"/>
                <a:cs typeface="Lato"/>
                <a:sym typeface="Lato"/>
              </a:rPr>
              <a:t>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1619b06e_2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Setup a ROM (StructuralMechanics)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45" name="Google Shape;145;g2ed1619b06e_2_1"/>
          <p:cNvSpPr/>
          <p:nvPr/>
        </p:nvSpPr>
        <p:spPr>
          <a:xfrm>
            <a:off x="6014225" y="2026550"/>
            <a:ext cx="258000" cy="209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6" name="Google Shape;146;g2ed1619b06e_2_1"/>
          <p:cNvCxnSpPr/>
          <p:nvPr/>
        </p:nvCxnSpPr>
        <p:spPr>
          <a:xfrm>
            <a:off x="5539825" y="4123900"/>
            <a:ext cx="1264800" cy="0"/>
          </a:xfrm>
          <a:prstGeom prst="straightConnector1">
            <a:avLst/>
          </a:prstGeom>
          <a:noFill/>
          <a:ln cap="flat" cmpd="sng" w="9525">
            <a:solidFill>
              <a:schemeClr val="dk2"/>
            </a:solidFill>
            <a:prstDash val="solid"/>
            <a:round/>
            <a:headEnd len="sm" w="sm" type="none"/>
            <a:tailEnd len="sm" w="sm" type="none"/>
          </a:ln>
        </p:spPr>
      </p:cxnSp>
      <p:cxnSp>
        <p:nvCxnSpPr>
          <p:cNvPr id="147" name="Google Shape;147;g2ed1619b06e_2_1"/>
          <p:cNvCxnSpPr/>
          <p:nvPr/>
        </p:nvCxnSpPr>
        <p:spPr>
          <a:xfrm>
            <a:off x="6646750" y="4132225"/>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48" name="Google Shape;148;g2ed1619b06e_2_1"/>
          <p:cNvCxnSpPr/>
          <p:nvPr/>
        </p:nvCxnSpPr>
        <p:spPr>
          <a:xfrm>
            <a:off x="6521950" y="4123900"/>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49" name="Google Shape;149;g2ed1619b06e_2_1"/>
          <p:cNvCxnSpPr/>
          <p:nvPr/>
        </p:nvCxnSpPr>
        <p:spPr>
          <a:xfrm>
            <a:off x="6397025" y="4136388"/>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0" name="Google Shape;150;g2ed1619b06e_2_1"/>
          <p:cNvCxnSpPr/>
          <p:nvPr/>
        </p:nvCxnSpPr>
        <p:spPr>
          <a:xfrm>
            <a:off x="6272225" y="4128063"/>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1" name="Google Shape;151;g2ed1619b06e_2_1"/>
          <p:cNvCxnSpPr/>
          <p:nvPr/>
        </p:nvCxnSpPr>
        <p:spPr>
          <a:xfrm>
            <a:off x="6183275" y="4144725"/>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2" name="Google Shape;152;g2ed1619b06e_2_1"/>
          <p:cNvCxnSpPr/>
          <p:nvPr/>
        </p:nvCxnSpPr>
        <p:spPr>
          <a:xfrm>
            <a:off x="6058475" y="4136400"/>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3" name="Google Shape;153;g2ed1619b06e_2_1"/>
          <p:cNvCxnSpPr/>
          <p:nvPr/>
        </p:nvCxnSpPr>
        <p:spPr>
          <a:xfrm>
            <a:off x="5933550" y="4148888"/>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4" name="Google Shape;154;g2ed1619b06e_2_1"/>
          <p:cNvCxnSpPr/>
          <p:nvPr/>
        </p:nvCxnSpPr>
        <p:spPr>
          <a:xfrm>
            <a:off x="5808750" y="4140563"/>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5" name="Google Shape;155;g2ed1619b06e_2_1"/>
          <p:cNvCxnSpPr/>
          <p:nvPr/>
        </p:nvCxnSpPr>
        <p:spPr>
          <a:xfrm>
            <a:off x="5683825" y="4132213"/>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6" name="Google Shape;156;g2ed1619b06e_2_1"/>
          <p:cNvCxnSpPr/>
          <p:nvPr/>
        </p:nvCxnSpPr>
        <p:spPr>
          <a:xfrm>
            <a:off x="5559025" y="4123888"/>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7" name="Google Shape;157;g2ed1619b06e_2_1"/>
          <p:cNvCxnSpPr>
            <a:endCxn id="145" idx="0"/>
          </p:cNvCxnSpPr>
          <p:nvPr/>
        </p:nvCxnSpPr>
        <p:spPr>
          <a:xfrm flipH="1">
            <a:off x="6143225" y="1260950"/>
            <a:ext cx="4200" cy="765600"/>
          </a:xfrm>
          <a:prstGeom prst="straightConnector1">
            <a:avLst/>
          </a:prstGeom>
          <a:noFill/>
          <a:ln cap="flat" cmpd="sng" w="28575">
            <a:solidFill>
              <a:srgbClr val="FF0000"/>
            </a:solidFill>
            <a:prstDash val="solid"/>
            <a:round/>
            <a:headEnd len="sm" w="sm" type="none"/>
            <a:tailEnd len="med" w="med" type="triangle"/>
          </a:ln>
        </p:spPr>
      </p:cxnSp>
      <p:cxnSp>
        <p:nvCxnSpPr>
          <p:cNvPr id="158" name="Google Shape;158;g2ed1619b06e_2_1"/>
          <p:cNvCxnSpPr/>
          <p:nvPr/>
        </p:nvCxnSpPr>
        <p:spPr>
          <a:xfrm>
            <a:off x="5398325" y="2159725"/>
            <a:ext cx="615600" cy="6300"/>
          </a:xfrm>
          <a:prstGeom prst="straightConnector1">
            <a:avLst/>
          </a:prstGeom>
          <a:noFill/>
          <a:ln cap="flat" cmpd="sng" w="28575">
            <a:solidFill>
              <a:srgbClr val="0000FF"/>
            </a:solidFill>
            <a:prstDash val="solid"/>
            <a:round/>
            <a:headEnd len="sm" w="sm" type="none"/>
            <a:tailEnd len="med" w="med" type="triangle"/>
          </a:ln>
        </p:spPr>
      </p:cxnSp>
      <p:cxnSp>
        <p:nvCxnSpPr>
          <p:cNvPr id="159" name="Google Shape;159;g2ed1619b06e_2_1"/>
          <p:cNvCxnSpPr/>
          <p:nvPr/>
        </p:nvCxnSpPr>
        <p:spPr>
          <a:xfrm>
            <a:off x="5398325" y="3072050"/>
            <a:ext cx="615600" cy="6300"/>
          </a:xfrm>
          <a:prstGeom prst="straightConnector1">
            <a:avLst/>
          </a:prstGeom>
          <a:noFill/>
          <a:ln cap="flat" cmpd="sng" w="28575">
            <a:solidFill>
              <a:srgbClr val="38761D"/>
            </a:solidFill>
            <a:prstDash val="solid"/>
            <a:round/>
            <a:headEnd len="sm" w="sm" type="none"/>
            <a:tailEnd len="med" w="med" type="triangle"/>
          </a:ln>
        </p:spPr>
      </p:cxnSp>
      <p:sp>
        <p:nvSpPr>
          <p:cNvPr id="160" name="Google Shape;160;g2ed1619b06e_2_1"/>
          <p:cNvSpPr txBox="1"/>
          <p:nvPr/>
        </p:nvSpPr>
        <p:spPr>
          <a:xfrm>
            <a:off x="6247175" y="1477250"/>
            <a:ext cx="424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FF0000"/>
                </a:solidFill>
                <a:latin typeface="Lato"/>
                <a:ea typeface="Lato"/>
                <a:cs typeface="Lato"/>
                <a:sym typeface="Lato"/>
              </a:rPr>
              <a:t>P</a:t>
            </a:r>
            <a:r>
              <a:rPr b="0" i="0" lang="en-GB" sz="700" u="none" cap="none" strike="noStrike">
                <a:solidFill>
                  <a:srgbClr val="FF0000"/>
                </a:solidFill>
                <a:latin typeface="Lato"/>
                <a:ea typeface="Lato"/>
                <a:cs typeface="Lato"/>
                <a:sym typeface="Lato"/>
              </a:rPr>
              <a:t>1</a:t>
            </a:r>
            <a:endParaRPr b="0" i="0" sz="700" u="none" cap="none" strike="noStrike">
              <a:solidFill>
                <a:srgbClr val="FF0000"/>
              </a:solidFill>
              <a:latin typeface="Lato"/>
              <a:ea typeface="Lato"/>
              <a:cs typeface="Lato"/>
              <a:sym typeface="Lato"/>
            </a:endParaRPr>
          </a:p>
        </p:txBody>
      </p:sp>
      <p:sp>
        <p:nvSpPr>
          <p:cNvPr id="161" name="Google Shape;161;g2ed1619b06e_2_1"/>
          <p:cNvSpPr txBox="1"/>
          <p:nvPr/>
        </p:nvSpPr>
        <p:spPr>
          <a:xfrm>
            <a:off x="4995600" y="1962775"/>
            <a:ext cx="424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FF"/>
                </a:solidFill>
                <a:latin typeface="Lato"/>
                <a:ea typeface="Lato"/>
                <a:cs typeface="Lato"/>
                <a:sym typeface="Lato"/>
              </a:rPr>
              <a:t>P</a:t>
            </a:r>
            <a:r>
              <a:rPr b="0" i="0" lang="en-GB" sz="700" u="none" cap="none" strike="noStrike">
                <a:solidFill>
                  <a:srgbClr val="0000FF"/>
                </a:solidFill>
                <a:latin typeface="Lato"/>
                <a:ea typeface="Lato"/>
                <a:cs typeface="Lato"/>
                <a:sym typeface="Lato"/>
              </a:rPr>
              <a:t>2</a:t>
            </a:r>
            <a:endParaRPr b="0" i="0" sz="700" u="none" cap="none" strike="noStrike">
              <a:solidFill>
                <a:srgbClr val="0000FF"/>
              </a:solidFill>
              <a:latin typeface="Lato"/>
              <a:ea typeface="Lato"/>
              <a:cs typeface="Lato"/>
              <a:sym typeface="Lato"/>
            </a:endParaRPr>
          </a:p>
        </p:txBody>
      </p:sp>
      <p:sp>
        <p:nvSpPr>
          <p:cNvPr id="162" name="Google Shape;162;g2ed1619b06e_2_1"/>
          <p:cNvSpPr txBox="1"/>
          <p:nvPr/>
        </p:nvSpPr>
        <p:spPr>
          <a:xfrm>
            <a:off x="5031475" y="2781000"/>
            <a:ext cx="424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8761D"/>
                </a:solidFill>
                <a:latin typeface="Lato"/>
                <a:ea typeface="Lato"/>
                <a:cs typeface="Lato"/>
                <a:sym typeface="Lato"/>
              </a:rPr>
              <a:t>P</a:t>
            </a:r>
            <a:r>
              <a:rPr b="0" i="0" lang="en-GB" sz="700" u="none" cap="none" strike="noStrike">
                <a:solidFill>
                  <a:srgbClr val="38761D"/>
                </a:solidFill>
                <a:latin typeface="Lato"/>
                <a:ea typeface="Lato"/>
                <a:cs typeface="Lato"/>
                <a:sym typeface="Lato"/>
              </a:rPr>
              <a:t>3</a:t>
            </a:r>
            <a:endParaRPr b="0" i="0" sz="700" u="none" cap="none" strike="noStrike">
              <a:solidFill>
                <a:srgbClr val="38761D"/>
              </a:solidFill>
              <a:latin typeface="Lato"/>
              <a:ea typeface="Lato"/>
              <a:cs typeface="Lato"/>
              <a:sym typeface="Lato"/>
            </a:endParaRPr>
          </a:p>
        </p:txBody>
      </p:sp>
      <p:pic>
        <p:nvPicPr>
          <p:cNvPr id="163" name="Google Shape;163;g2ed1619b06e_2_1"/>
          <p:cNvPicPr preferRelativeResize="0"/>
          <p:nvPr/>
        </p:nvPicPr>
        <p:blipFill rotWithShape="1">
          <a:blip r:embed="rId3">
            <a:alphaModFix/>
          </a:blip>
          <a:srcRect b="0" l="0" r="0" t="0"/>
          <a:stretch/>
        </p:blipFill>
        <p:spPr>
          <a:xfrm>
            <a:off x="2069225" y="2418878"/>
            <a:ext cx="1090725" cy="958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ed1619b06e_1_62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Setup a ROM (StructuralMechanics)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pic>
        <p:nvPicPr>
          <p:cNvPr id="170" name="Google Shape;170;g2ed1619b06e_1_622"/>
          <p:cNvPicPr preferRelativeResize="0"/>
          <p:nvPr/>
        </p:nvPicPr>
        <p:blipFill>
          <a:blip r:embed="rId3">
            <a:alphaModFix/>
          </a:blip>
          <a:stretch>
            <a:fillRect/>
          </a:stretch>
        </p:blipFill>
        <p:spPr>
          <a:xfrm>
            <a:off x="1375550" y="1642334"/>
            <a:ext cx="6143625" cy="1390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g2ed48e17426_0_4"/>
          <p:cNvPicPr preferRelativeResize="0"/>
          <p:nvPr/>
        </p:nvPicPr>
        <p:blipFill>
          <a:blip r:embed="rId3">
            <a:alphaModFix/>
          </a:blip>
          <a:stretch>
            <a:fillRect/>
          </a:stretch>
        </p:blipFill>
        <p:spPr>
          <a:xfrm>
            <a:off x="6108100" y="1424287"/>
            <a:ext cx="2149625" cy="2166574"/>
          </a:xfrm>
          <a:prstGeom prst="rect">
            <a:avLst/>
          </a:prstGeom>
          <a:noFill/>
          <a:ln>
            <a:noFill/>
          </a:ln>
        </p:spPr>
      </p:pic>
      <p:sp>
        <p:nvSpPr>
          <p:cNvPr id="177" name="Google Shape;177;g2ed48e17426_0_4"/>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RomManager</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78" name="Google Shape;178;g2ed48e17426_0_4"/>
          <p:cNvSpPr txBox="1"/>
          <p:nvPr>
            <p:ph idx="1" type="body"/>
          </p:nvPr>
        </p:nvSpPr>
        <p:spPr>
          <a:xfrm>
            <a:off x="449576" y="1031300"/>
            <a:ext cx="5399100" cy="3423300"/>
          </a:xfrm>
          <a:prstGeom prst="rect">
            <a:avLst/>
          </a:prstGeom>
        </p:spPr>
        <p:txBody>
          <a:bodyPr anchorCtr="0" anchor="t" bIns="45700" lIns="91425" spcFirstLastPara="1" rIns="91425" wrap="square" tIns="45700">
            <a:normAutofit/>
          </a:bodyPr>
          <a:lstStyle/>
          <a:p>
            <a:pPr indent="-355600" lvl="0" marL="457200" rtl="0" algn="l">
              <a:spcBef>
                <a:spcPts val="750"/>
              </a:spcBef>
              <a:spcAft>
                <a:spcPts val="0"/>
              </a:spcAft>
              <a:buClr>
                <a:schemeClr val="dk2"/>
              </a:buClr>
              <a:buSzPts val="2000"/>
              <a:buChar char="•"/>
            </a:pPr>
            <a:r>
              <a:rPr lang="en-GB">
                <a:solidFill>
                  <a:schemeClr val="dk2"/>
                </a:solidFill>
              </a:rPr>
              <a:t>general_rom_manager_parameters</a:t>
            </a:r>
            <a:endParaRPr>
              <a:solidFill>
                <a:schemeClr val="dk2"/>
              </a:solidFill>
            </a:endParaRPr>
          </a:p>
          <a:p>
            <a:pPr indent="-355600" lvl="0" marL="457200" rtl="0" algn="l">
              <a:spcBef>
                <a:spcPts val="0"/>
              </a:spcBef>
              <a:spcAft>
                <a:spcPts val="0"/>
              </a:spcAft>
              <a:buClr>
                <a:schemeClr val="dk2"/>
              </a:buClr>
              <a:buSzPts val="2000"/>
              <a:buChar char="•"/>
            </a:pPr>
            <a:r>
              <a:rPr lang="en-GB">
                <a:solidFill>
                  <a:schemeClr val="dk2"/>
                </a:solidFill>
              </a:rPr>
              <a:t>Fit()</a:t>
            </a:r>
            <a:endParaRPr>
              <a:solidFill>
                <a:schemeClr val="dk2"/>
              </a:solidFill>
            </a:endParaRPr>
          </a:p>
          <a:p>
            <a:pPr indent="-355600" lvl="0" marL="457200" rtl="0" algn="l">
              <a:spcBef>
                <a:spcPts val="0"/>
              </a:spcBef>
              <a:spcAft>
                <a:spcPts val="0"/>
              </a:spcAft>
              <a:buClr>
                <a:schemeClr val="dk2"/>
              </a:buClr>
              <a:buSzPts val="2000"/>
              <a:buChar char="•"/>
            </a:pPr>
            <a:r>
              <a:rPr lang="en-GB">
                <a:solidFill>
                  <a:schemeClr val="dk2"/>
                </a:solidFill>
              </a:rPr>
              <a:t>Test()</a:t>
            </a:r>
            <a:endParaRPr>
              <a:solidFill>
                <a:schemeClr val="dk2"/>
              </a:solidFill>
            </a:endParaRPr>
          </a:p>
          <a:p>
            <a:pPr indent="-355600" lvl="0" marL="457200" rtl="0" algn="l">
              <a:spcBef>
                <a:spcPts val="0"/>
              </a:spcBef>
              <a:spcAft>
                <a:spcPts val="0"/>
              </a:spcAft>
              <a:buClr>
                <a:schemeClr val="dk2"/>
              </a:buClr>
              <a:buSzPts val="2000"/>
              <a:buChar char="•"/>
            </a:pPr>
            <a:r>
              <a:rPr lang="en-GB">
                <a:solidFill>
                  <a:schemeClr val="dk2"/>
                </a:solidFill>
              </a:rPr>
              <a:t>RunFOM()</a:t>
            </a:r>
            <a:endParaRPr>
              <a:solidFill>
                <a:schemeClr val="dk2"/>
              </a:solidFill>
            </a:endParaRPr>
          </a:p>
          <a:p>
            <a:pPr indent="-355600" lvl="0" marL="457200" rtl="0" algn="l">
              <a:spcBef>
                <a:spcPts val="0"/>
              </a:spcBef>
              <a:spcAft>
                <a:spcPts val="0"/>
              </a:spcAft>
              <a:buClr>
                <a:schemeClr val="dk2"/>
              </a:buClr>
              <a:buSzPts val="2000"/>
              <a:buChar char="•"/>
            </a:pPr>
            <a:r>
              <a:rPr lang="en-GB">
                <a:solidFill>
                  <a:schemeClr val="dk2"/>
                </a:solidFill>
              </a:rPr>
              <a:t>RunROM()</a:t>
            </a:r>
            <a:endParaRPr>
              <a:solidFill>
                <a:schemeClr val="dk2"/>
              </a:solidFill>
            </a:endParaRPr>
          </a:p>
          <a:p>
            <a:pPr indent="-355600" lvl="0" marL="457200" rtl="0" algn="l">
              <a:spcBef>
                <a:spcPts val="0"/>
              </a:spcBef>
              <a:spcAft>
                <a:spcPts val="0"/>
              </a:spcAft>
              <a:buClr>
                <a:schemeClr val="dk2"/>
              </a:buClr>
              <a:buSzPts val="2000"/>
              <a:buChar char="•"/>
            </a:pPr>
            <a:r>
              <a:rPr lang="en-GB">
                <a:solidFill>
                  <a:schemeClr val="dk2"/>
                </a:solidFill>
              </a:rPr>
              <a:t>PrintErrors()</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ed8295bb96_0_21"/>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5" name="Google Shape;185;g2ed8295bb96_0_21"/>
          <p:cNvSpPr txBox="1"/>
          <p:nvPr>
            <p:ph idx="1" type="body"/>
          </p:nvPr>
        </p:nvSpPr>
        <p:spPr>
          <a:xfrm>
            <a:off x="449579" y="1031288"/>
            <a:ext cx="8278800" cy="342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ed4f072cc1_0_1"/>
          <p:cNvSpPr/>
          <p:nvPr/>
        </p:nvSpPr>
        <p:spPr>
          <a:xfrm>
            <a:off x="2604200" y="1487763"/>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192" name="Google Shape;192;g2ed4f072cc1_0_1"/>
          <p:cNvCxnSpPr/>
          <p:nvPr/>
        </p:nvCxnSpPr>
        <p:spPr>
          <a:xfrm>
            <a:off x="2297879" y="164768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93" name="Google Shape;193;g2ed4f072cc1_0_1"/>
          <p:cNvCxnSpPr/>
          <p:nvPr/>
        </p:nvCxnSpPr>
        <p:spPr>
          <a:xfrm>
            <a:off x="2925375" y="1710900"/>
            <a:ext cx="3629100" cy="246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194" name="Google Shape;194;g2ed4f072cc1_0_1" title="mu subscript 1"/>
          <p:cNvPicPr preferRelativeResize="0"/>
          <p:nvPr/>
        </p:nvPicPr>
        <p:blipFill rotWithShape="1">
          <a:blip r:embed="rId3">
            <a:alphaModFix/>
          </a:blip>
          <a:srcRect b="0" l="0" r="0" t="0"/>
          <a:stretch/>
        </p:blipFill>
        <p:spPr>
          <a:xfrm>
            <a:off x="604556" y="1563725"/>
            <a:ext cx="211200" cy="169754"/>
          </a:xfrm>
          <a:prstGeom prst="rect">
            <a:avLst/>
          </a:prstGeom>
          <a:noFill/>
          <a:ln>
            <a:noFill/>
          </a:ln>
        </p:spPr>
      </p:pic>
      <p:cxnSp>
        <p:nvCxnSpPr>
          <p:cNvPr id="195" name="Google Shape;195;g2ed4f072cc1_0_1"/>
          <p:cNvCxnSpPr/>
          <p:nvPr/>
        </p:nvCxnSpPr>
        <p:spPr>
          <a:xfrm>
            <a:off x="887642" y="1647700"/>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196" name="Google Shape;196;g2ed4f072cc1_0_1"/>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Data for ROM</a:t>
            </a:r>
            <a:endParaRPr b="0" i="0" sz="1400" u="none" cap="none" strike="noStrike">
              <a:solidFill>
                <a:srgbClr val="000000"/>
              </a:solidFill>
              <a:latin typeface="Arial"/>
              <a:ea typeface="Arial"/>
              <a:cs typeface="Arial"/>
              <a:sym typeface="Arial"/>
            </a:endParaRPr>
          </a:p>
        </p:txBody>
      </p:sp>
      <p:cxnSp>
        <p:nvCxnSpPr>
          <p:cNvPr id="197" name="Google Shape;197;g2ed4f072cc1_0_1"/>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198" name="Google Shape;198;g2ed4f072cc1_0_1"/>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ed4f072cc1_0_1"/>
          <p:cNvSpPr txBox="1"/>
          <p:nvPr/>
        </p:nvSpPr>
        <p:spPr>
          <a:xfrm>
            <a:off x="1247213" y="1569300"/>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0" name="Google Shape;200;g2ed4f072cc1_0_1"/>
          <p:cNvPicPr preferRelativeResize="0"/>
          <p:nvPr/>
        </p:nvPicPr>
        <p:blipFill rotWithShape="1">
          <a:blip r:embed="rId4">
            <a:alphaModFix/>
          </a:blip>
          <a:srcRect b="0" l="0" r="0" t="0"/>
          <a:stretch/>
        </p:blipFill>
        <p:spPr>
          <a:xfrm>
            <a:off x="1371946" y="1647705"/>
            <a:ext cx="703149" cy="158064"/>
          </a:xfrm>
          <a:prstGeom prst="rect">
            <a:avLst/>
          </a:prstGeom>
          <a:noFill/>
          <a:ln>
            <a:noFill/>
          </a:ln>
        </p:spPr>
      </p:pic>
      <p:sp>
        <p:nvSpPr>
          <p:cNvPr id="201" name="Google Shape;201;g2ed4f072cc1_0_1"/>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2ed4f072cc1_0_1"/>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sp>
        <p:nvSpPr>
          <p:cNvPr id="203" name="Google Shape;203;g2ed4f072cc1_0_1"/>
          <p:cNvSpPr txBox="1"/>
          <p:nvPr/>
        </p:nvSpPr>
        <p:spPr>
          <a:xfrm>
            <a:off x="7161063" y="2876526"/>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g2ed4f072cc1_0_1"/>
          <p:cNvPicPr preferRelativeResize="0"/>
          <p:nvPr/>
        </p:nvPicPr>
        <p:blipFill rotWithShape="1">
          <a:blip r:embed="rId4">
            <a:alphaModFix/>
          </a:blip>
          <a:srcRect b="0" l="0" r="0" t="0"/>
          <a:stretch/>
        </p:blipFill>
        <p:spPr>
          <a:xfrm>
            <a:off x="7272246" y="2951393"/>
            <a:ext cx="703149" cy="158064"/>
          </a:xfrm>
          <a:prstGeom prst="rect">
            <a:avLst/>
          </a:prstGeom>
          <a:noFill/>
          <a:ln>
            <a:noFill/>
          </a:ln>
        </p:spPr>
      </p:pic>
      <p:pic>
        <p:nvPicPr>
          <p:cNvPr descr="&lt;math xmlns=&quot;http://www.w3.org/1998/Math/MathML&quot;&gt;&lt;msub&gt;&lt;mi&gt;&amp;#x3BC;&lt;/mi&gt;&lt;mn&gt;1&lt;/mn&gt;&lt;/msub&gt;&lt;/math&gt;" id="205" name="Google Shape;205;g2ed4f072cc1_0_1" title="mu subscript 1"/>
          <p:cNvPicPr preferRelativeResize="0"/>
          <p:nvPr/>
        </p:nvPicPr>
        <p:blipFill rotWithShape="1">
          <a:blip r:embed="rId3">
            <a:alphaModFix/>
          </a:blip>
          <a:srcRect b="0" l="0" r="0" t="0"/>
          <a:stretch/>
        </p:blipFill>
        <p:spPr>
          <a:xfrm>
            <a:off x="8604930" y="2910613"/>
            <a:ext cx="211200" cy="169754"/>
          </a:xfrm>
          <a:prstGeom prst="rect">
            <a:avLst/>
          </a:prstGeom>
          <a:noFill/>
          <a:ln>
            <a:noFill/>
          </a:ln>
        </p:spPr>
      </p:pic>
      <p:cxnSp>
        <p:nvCxnSpPr>
          <p:cNvPr id="206" name="Google Shape;206;g2ed4f072cc1_0_1"/>
          <p:cNvCxnSpPr/>
          <p:nvPr/>
        </p:nvCxnSpPr>
        <p:spPr>
          <a:xfrm rot="10800000">
            <a:off x="8216625" y="3030413"/>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207" name="Google Shape;207;g2ed4f072cc1_0_1"/>
          <p:cNvSpPr/>
          <p:nvPr/>
        </p:nvSpPr>
        <p:spPr>
          <a:xfrm>
            <a:off x="6499175" y="2943125"/>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208" name="Google Shape;208;g2ed4f072cc1_0_1"/>
          <p:cNvCxnSpPr/>
          <p:nvPr/>
        </p:nvCxnSpPr>
        <p:spPr>
          <a:xfrm rot="10800000">
            <a:off x="6743225" y="3097025"/>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209" name="Google Shape;209;g2ed4f072cc1_0_1"/>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rgbClr val="000000"/>
                </a:solidFill>
                <a:latin typeface="Calibri"/>
                <a:ea typeface="Calibri"/>
                <a:cs typeface="Calibri"/>
                <a:sym typeface="Calibri"/>
              </a:rPr>
              <a:t>training parameters</a:t>
            </a:r>
            <a:endParaRPr b="0" i="0" sz="1400" u="none" cap="none" strike="noStrike">
              <a:solidFill>
                <a:srgbClr val="000000"/>
              </a:solidFill>
              <a:latin typeface="Arial"/>
              <a:ea typeface="Arial"/>
              <a:cs typeface="Arial"/>
              <a:sym typeface="Arial"/>
            </a:endParaRPr>
          </a:p>
        </p:txBody>
      </p:sp>
      <p:cxnSp>
        <p:nvCxnSpPr>
          <p:cNvPr id="210" name="Google Shape;210;g2ed4f072cc1_0_1"/>
          <p:cNvCxnSpPr/>
          <p:nvPr/>
        </p:nvCxnSpPr>
        <p:spPr>
          <a:xfrm>
            <a:off x="128800" y="1524150"/>
            <a:ext cx="353700" cy="0"/>
          </a:xfrm>
          <a:prstGeom prst="straightConnector1">
            <a:avLst/>
          </a:prstGeom>
          <a:noFill/>
          <a:ln cap="flat" cmpd="sng" w="9525">
            <a:solidFill>
              <a:srgbClr val="44546A"/>
            </a:solidFill>
            <a:prstDash val="solid"/>
            <a:round/>
            <a:headEnd len="sm" w="sm" type="none"/>
            <a:tailEnd len="med" w="med" type="triangle"/>
          </a:ln>
        </p:spPr>
      </p:cxnSp>
      <p:cxnSp>
        <p:nvCxnSpPr>
          <p:cNvPr id="211" name="Google Shape;211;g2ed4f072cc1_0_1"/>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sm" w="sm" type="none"/>
            <a:tailEnd len="sm" w="sm" type="none"/>
          </a:ln>
        </p:spPr>
      </p:cxnSp>
      <p:cxnSp>
        <p:nvCxnSpPr>
          <p:cNvPr id="212" name="Google Shape;212;g2ed4f072cc1_0_1"/>
          <p:cNvCxnSpPr>
            <a:stCxn id="209" idx="3"/>
          </p:cNvCxnSpPr>
          <p:nvPr/>
        </p:nvCxnSpPr>
        <p:spPr>
          <a:xfrm>
            <a:off x="7418285" y="755881"/>
            <a:ext cx="1596900" cy="2242200"/>
          </a:xfrm>
          <a:prstGeom prst="bentConnector2">
            <a:avLst/>
          </a:prstGeom>
          <a:noFill/>
          <a:ln cap="flat" cmpd="sng" w="9525">
            <a:solidFill>
              <a:srgbClr val="44546A"/>
            </a:solidFill>
            <a:prstDash val="solid"/>
            <a:round/>
            <a:headEnd len="sm" w="sm" type="none"/>
            <a:tailEnd len="sm" w="sm" type="none"/>
          </a:ln>
        </p:spPr>
      </p:cxnSp>
      <p:cxnSp>
        <p:nvCxnSpPr>
          <p:cNvPr id="213" name="Google Shape;213;g2ed4f072cc1_0_1"/>
          <p:cNvCxnSpPr/>
          <p:nvPr/>
        </p:nvCxnSpPr>
        <p:spPr>
          <a:xfrm rot="10800000">
            <a:off x="8875600" y="2995500"/>
            <a:ext cx="139500" cy="0"/>
          </a:xfrm>
          <a:prstGeom prst="straightConnector1">
            <a:avLst/>
          </a:prstGeom>
          <a:noFill/>
          <a:ln cap="flat" cmpd="sng" w="9525">
            <a:solidFill>
              <a:srgbClr val="44546A"/>
            </a:solidFill>
            <a:prstDash val="solid"/>
            <a:round/>
            <a:headEnd len="sm" w="sm" type="none"/>
            <a:tailEnd len="med" w="med" type="triangle"/>
          </a:ln>
        </p:spPr>
      </p:cxnSp>
      <p:sp>
        <p:nvSpPr>
          <p:cNvPr id="214" name="Google Shape;214;g2ed4f072cc1_0_1"/>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FOM</a:t>
            </a:r>
            <a:endParaRPr b="0" i="0" sz="1400" u="none" cap="none" strike="noStrike">
              <a:solidFill>
                <a:srgbClr val="000000"/>
              </a:solidFill>
              <a:latin typeface="Arial"/>
              <a:ea typeface="Arial"/>
              <a:cs typeface="Arial"/>
              <a:sym typeface="Arial"/>
            </a:endParaRPr>
          </a:p>
        </p:txBody>
      </p:sp>
      <p:cxnSp>
        <p:nvCxnSpPr>
          <p:cNvPr id="215" name="Google Shape;215;g2ed4f072cc1_0_1"/>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216" name="Google Shape;216;g2ed4f072cc1_0_1"/>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217" name="Google Shape;217;g2ed4f072cc1_0_1"/>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218" name="Google Shape;218;g2ed4f072cc1_0_1"/>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219" name="Google Shape;219;g2ed4f072cc1_0_1"/>
          <p:cNvSpPr txBox="1"/>
          <p:nvPr/>
        </p:nvSpPr>
        <p:spPr>
          <a:xfrm>
            <a:off x="782600" y="3724650"/>
            <a:ext cx="4220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RomManager.Fit()</a:t>
            </a:r>
            <a:endParaRPr b="1" i="0" sz="2300" u="none" cap="none" strike="noStrike">
              <a:solidFill>
                <a:schemeClr val="dk2"/>
              </a:solidFill>
              <a:latin typeface="Lato"/>
              <a:ea typeface="Lato"/>
              <a:cs typeface="Lato"/>
              <a:sym typeface="Lato"/>
            </a:endParaRPr>
          </a:p>
        </p:txBody>
      </p:sp>
      <p:cxnSp>
        <p:nvCxnSpPr>
          <p:cNvPr id="220" name="Google Shape;220;g2ed4f072cc1_0_1"/>
          <p:cNvCxnSpPr>
            <a:stCxn id="221" idx="3"/>
            <a:endCxn id="191" idx="2"/>
          </p:cNvCxnSpPr>
          <p:nvPr/>
        </p:nvCxnSpPr>
        <p:spPr>
          <a:xfrm rot="10800000">
            <a:off x="2667000" y="1795550"/>
            <a:ext cx="2099100" cy="1365000"/>
          </a:xfrm>
          <a:prstGeom prst="straightConnector1">
            <a:avLst/>
          </a:prstGeom>
          <a:noFill/>
          <a:ln cap="flat" cmpd="sng" w="9525">
            <a:solidFill>
              <a:schemeClr val="dk2"/>
            </a:solidFill>
            <a:prstDash val="solid"/>
            <a:round/>
            <a:headEnd len="sm" w="sm" type="none"/>
            <a:tailEnd len="med" w="med" type="triangle"/>
          </a:ln>
        </p:spPr>
      </p:cxnSp>
      <p:cxnSp>
        <p:nvCxnSpPr>
          <p:cNvPr id="222" name="Google Shape;222;g2ed4f072cc1_0_1"/>
          <p:cNvCxnSpPr>
            <a:stCxn id="221" idx="3"/>
            <a:endCxn id="207" idx="1"/>
          </p:cNvCxnSpPr>
          <p:nvPr/>
        </p:nvCxnSpPr>
        <p:spPr>
          <a:xfrm flipH="1" rot="10800000">
            <a:off x="4766100" y="3096950"/>
            <a:ext cx="1733100" cy="63600"/>
          </a:xfrm>
          <a:prstGeom prst="straightConnector1">
            <a:avLst/>
          </a:prstGeom>
          <a:noFill/>
          <a:ln cap="flat" cmpd="sng" w="9525">
            <a:solidFill>
              <a:schemeClr val="dk2"/>
            </a:solidFill>
            <a:prstDash val="solid"/>
            <a:round/>
            <a:headEnd len="sm" w="sm" type="none"/>
            <a:tailEnd len="med" w="med" type="triangle"/>
          </a:ln>
        </p:spPr>
      </p:cxnSp>
      <p:sp>
        <p:nvSpPr>
          <p:cNvPr id="221" name="Google Shape;221;g2ed4f072cc1_0_1"/>
          <p:cNvSpPr txBox="1"/>
          <p:nvPr/>
        </p:nvSpPr>
        <p:spPr>
          <a:xfrm>
            <a:off x="3498900" y="3010550"/>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chemeClr val="accent1"/>
                </a:solidFill>
                <a:latin typeface="Lato"/>
                <a:ea typeface="Lato"/>
                <a:cs typeface="Lato"/>
                <a:sym typeface="Lato"/>
              </a:rPr>
              <a:t>Validate</a:t>
            </a:r>
            <a:endParaRPr b="0" i="0" sz="1300" u="none" cap="none" strike="noStrike">
              <a:solidFill>
                <a:schemeClr val="accent1"/>
              </a:solidFill>
              <a:latin typeface="Lato"/>
              <a:ea typeface="Lato"/>
              <a:cs typeface="Lato"/>
              <a:sym typeface="Lato"/>
            </a:endParaRPr>
          </a:p>
        </p:txBody>
      </p:sp>
      <p:sp>
        <p:nvSpPr>
          <p:cNvPr id="223" name="Google Shape;223;g2ed4f072cc1_0_1"/>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chemeClr val="accent1"/>
                </a:solidFill>
                <a:latin typeface="Lato"/>
                <a:ea typeface="Lato"/>
                <a:cs typeface="Lato"/>
                <a:sym typeface="Lato"/>
              </a:rPr>
              <a:t>Optimize</a:t>
            </a:r>
            <a:endParaRPr b="0" i="0" sz="1300" u="none" cap="none" strike="noStrike">
              <a:solidFill>
                <a:schemeClr val="accent1"/>
              </a:solidFill>
              <a:latin typeface="Lato"/>
              <a:ea typeface="Lato"/>
              <a:cs typeface="Lato"/>
              <a:sym typeface="Lato"/>
            </a:endParaRPr>
          </a:p>
        </p:txBody>
      </p:sp>
      <p:sp>
        <p:nvSpPr>
          <p:cNvPr id="224" name="Google Shape;224;g2ed4f072cc1_0_1"/>
          <p:cNvSpPr txBox="1"/>
          <p:nvPr/>
        </p:nvSpPr>
        <p:spPr>
          <a:xfrm>
            <a:off x="714300" y="2965400"/>
            <a:ext cx="4516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latin typeface="Lato"/>
                <a:ea typeface="Lato"/>
                <a:cs typeface="Lato"/>
                <a:sym typeface="Lato"/>
              </a:rPr>
              <a:t>m</a:t>
            </a:r>
            <a:r>
              <a:rPr lang="en-GB" sz="1300">
                <a:solidFill>
                  <a:schemeClr val="dk2"/>
                </a:solidFill>
                <a:latin typeface="Lato"/>
                <a:ea typeface="Lato"/>
                <a:cs typeface="Lato"/>
                <a:sym typeface="Lato"/>
              </a:rPr>
              <a:t>u = [10,10,10]</a:t>
            </a:r>
            <a:endParaRPr sz="1300">
              <a:solidFill>
                <a:schemeClr val="dk2"/>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2ed4f072cc1_0_77"/>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1" name="Google Shape;231;g2ed4f072cc1_0_77"/>
          <p:cNvSpPr txBox="1"/>
          <p:nvPr>
            <p:ph idx="1" type="body"/>
          </p:nvPr>
        </p:nvSpPr>
        <p:spPr>
          <a:xfrm>
            <a:off x="449579" y="1031288"/>
            <a:ext cx="8278800" cy="342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ed8295bb96_0_6"/>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GB" sz="2388">
                <a:solidFill>
                  <a:schemeClr val="dk2"/>
                </a:solidFill>
              </a:rPr>
              <a:t>Passing Parameters </a:t>
            </a:r>
            <a:endParaRPr/>
          </a:p>
        </p:txBody>
      </p:sp>
      <p:sp>
        <p:nvSpPr>
          <p:cNvPr id="238" name="Google Shape;238;g2ed8295bb96_0_6"/>
          <p:cNvSpPr txBox="1"/>
          <p:nvPr>
            <p:ph idx="1" type="body"/>
          </p:nvPr>
        </p:nvSpPr>
        <p:spPr>
          <a:xfrm>
            <a:off x="449579" y="1031288"/>
            <a:ext cx="8278800" cy="3423300"/>
          </a:xfrm>
          <a:prstGeom prst="rect">
            <a:avLst/>
          </a:prstGeom>
        </p:spPr>
        <p:txBody>
          <a:bodyPr anchorCtr="0" anchor="t" bIns="45700" lIns="91425" spcFirstLastPara="1" rIns="91425" wrap="square" tIns="45700">
            <a:normAutofit/>
          </a:bodyPr>
          <a:lstStyle/>
          <a:p>
            <a:pPr indent="-355600" lvl="0" marL="457200" rtl="0" algn="l">
              <a:spcBef>
                <a:spcPts val="750"/>
              </a:spcBef>
              <a:spcAft>
                <a:spcPts val="0"/>
              </a:spcAft>
              <a:buClr>
                <a:schemeClr val="dk2"/>
              </a:buClr>
              <a:buSzPts val="2000"/>
              <a:buChar char="-"/>
            </a:pPr>
            <a:r>
              <a:rPr b="1" lang="en-GB">
                <a:solidFill>
                  <a:schemeClr val="dk2"/>
                </a:solidFill>
              </a:rPr>
              <a:t>ProjectParameters.json (</a:t>
            </a:r>
            <a:r>
              <a:rPr b="1" lang="en-GB">
                <a:solidFill>
                  <a:schemeClr val="dk2"/>
                </a:solidFill>
              </a:rPr>
              <a:t>Boundary conditions, Loads</a:t>
            </a:r>
            <a:r>
              <a:rPr b="1" lang="en-GB">
                <a:solidFill>
                  <a:schemeClr val="dk2"/>
                </a:solidFill>
              </a:rPr>
              <a:t>)</a:t>
            </a:r>
            <a:endParaRPr b="1">
              <a:solidFill>
                <a:schemeClr val="dk2"/>
              </a:solidFill>
            </a:endParaRPr>
          </a:p>
          <a:p>
            <a:pPr indent="0" lvl="0" marL="457200" rtl="0" algn="l">
              <a:spcBef>
                <a:spcPts val="750"/>
              </a:spcBef>
              <a:spcAft>
                <a:spcPts val="0"/>
              </a:spcAft>
              <a:buNone/>
            </a:pPr>
            <a:r>
              <a:t/>
            </a:r>
            <a:endParaRPr b="1"/>
          </a:p>
          <a:p>
            <a:pPr indent="-355600" lvl="0" marL="457200" rtl="0" algn="l">
              <a:spcBef>
                <a:spcPts val="750"/>
              </a:spcBef>
              <a:spcAft>
                <a:spcPts val="0"/>
              </a:spcAft>
              <a:buClr>
                <a:srgbClr val="999999"/>
              </a:buClr>
              <a:buSzPts val="2000"/>
              <a:buChar char="-"/>
            </a:pPr>
            <a:r>
              <a:rPr b="1" lang="en-GB">
                <a:solidFill>
                  <a:srgbClr val="999999"/>
                </a:solidFill>
              </a:rPr>
              <a:t>Materials.jso</a:t>
            </a:r>
            <a:r>
              <a:rPr b="1" lang="en-GB">
                <a:solidFill>
                  <a:srgbClr val="999999"/>
                </a:solidFill>
              </a:rPr>
              <a:t>n (Material Properties)</a:t>
            </a:r>
            <a:endParaRPr b="1">
              <a:solidFill>
                <a:srgbClr val="999999"/>
              </a:solidFill>
            </a:endParaRPr>
          </a:p>
          <a:p>
            <a:pPr indent="0" lvl="0" marL="457200" rtl="0" algn="l">
              <a:spcBef>
                <a:spcPts val="750"/>
              </a:spcBef>
              <a:spcAft>
                <a:spcPts val="0"/>
              </a:spcAft>
              <a:buNone/>
            </a:pPr>
            <a:r>
              <a:t/>
            </a:r>
            <a:endParaRPr b="1">
              <a:solidFill>
                <a:srgbClr val="999999"/>
              </a:solidFill>
            </a:endParaRPr>
          </a:p>
          <a:p>
            <a:pPr indent="-355600" lvl="0" marL="457200" rtl="0" algn="l">
              <a:spcBef>
                <a:spcPts val="750"/>
              </a:spcBef>
              <a:spcAft>
                <a:spcPts val="0"/>
              </a:spcAft>
              <a:buClr>
                <a:srgbClr val="999999"/>
              </a:buClr>
              <a:buSzPts val="2000"/>
              <a:buChar char="-"/>
            </a:pPr>
            <a:r>
              <a:rPr b="1" lang="en-GB">
                <a:solidFill>
                  <a:srgbClr val="999999"/>
                </a:solidFill>
              </a:rPr>
              <a:t>Analysis Stage (More specific customizations)</a:t>
            </a:r>
            <a:endParaRPr b="1">
              <a:solidFill>
                <a:srgbClr val="99999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2ed4f072cc1_0_83"/>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245" name="Google Shape;245;g2ed4f072cc1_0_83"/>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46" name="Google Shape;246;g2ed4f072cc1_0_83"/>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247" name="Google Shape;247;g2ed4f072cc1_0_83"/>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248" name="Google Shape;248;g2ed4f072cc1_0_83"/>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249" name="Google Shape;249;g2ed4f072cc1_0_83"/>
          <p:cNvGrpSpPr/>
          <p:nvPr/>
        </p:nvGrpSpPr>
        <p:grpSpPr>
          <a:xfrm>
            <a:off x="4011282" y="1274854"/>
            <a:ext cx="256372" cy="880500"/>
            <a:chOff x="3179220" y="1005991"/>
            <a:chExt cx="256372" cy="880500"/>
          </a:xfrm>
        </p:grpSpPr>
        <p:sp>
          <p:nvSpPr>
            <p:cNvPr id="250" name="Google Shape;250;g2ed4f072cc1_0_83"/>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51" name="Google Shape;251;g2ed4f072cc1_0_83"/>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52" name="Google Shape;252;g2ed4f072cc1_0_83"/>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53" name="Google Shape;253;g2ed4f072cc1_0_83"/>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54" name="Google Shape;254;g2ed4f072cc1_0_83"/>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255" name="Google Shape;255;g2ed4f072cc1_0_83"/>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256" name="Google Shape;256;g2ed4f072cc1_0_83" title="vertical ellipsis"/>
          <p:cNvPicPr preferRelativeResize="0"/>
          <p:nvPr/>
        </p:nvPicPr>
        <p:blipFill rotWithShape="1">
          <a:blip r:embed="rId3">
            <a:alphaModFix/>
          </a:blip>
          <a:srcRect b="0" l="0" r="0" t="0"/>
          <a:stretch/>
        </p:blipFill>
        <p:spPr>
          <a:xfrm>
            <a:off x="2565138" y="1616160"/>
            <a:ext cx="256475" cy="197925"/>
          </a:xfrm>
          <a:prstGeom prst="rect">
            <a:avLst/>
          </a:prstGeom>
          <a:noFill/>
          <a:ln>
            <a:noFill/>
          </a:ln>
        </p:spPr>
      </p:pic>
      <p:cxnSp>
        <p:nvCxnSpPr>
          <p:cNvPr id="257" name="Google Shape;257;g2ed4f072cc1_0_83"/>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58" name="Google Shape;258;g2ed4f072cc1_0_83"/>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259" name="Google Shape;259;g2ed4f072cc1_0_83" title="mu subscript 1"/>
          <p:cNvPicPr preferRelativeResize="0"/>
          <p:nvPr/>
        </p:nvPicPr>
        <p:blipFill rotWithShape="1">
          <a:blip r:embed="rId4">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260" name="Google Shape;260;g2ed4f072cc1_0_83" title="mu subscript p"/>
          <p:cNvPicPr preferRelativeResize="0"/>
          <p:nvPr/>
        </p:nvPicPr>
        <p:blipFill rotWithShape="1">
          <a:blip r:embed="rId5">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261" name="Google Shape;261;g2ed4f072cc1_0_83" title="vertical ellipsis"/>
          <p:cNvPicPr preferRelativeResize="0"/>
          <p:nvPr/>
        </p:nvPicPr>
        <p:blipFill rotWithShape="1">
          <a:blip r:embed="rId3">
            <a:alphaModFix/>
          </a:blip>
          <a:srcRect b="0" l="0" r="0" t="0"/>
          <a:stretch/>
        </p:blipFill>
        <p:spPr>
          <a:xfrm>
            <a:off x="624650" y="1607548"/>
            <a:ext cx="256475" cy="197925"/>
          </a:xfrm>
          <a:prstGeom prst="rect">
            <a:avLst/>
          </a:prstGeom>
          <a:noFill/>
          <a:ln>
            <a:noFill/>
          </a:ln>
        </p:spPr>
      </p:pic>
      <p:cxnSp>
        <p:nvCxnSpPr>
          <p:cNvPr id="262" name="Google Shape;262;g2ed4f072cc1_0_83"/>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63" name="Google Shape;263;g2ed4f072cc1_0_83"/>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264" name="Google Shape;264;g2ed4f072cc1_0_83"/>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Data for ROM</a:t>
            </a:r>
            <a:endParaRPr b="0" i="0" sz="1400" u="none" cap="none" strike="noStrike">
              <a:solidFill>
                <a:srgbClr val="000000"/>
              </a:solidFill>
              <a:latin typeface="Arial"/>
              <a:ea typeface="Arial"/>
              <a:cs typeface="Arial"/>
              <a:sym typeface="Arial"/>
            </a:endParaRPr>
          </a:p>
        </p:txBody>
      </p:sp>
      <p:cxnSp>
        <p:nvCxnSpPr>
          <p:cNvPr id="265" name="Google Shape;265;g2ed4f072cc1_0_83"/>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266" name="Google Shape;266;g2ed4f072cc1_0_83"/>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ed4f072cc1_0_83"/>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8" name="Google Shape;268;g2ed4f072cc1_0_83"/>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269" name="Google Shape;269;g2ed4f072cc1_0_83" title="vertical ellipsis"/>
          <p:cNvPicPr preferRelativeResize="0"/>
          <p:nvPr/>
        </p:nvPicPr>
        <p:blipFill rotWithShape="1">
          <a:blip r:embed="rId3">
            <a:alphaModFix/>
          </a:blip>
          <a:srcRect b="0" l="0" r="0" t="0"/>
          <a:stretch/>
        </p:blipFill>
        <p:spPr>
          <a:xfrm>
            <a:off x="1606887" y="1606910"/>
            <a:ext cx="256475" cy="197925"/>
          </a:xfrm>
          <a:prstGeom prst="rect">
            <a:avLst/>
          </a:prstGeom>
          <a:noFill/>
          <a:ln>
            <a:noFill/>
          </a:ln>
        </p:spPr>
      </p:pic>
      <p:sp>
        <p:nvSpPr>
          <p:cNvPr id="270" name="Google Shape;270;g2ed4f072cc1_0_83"/>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1" name="Google Shape;271;g2ed4f072cc1_0_83"/>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272" name="Google Shape;272;g2ed4f072cc1_0_83"/>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2ed4f072cc1_0_83"/>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cxnSp>
        <p:nvCxnSpPr>
          <p:cNvPr id="274" name="Google Shape;274;g2ed4f072cc1_0_83"/>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275" name="Google Shape;275;g2ed4f072cc1_0_83"/>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6" name="Google Shape;276;g2ed4f072cc1_0_83"/>
          <p:cNvPicPr preferRelativeResize="0"/>
          <p:nvPr/>
        </p:nvPicPr>
        <p:blipFill rotWithShape="1">
          <a:blip r:embed="rId6">
            <a:alphaModFix/>
          </a:blip>
          <a:srcRect b="0" l="0" r="0" t="0"/>
          <a:stretch/>
        </p:blipFill>
        <p:spPr>
          <a:xfrm>
            <a:off x="7254971" y="2587005"/>
            <a:ext cx="703149" cy="158064"/>
          </a:xfrm>
          <a:prstGeom prst="rect">
            <a:avLst/>
          </a:prstGeom>
          <a:noFill/>
          <a:ln>
            <a:noFill/>
          </a:ln>
        </p:spPr>
      </p:pic>
      <p:pic>
        <p:nvPicPr>
          <p:cNvPr descr="&lt;math xmlns=&quot;http://www.w3.org/1998/Math/MathML&quot;&gt;&lt;mo&gt;&amp;#x22EE;&lt;/mo&gt;&lt;/math&gt;" id="277" name="Google Shape;277;g2ed4f072cc1_0_83" title="vertical ellipsis"/>
          <p:cNvPicPr preferRelativeResize="0"/>
          <p:nvPr/>
        </p:nvPicPr>
        <p:blipFill rotWithShape="1">
          <a:blip r:embed="rId3">
            <a:alphaModFix/>
          </a:blip>
          <a:srcRect b="0" l="0" r="0" t="0"/>
          <a:stretch/>
        </p:blipFill>
        <p:spPr>
          <a:xfrm>
            <a:off x="7478288" y="2931485"/>
            <a:ext cx="256475" cy="197925"/>
          </a:xfrm>
          <a:prstGeom prst="rect">
            <a:avLst/>
          </a:prstGeom>
          <a:noFill/>
          <a:ln>
            <a:noFill/>
          </a:ln>
        </p:spPr>
      </p:pic>
      <p:sp>
        <p:nvSpPr>
          <p:cNvPr id="278" name="Google Shape;278;g2ed4f072cc1_0_83"/>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9" name="Google Shape;279;g2ed4f072cc1_0_83"/>
          <p:cNvPicPr preferRelativeResize="0"/>
          <p:nvPr/>
        </p:nvPicPr>
        <p:blipFill rotWithShape="1">
          <a:blip r:embed="rId6">
            <a:alphaModFix/>
          </a:blip>
          <a:srcRect b="0" l="0" r="0" t="0"/>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280" name="Google Shape;280;g2ed4f072cc1_0_83" title="mu subscript 1"/>
          <p:cNvPicPr preferRelativeResize="0"/>
          <p:nvPr/>
        </p:nvPicPr>
        <p:blipFill rotWithShape="1">
          <a:blip r:embed="rId4">
            <a:alphaModFix/>
          </a:blip>
          <a:srcRect b="0" l="0" r="0" t="0"/>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281" name="Google Shape;281;g2ed4f072cc1_0_83" title="mu subscript p"/>
          <p:cNvPicPr preferRelativeResize="0"/>
          <p:nvPr/>
        </p:nvPicPr>
        <p:blipFill rotWithShape="1">
          <a:blip r:embed="rId5">
            <a:alphaModFix/>
          </a:blip>
          <a:srcRect b="0" l="0" r="0" t="0"/>
          <a:stretch/>
        </p:blipFill>
        <p:spPr>
          <a:xfrm>
            <a:off x="8522407" y="3305432"/>
            <a:ext cx="256500" cy="235700"/>
          </a:xfrm>
          <a:prstGeom prst="rect">
            <a:avLst/>
          </a:prstGeom>
          <a:noFill/>
          <a:ln>
            <a:noFill/>
          </a:ln>
        </p:spPr>
      </p:pic>
      <p:pic>
        <p:nvPicPr>
          <p:cNvPr descr="&lt;math xmlns=&quot;http://www.w3.org/1998/Math/MathML&quot;&gt;&lt;mo&gt;&amp;#x22EE;&lt;/mo&gt;&lt;/math&gt;" id="282" name="Google Shape;282;g2ed4f072cc1_0_83" title="vertical ellipsis"/>
          <p:cNvPicPr preferRelativeResize="0"/>
          <p:nvPr/>
        </p:nvPicPr>
        <p:blipFill rotWithShape="1">
          <a:blip r:embed="rId3">
            <a:alphaModFix/>
          </a:blip>
          <a:srcRect b="0" l="0" r="0" t="0"/>
          <a:stretch/>
        </p:blipFill>
        <p:spPr>
          <a:xfrm>
            <a:off x="8545063" y="2972110"/>
            <a:ext cx="256475" cy="197925"/>
          </a:xfrm>
          <a:prstGeom prst="rect">
            <a:avLst/>
          </a:prstGeom>
          <a:noFill/>
          <a:ln>
            <a:noFill/>
          </a:ln>
        </p:spPr>
      </p:pic>
      <p:cxnSp>
        <p:nvCxnSpPr>
          <p:cNvPr id="283" name="Google Shape;283;g2ed4f072cc1_0_83"/>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284" name="Google Shape;284;g2ed4f072cc1_0_83"/>
          <p:cNvSpPr/>
          <p:nvPr/>
        </p:nvSpPr>
        <p:spPr>
          <a:xfrm>
            <a:off x="6451750" y="2512163"/>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85" name="Google Shape;285;g2ed4f072cc1_0_83"/>
          <p:cNvSpPr/>
          <p:nvPr/>
        </p:nvSpPr>
        <p:spPr>
          <a:xfrm>
            <a:off x="6451750" y="32409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286" name="Google Shape;286;g2ed4f072cc1_0_83" title="vertical ellipsis"/>
          <p:cNvPicPr preferRelativeResize="0"/>
          <p:nvPr/>
        </p:nvPicPr>
        <p:blipFill rotWithShape="1">
          <a:blip r:embed="rId3">
            <a:alphaModFix/>
          </a:blip>
          <a:srcRect b="0" l="0" r="0" t="0"/>
          <a:stretch/>
        </p:blipFill>
        <p:spPr>
          <a:xfrm>
            <a:off x="6386213" y="2931485"/>
            <a:ext cx="256475" cy="197925"/>
          </a:xfrm>
          <a:prstGeom prst="rect">
            <a:avLst/>
          </a:prstGeom>
          <a:noFill/>
          <a:ln>
            <a:noFill/>
          </a:ln>
        </p:spPr>
      </p:pic>
      <p:cxnSp>
        <p:nvCxnSpPr>
          <p:cNvPr id="287" name="Google Shape;287;g2ed4f072cc1_0_83"/>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288" name="Google Shape;288;g2ed4f072cc1_0_83"/>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289" name="Google Shape;289;g2ed4f072cc1_0_83"/>
          <p:cNvCxnSpPr/>
          <p:nvPr/>
        </p:nvCxnSpPr>
        <p:spPr>
          <a:xfrm flipH="1">
            <a:off x="5581021" y="2666943"/>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290" name="Google Shape;290;g2ed4f072cc1_0_83"/>
          <p:cNvCxnSpPr/>
          <p:nvPr/>
        </p:nvCxnSpPr>
        <p:spPr>
          <a:xfrm flipH="1">
            <a:off x="5581025" y="3078250"/>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291" name="Google Shape;291;g2ed4f072cc1_0_83"/>
          <p:cNvCxnSpPr/>
          <p:nvPr/>
        </p:nvCxnSpPr>
        <p:spPr>
          <a:xfrm rot="10800000">
            <a:off x="5581050" y="3205750"/>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292" name="Google Shape;292;g2ed4f072cc1_0_83"/>
          <p:cNvGrpSpPr/>
          <p:nvPr/>
        </p:nvGrpSpPr>
        <p:grpSpPr>
          <a:xfrm>
            <a:off x="5073282" y="2723354"/>
            <a:ext cx="256372" cy="880500"/>
            <a:chOff x="3179220" y="1005991"/>
            <a:chExt cx="256372" cy="880500"/>
          </a:xfrm>
        </p:grpSpPr>
        <p:sp>
          <p:nvSpPr>
            <p:cNvPr id="293" name="Google Shape;293;g2ed4f072cc1_0_83"/>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94" name="Google Shape;294;g2ed4f072cc1_0_83"/>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95" name="Google Shape;295;g2ed4f072cc1_0_83"/>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96" name="Google Shape;296;g2ed4f072cc1_0_83"/>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97" name="Google Shape;297;g2ed4f072cc1_0_83"/>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298" name="Google Shape;298;g2ed4f072cc1_0_83"/>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rgbClr val="000000"/>
                </a:solidFill>
                <a:latin typeface="Calibri"/>
                <a:ea typeface="Calibri"/>
                <a:cs typeface="Calibri"/>
                <a:sym typeface="Calibri"/>
              </a:rPr>
              <a:t>training parameters</a:t>
            </a:r>
            <a:endParaRPr b="0" i="0" sz="1400" u="none" cap="none" strike="noStrike">
              <a:solidFill>
                <a:srgbClr val="000000"/>
              </a:solidFill>
              <a:latin typeface="Arial"/>
              <a:ea typeface="Arial"/>
              <a:cs typeface="Arial"/>
              <a:sym typeface="Arial"/>
            </a:endParaRPr>
          </a:p>
        </p:txBody>
      </p:sp>
      <p:cxnSp>
        <p:nvCxnSpPr>
          <p:cNvPr id="299" name="Google Shape;299;g2ed4f072cc1_0_83"/>
          <p:cNvCxnSpPr/>
          <p:nvPr/>
        </p:nvCxnSpPr>
        <p:spPr>
          <a:xfrm>
            <a:off x="128800" y="1524150"/>
            <a:ext cx="353700" cy="0"/>
          </a:xfrm>
          <a:prstGeom prst="straightConnector1">
            <a:avLst/>
          </a:prstGeom>
          <a:noFill/>
          <a:ln cap="flat" cmpd="sng" w="9525">
            <a:solidFill>
              <a:srgbClr val="44546A"/>
            </a:solidFill>
            <a:prstDash val="solid"/>
            <a:round/>
            <a:headEnd len="sm" w="sm" type="none"/>
            <a:tailEnd len="med" w="med" type="triangle"/>
          </a:ln>
        </p:spPr>
      </p:cxnSp>
      <p:cxnSp>
        <p:nvCxnSpPr>
          <p:cNvPr id="300" name="Google Shape;300;g2ed4f072cc1_0_83"/>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sm" w="sm" type="none"/>
            <a:tailEnd len="sm" w="sm" type="none"/>
          </a:ln>
        </p:spPr>
      </p:cxnSp>
      <p:cxnSp>
        <p:nvCxnSpPr>
          <p:cNvPr id="301" name="Google Shape;301;g2ed4f072cc1_0_83"/>
          <p:cNvCxnSpPr>
            <a:stCxn id="298" idx="3"/>
          </p:cNvCxnSpPr>
          <p:nvPr/>
        </p:nvCxnSpPr>
        <p:spPr>
          <a:xfrm>
            <a:off x="7418285" y="755881"/>
            <a:ext cx="1596900" cy="2242200"/>
          </a:xfrm>
          <a:prstGeom prst="bentConnector2">
            <a:avLst/>
          </a:prstGeom>
          <a:noFill/>
          <a:ln cap="flat" cmpd="sng" w="9525">
            <a:solidFill>
              <a:srgbClr val="44546A"/>
            </a:solidFill>
            <a:prstDash val="solid"/>
            <a:round/>
            <a:headEnd len="sm" w="sm" type="none"/>
            <a:tailEnd len="sm" w="sm" type="none"/>
          </a:ln>
        </p:spPr>
      </p:cxnSp>
      <p:cxnSp>
        <p:nvCxnSpPr>
          <p:cNvPr id="302" name="Google Shape;302;g2ed4f072cc1_0_83"/>
          <p:cNvCxnSpPr/>
          <p:nvPr/>
        </p:nvCxnSpPr>
        <p:spPr>
          <a:xfrm rot="10800000">
            <a:off x="8875600" y="2995500"/>
            <a:ext cx="139500" cy="0"/>
          </a:xfrm>
          <a:prstGeom prst="straightConnector1">
            <a:avLst/>
          </a:prstGeom>
          <a:noFill/>
          <a:ln cap="flat" cmpd="sng" w="9525">
            <a:solidFill>
              <a:srgbClr val="44546A"/>
            </a:solidFill>
            <a:prstDash val="solid"/>
            <a:round/>
            <a:headEnd len="sm" w="sm" type="none"/>
            <a:tailEnd len="med" w="med" type="triangle"/>
          </a:ln>
        </p:spPr>
      </p:cxnSp>
      <p:sp>
        <p:nvSpPr>
          <p:cNvPr id="303" name="Google Shape;303;g2ed4f072cc1_0_83"/>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chemeClr val="accent1"/>
                </a:solidFill>
                <a:latin typeface="Lato"/>
                <a:ea typeface="Lato"/>
                <a:cs typeface="Lato"/>
                <a:sym typeface="Lato"/>
              </a:rPr>
              <a:t>Optimize</a:t>
            </a:r>
            <a:endParaRPr b="0" i="0" sz="1300" u="none" cap="none" strike="noStrike">
              <a:solidFill>
                <a:schemeClr val="accent1"/>
              </a:solidFill>
              <a:latin typeface="Lato"/>
              <a:ea typeface="Lato"/>
              <a:cs typeface="Lato"/>
              <a:sym typeface="Lato"/>
            </a:endParaRPr>
          </a:p>
        </p:txBody>
      </p:sp>
      <p:sp>
        <p:nvSpPr>
          <p:cNvPr id="304" name="Google Shape;304;g2ed4f072cc1_0_83"/>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FOM</a:t>
            </a:r>
            <a:endParaRPr b="0" i="0" sz="1400" u="none" cap="none" strike="noStrike">
              <a:solidFill>
                <a:srgbClr val="000000"/>
              </a:solidFill>
              <a:latin typeface="Arial"/>
              <a:ea typeface="Arial"/>
              <a:cs typeface="Arial"/>
              <a:sym typeface="Arial"/>
            </a:endParaRPr>
          </a:p>
        </p:txBody>
      </p:sp>
      <p:cxnSp>
        <p:nvCxnSpPr>
          <p:cNvPr id="305" name="Google Shape;305;g2ed4f072cc1_0_83"/>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306" name="Google Shape;306;g2ed4f072cc1_0_83"/>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307" name="Google Shape;307;g2ed4f072cc1_0_83"/>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308" name="Google Shape;308;g2ed4f072cc1_0_83"/>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309" name="Google Shape;309;g2ed4f072cc1_0_83"/>
          <p:cNvSpPr txBox="1"/>
          <p:nvPr/>
        </p:nvSpPr>
        <p:spPr>
          <a:xfrm>
            <a:off x="782600" y="3724650"/>
            <a:ext cx="4220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RomManager.Fit(mu_train)</a:t>
            </a:r>
            <a:endParaRPr b="1" i="0" sz="2300" u="none" cap="none" strike="noStrike">
              <a:solidFill>
                <a:schemeClr val="dk2"/>
              </a:solidFill>
              <a:latin typeface="Lato"/>
              <a:ea typeface="Lato"/>
              <a:cs typeface="Lato"/>
              <a:sym typeface="Lato"/>
            </a:endParaRPr>
          </a:p>
        </p:txBody>
      </p:sp>
      <p:cxnSp>
        <p:nvCxnSpPr>
          <p:cNvPr id="310" name="Google Shape;310;g2ed4f072cc1_0_83"/>
          <p:cNvCxnSpPr>
            <a:stCxn id="311" idx="3"/>
          </p:cNvCxnSpPr>
          <p:nvPr/>
        </p:nvCxnSpPr>
        <p:spPr>
          <a:xfrm rot="10800000">
            <a:off x="4164350" y="2152925"/>
            <a:ext cx="324600" cy="877500"/>
          </a:xfrm>
          <a:prstGeom prst="straightConnector1">
            <a:avLst/>
          </a:prstGeom>
          <a:noFill/>
          <a:ln cap="flat" cmpd="sng" w="9525">
            <a:solidFill>
              <a:schemeClr val="dk2"/>
            </a:solidFill>
            <a:prstDash val="solid"/>
            <a:round/>
            <a:headEnd len="sm" w="sm" type="none"/>
            <a:tailEnd len="med" w="med" type="triangle"/>
          </a:ln>
        </p:spPr>
      </p:cxnSp>
      <p:cxnSp>
        <p:nvCxnSpPr>
          <p:cNvPr id="312" name="Google Shape;312;g2ed4f072cc1_0_83"/>
          <p:cNvCxnSpPr>
            <a:stCxn id="311" idx="3"/>
          </p:cNvCxnSpPr>
          <p:nvPr/>
        </p:nvCxnSpPr>
        <p:spPr>
          <a:xfrm>
            <a:off x="4488950" y="3030425"/>
            <a:ext cx="584400" cy="133200"/>
          </a:xfrm>
          <a:prstGeom prst="straightConnector1">
            <a:avLst/>
          </a:prstGeom>
          <a:noFill/>
          <a:ln cap="flat" cmpd="sng" w="9525">
            <a:solidFill>
              <a:schemeClr val="dk2"/>
            </a:solidFill>
            <a:prstDash val="solid"/>
            <a:round/>
            <a:headEnd len="sm" w="sm" type="none"/>
            <a:tailEnd len="med" w="med" type="triangle"/>
          </a:ln>
        </p:spPr>
      </p:cxnSp>
      <p:sp>
        <p:nvSpPr>
          <p:cNvPr id="311" name="Google Shape;311;g2ed4f072cc1_0_83"/>
          <p:cNvSpPr txBox="1"/>
          <p:nvPr/>
        </p:nvSpPr>
        <p:spPr>
          <a:xfrm>
            <a:off x="3221750" y="28804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chemeClr val="accent1"/>
                </a:solidFill>
                <a:latin typeface="Lato"/>
                <a:ea typeface="Lato"/>
                <a:cs typeface="Lato"/>
                <a:sym typeface="Lato"/>
              </a:rPr>
              <a:t>Validate</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2ed4f072cc1_0_159"/>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319" name="Google Shape;319;g2ed4f072cc1_0_159"/>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20" name="Google Shape;320;g2ed4f072cc1_0_159"/>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321" name="Google Shape;321;g2ed4f072cc1_0_159"/>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grpSp>
        <p:nvGrpSpPr>
          <p:cNvPr id="322" name="Google Shape;322;g2ed4f072cc1_0_159"/>
          <p:cNvGrpSpPr/>
          <p:nvPr/>
        </p:nvGrpSpPr>
        <p:grpSpPr>
          <a:xfrm>
            <a:off x="4011282" y="1274854"/>
            <a:ext cx="256372" cy="880500"/>
            <a:chOff x="3179220" y="1005991"/>
            <a:chExt cx="256372" cy="880500"/>
          </a:xfrm>
        </p:grpSpPr>
        <p:sp>
          <p:nvSpPr>
            <p:cNvPr id="323" name="Google Shape;323;g2ed4f072cc1_0_159"/>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24" name="Google Shape;324;g2ed4f072cc1_0_159"/>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25" name="Google Shape;325;g2ed4f072cc1_0_159"/>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26" name="Google Shape;326;g2ed4f072cc1_0_159"/>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27" name="Google Shape;327;g2ed4f072cc1_0_159"/>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328" name="Google Shape;328;g2ed4f072cc1_0_159"/>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329" name="Google Shape;329;g2ed4f072cc1_0_159" title="vertical ellipsis"/>
          <p:cNvPicPr preferRelativeResize="0"/>
          <p:nvPr/>
        </p:nvPicPr>
        <p:blipFill rotWithShape="1">
          <a:blip r:embed="rId3">
            <a:alphaModFix/>
          </a:blip>
          <a:srcRect b="0" l="0" r="0" t="0"/>
          <a:stretch/>
        </p:blipFill>
        <p:spPr>
          <a:xfrm>
            <a:off x="2565138" y="1616160"/>
            <a:ext cx="256475" cy="197925"/>
          </a:xfrm>
          <a:prstGeom prst="rect">
            <a:avLst/>
          </a:prstGeom>
          <a:noFill/>
          <a:ln>
            <a:noFill/>
          </a:ln>
        </p:spPr>
      </p:pic>
      <p:cxnSp>
        <p:nvCxnSpPr>
          <p:cNvPr id="330" name="Google Shape;330;g2ed4f072cc1_0_159"/>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31" name="Google Shape;331;g2ed4f072cc1_0_159"/>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332" name="Google Shape;332;g2ed4f072cc1_0_159" title="mu subscript 1"/>
          <p:cNvPicPr preferRelativeResize="0"/>
          <p:nvPr/>
        </p:nvPicPr>
        <p:blipFill rotWithShape="1">
          <a:blip r:embed="rId4">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333" name="Google Shape;333;g2ed4f072cc1_0_159" title="mu subscript p"/>
          <p:cNvPicPr preferRelativeResize="0"/>
          <p:nvPr/>
        </p:nvPicPr>
        <p:blipFill rotWithShape="1">
          <a:blip r:embed="rId5">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334" name="Google Shape;334;g2ed4f072cc1_0_159" title="vertical ellipsis"/>
          <p:cNvPicPr preferRelativeResize="0"/>
          <p:nvPr/>
        </p:nvPicPr>
        <p:blipFill rotWithShape="1">
          <a:blip r:embed="rId3">
            <a:alphaModFix/>
          </a:blip>
          <a:srcRect b="0" l="0" r="0" t="0"/>
          <a:stretch/>
        </p:blipFill>
        <p:spPr>
          <a:xfrm>
            <a:off x="624650" y="1607548"/>
            <a:ext cx="256475" cy="197925"/>
          </a:xfrm>
          <a:prstGeom prst="rect">
            <a:avLst/>
          </a:prstGeom>
          <a:noFill/>
          <a:ln>
            <a:noFill/>
          </a:ln>
        </p:spPr>
      </p:pic>
      <p:cxnSp>
        <p:nvCxnSpPr>
          <p:cNvPr id="335" name="Google Shape;335;g2ed4f072cc1_0_159"/>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36" name="Google Shape;336;g2ed4f072cc1_0_159"/>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337" name="Google Shape;337;g2ed4f072cc1_0_159"/>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2ed4f072cc1_0_159"/>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9" name="Google Shape;339;g2ed4f072cc1_0_159"/>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340" name="Google Shape;340;g2ed4f072cc1_0_159" title="vertical ellipsis"/>
          <p:cNvPicPr preferRelativeResize="0"/>
          <p:nvPr/>
        </p:nvPicPr>
        <p:blipFill rotWithShape="1">
          <a:blip r:embed="rId3">
            <a:alphaModFix/>
          </a:blip>
          <a:srcRect b="0" l="0" r="0" t="0"/>
          <a:stretch/>
        </p:blipFill>
        <p:spPr>
          <a:xfrm>
            <a:off x="1606887" y="1606910"/>
            <a:ext cx="256475" cy="197925"/>
          </a:xfrm>
          <a:prstGeom prst="rect">
            <a:avLst/>
          </a:prstGeom>
          <a:noFill/>
          <a:ln>
            <a:noFill/>
          </a:ln>
        </p:spPr>
      </p:pic>
      <p:sp>
        <p:nvSpPr>
          <p:cNvPr id="341" name="Google Shape;341;g2ed4f072cc1_0_159"/>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2" name="Google Shape;342;g2ed4f072cc1_0_159"/>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343" name="Google Shape;343;g2ed4f072cc1_0_159"/>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2ed4f072cc1_0_159"/>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cxnSp>
        <p:nvCxnSpPr>
          <p:cNvPr id="345" name="Google Shape;345;g2ed4f072cc1_0_159"/>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346" name="Google Shape;346;g2ed4f072cc1_0_159"/>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7" name="Google Shape;347;g2ed4f072cc1_0_159"/>
          <p:cNvPicPr preferRelativeResize="0"/>
          <p:nvPr/>
        </p:nvPicPr>
        <p:blipFill rotWithShape="1">
          <a:blip r:embed="rId6">
            <a:alphaModFix/>
          </a:blip>
          <a:srcRect b="0" l="0" r="0" t="0"/>
          <a:stretch/>
        </p:blipFill>
        <p:spPr>
          <a:xfrm>
            <a:off x="7254971" y="2587005"/>
            <a:ext cx="703149" cy="158064"/>
          </a:xfrm>
          <a:prstGeom prst="rect">
            <a:avLst/>
          </a:prstGeom>
          <a:noFill/>
          <a:ln>
            <a:noFill/>
          </a:ln>
        </p:spPr>
      </p:pic>
      <p:pic>
        <p:nvPicPr>
          <p:cNvPr descr="&lt;math xmlns=&quot;http://www.w3.org/1998/Math/MathML&quot;&gt;&lt;mo&gt;&amp;#x22EE;&lt;/mo&gt;&lt;/math&gt;" id="348" name="Google Shape;348;g2ed4f072cc1_0_159" title="vertical ellipsis"/>
          <p:cNvPicPr preferRelativeResize="0"/>
          <p:nvPr/>
        </p:nvPicPr>
        <p:blipFill rotWithShape="1">
          <a:blip r:embed="rId3">
            <a:alphaModFix/>
          </a:blip>
          <a:srcRect b="0" l="0" r="0" t="0"/>
          <a:stretch/>
        </p:blipFill>
        <p:spPr>
          <a:xfrm>
            <a:off x="7478288" y="2931485"/>
            <a:ext cx="256475" cy="197925"/>
          </a:xfrm>
          <a:prstGeom prst="rect">
            <a:avLst/>
          </a:prstGeom>
          <a:noFill/>
          <a:ln>
            <a:noFill/>
          </a:ln>
        </p:spPr>
      </p:pic>
      <p:sp>
        <p:nvSpPr>
          <p:cNvPr id="349" name="Google Shape;349;g2ed4f072cc1_0_159"/>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0" name="Google Shape;350;g2ed4f072cc1_0_159"/>
          <p:cNvPicPr preferRelativeResize="0"/>
          <p:nvPr/>
        </p:nvPicPr>
        <p:blipFill rotWithShape="1">
          <a:blip r:embed="rId6">
            <a:alphaModFix/>
          </a:blip>
          <a:srcRect b="0" l="0" r="0" t="0"/>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351" name="Google Shape;351;g2ed4f072cc1_0_159" title="mu subscript 1"/>
          <p:cNvPicPr preferRelativeResize="0"/>
          <p:nvPr/>
        </p:nvPicPr>
        <p:blipFill rotWithShape="1">
          <a:blip r:embed="rId4">
            <a:alphaModFix/>
          </a:blip>
          <a:srcRect b="0" l="0" r="0" t="0"/>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352" name="Google Shape;352;g2ed4f072cc1_0_159" title="mu subscript p"/>
          <p:cNvPicPr preferRelativeResize="0"/>
          <p:nvPr/>
        </p:nvPicPr>
        <p:blipFill rotWithShape="1">
          <a:blip r:embed="rId5">
            <a:alphaModFix/>
          </a:blip>
          <a:srcRect b="0" l="0" r="0" t="0"/>
          <a:stretch/>
        </p:blipFill>
        <p:spPr>
          <a:xfrm>
            <a:off x="8522407" y="3305432"/>
            <a:ext cx="256500" cy="235700"/>
          </a:xfrm>
          <a:prstGeom prst="rect">
            <a:avLst/>
          </a:prstGeom>
          <a:noFill/>
          <a:ln>
            <a:noFill/>
          </a:ln>
        </p:spPr>
      </p:pic>
      <p:pic>
        <p:nvPicPr>
          <p:cNvPr descr="&lt;math xmlns=&quot;http://www.w3.org/1998/Math/MathML&quot;&gt;&lt;mo&gt;&amp;#x22EE;&lt;/mo&gt;&lt;/math&gt;" id="353" name="Google Shape;353;g2ed4f072cc1_0_159" title="vertical ellipsis"/>
          <p:cNvPicPr preferRelativeResize="0"/>
          <p:nvPr/>
        </p:nvPicPr>
        <p:blipFill rotWithShape="1">
          <a:blip r:embed="rId3">
            <a:alphaModFix/>
          </a:blip>
          <a:srcRect b="0" l="0" r="0" t="0"/>
          <a:stretch/>
        </p:blipFill>
        <p:spPr>
          <a:xfrm>
            <a:off x="8545063" y="2972110"/>
            <a:ext cx="256475" cy="197925"/>
          </a:xfrm>
          <a:prstGeom prst="rect">
            <a:avLst/>
          </a:prstGeom>
          <a:noFill/>
          <a:ln>
            <a:noFill/>
          </a:ln>
        </p:spPr>
      </p:pic>
      <p:cxnSp>
        <p:nvCxnSpPr>
          <p:cNvPr id="354" name="Google Shape;354;g2ed4f072cc1_0_159"/>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355" name="Google Shape;355;g2ed4f072cc1_0_159"/>
          <p:cNvSpPr/>
          <p:nvPr/>
        </p:nvSpPr>
        <p:spPr>
          <a:xfrm>
            <a:off x="6451750" y="2512163"/>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56" name="Google Shape;356;g2ed4f072cc1_0_159"/>
          <p:cNvSpPr/>
          <p:nvPr/>
        </p:nvSpPr>
        <p:spPr>
          <a:xfrm>
            <a:off x="6451750" y="32409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357" name="Google Shape;357;g2ed4f072cc1_0_159" title="vertical ellipsis"/>
          <p:cNvPicPr preferRelativeResize="0"/>
          <p:nvPr/>
        </p:nvPicPr>
        <p:blipFill rotWithShape="1">
          <a:blip r:embed="rId3">
            <a:alphaModFix/>
          </a:blip>
          <a:srcRect b="0" l="0" r="0" t="0"/>
          <a:stretch/>
        </p:blipFill>
        <p:spPr>
          <a:xfrm>
            <a:off x="6386213" y="2931485"/>
            <a:ext cx="256475" cy="197925"/>
          </a:xfrm>
          <a:prstGeom prst="rect">
            <a:avLst/>
          </a:prstGeom>
          <a:noFill/>
          <a:ln>
            <a:noFill/>
          </a:ln>
        </p:spPr>
      </p:pic>
      <p:cxnSp>
        <p:nvCxnSpPr>
          <p:cNvPr id="358" name="Google Shape;358;g2ed4f072cc1_0_159"/>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359" name="Google Shape;359;g2ed4f072cc1_0_159"/>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360" name="Google Shape;360;g2ed4f072cc1_0_159"/>
          <p:cNvCxnSpPr/>
          <p:nvPr/>
        </p:nvCxnSpPr>
        <p:spPr>
          <a:xfrm flipH="1">
            <a:off x="5581021" y="2666943"/>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361" name="Google Shape;361;g2ed4f072cc1_0_159"/>
          <p:cNvCxnSpPr/>
          <p:nvPr/>
        </p:nvCxnSpPr>
        <p:spPr>
          <a:xfrm flipH="1">
            <a:off x="5581025" y="3078250"/>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362" name="Google Shape;362;g2ed4f072cc1_0_159"/>
          <p:cNvCxnSpPr/>
          <p:nvPr/>
        </p:nvCxnSpPr>
        <p:spPr>
          <a:xfrm rot="10800000">
            <a:off x="5581050" y="3205750"/>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363" name="Google Shape;363;g2ed4f072cc1_0_159"/>
          <p:cNvGrpSpPr/>
          <p:nvPr/>
        </p:nvGrpSpPr>
        <p:grpSpPr>
          <a:xfrm>
            <a:off x="5073282" y="2723354"/>
            <a:ext cx="256372" cy="880500"/>
            <a:chOff x="3179220" y="1005991"/>
            <a:chExt cx="256372" cy="880500"/>
          </a:xfrm>
        </p:grpSpPr>
        <p:sp>
          <p:nvSpPr>
            <p:cNvPr id="364" name="Google Shape;364;g2ed4f072cc1_0_159"/>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65" name="Google Shape;365;g2ed4f072cc1_0_159"/>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66" name="Google Shape;366;g2ed4f072cc1_0_159"/>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67" name="Google Shape;367;g2ed4f072cc1_0_159"/>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68" name="Google Shape;368;g2ed4f072cc1_0_159"/>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369" name="Google Shape;369;g2ed4f072cc1_0_159"/>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50"/>
              <a:buFont typeface="Arial"/>
              <a:buNone/>
            </a:pPr>
            <a:r>
              <a:rPr lang="en-GB" sz="1350">
                <a:latin typeface="Calibri"/>
                <a:ea typeface="Calibri"/>
                <a:cs typeface="Calibri"/>
                <a:sym typeface="Calibri"/>
              </a:rPr>
              <a:t>testing</a:t>
            </a:r>
            <a:r>
              <a:rPr b="0" i="0" lang="en-GB" sz="1350" u="none" cap="none" strike="noStrike">
                <a:solidFill>
                  <a:srgbClr val="000000"/>
                </a:solidFill>
                <a:latin typeface="Calibri"/>
                <a:ea typeface="Calibri"/>
                <a:cs typeface="Calibri"/>
                <a:sym typeface="Calibri"/>
              </a:rPr>
              <a:t> parameters</a:t>
            </a:r>
            <a:endParaRPr b="0" i="0" sz="1400" u="none" cap="none" strike="noStrike">
              <a:solidFill>
                <a:srgbClr val="000000"/>
              </a:solidFill>
              <a:latin typeface="Arial"/>
              <a:ea typeface="Arial"/>
              <a:cs typeface="Arial"/>
              <a:sym typeface="Arial"/>
            </a:endParaRPr>
          </a:p>
        </p:txBody>
      </p:sp>
      <p:cxnSp>
        <p:nvCxnSpPr>
          <p:cNvPr id="370" name="Google Shape;370;g2ed4f072cc1_0_159"/>
          <p:cNvCxnSpPr/>
          <p:nvPr/>
        </p:nvCxnSpPr>
        <p:spPr>
          <a:xfrm>
            <a:off x="128800" y="1524150"/>
            <a:ext cx="353700" cy="0"/>
          </a:xfrm>
          <a:prstGeom prst="straightConnector1">
            <a:avLst/>
          </a:prstGeom>
          <a:noFill/>
          <a:ln cap="flat" cmpd="sng" w="9525">
            <a:solidFill>
              <a:srgbClr val="44546A"/>
            </a:solidFill>
            <a:prstDash val="solid"/>
            <a:round/>
            <a:headEnd len="sm" w="sm" type="none"/>
            <a:tailEnd len="med" w="med" type="triangle"/>
          </a:ln>
        </p:spPr>
      </p:cxnSp>
      <p:cxnSp>
        <p:nvCxnSpPr>
          <p:cNvPr id="371" name="Google Shape;371;g2ed4f072cc1_0_159"/>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sm" w="sm" type="none"/>
            <a:tailEnd len="sm" w="sm" type="none"/>
          </a:ln>
        </p:spPr>
      </p:cxnSp>
      <p:cxnSp>
        <p:nvCxnSpPr>
          <p:cNvPr id="372" name="Google Shape;372;g2ed4f072cc1_0_159"/>
          <p:cNvCxnSpPr>
            <a:stCxn id="369" idx="3"/>
          </p:cNvCxnSpPr>
          <p:nvPr/>
        </p:nvCxnSpPr>
        <p:spPr>
          <a:xfrm>
            <a:off x="7418285" y="755881"/>
            <a:ext cx="1596900" cy="2242200"/>
          </a:xfrm>
          <a:prstGeom prst="bentConnector2">
            <a:avLst/>
          </a:prstGeom>
          <a:noFill/>
          <a:ln cap="flat" cmpd="sng" w="9525">
            <a:solidFill>
              <a:srgbClr val="44546A"/>
            </a:solidFill>
            <a:prstDash val="solid"/>
            <a:round/>
            <a:headEnd len="sm" w="sm" type="none"/>
            <a:tailEnd len="sm" w="sm" type="none"/>
          </a:ln>
        </p:spPr>
      </p:cxnSp>
      <p:cxnSp>
        <p:nvCxnSpPr>
          <p:cNvPr id="373" name="Google Shape;373;g2ed4f072cc1_0_159"/>
          <p:cNvCxnSpPr/>
          <p:nvPr/>
        </p:nvCxnSpPr>
        <p:spPr>
          <a:xfrm rot="10800000">
            <a:off x="8875600" y="2995500"/>
            <a:ext cx="139500" cy="0"/>
          </a:xfrm>
          <a:prstGeom prst="straightConnector1">
            <a:avLst/>
          </a:prstGeom>
          <a:noFill/>
          <a:ln cap="flat" cmpd="sng" w="9525">
            <a:solidFill>
              <a:srgbClr val="44546A"/>
            </a:solidFill>
            <a:prstDash val="solid"/>
            <a:round/>
            <a:headEnd len="sm" w="sm" type="none"/>
            <a:tailEnd len="med" w="med" type="triangle"/>
          </a:ln>
        </p:spPr>
      </p:cxnSp>
      <p:sp>
        <p:nvSpPr>
          <p:cNvPr id="374" name="Google Shape;374;g2ed4f072cc1_0_159"/>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FOM</a:t>
            </a:r>
            <a:endParaRPr b="0" i="0" sz="1400" u="none" cap="none" strike="noStrike">
              <a:solidFill>
                <a:srgbClr val="000000"/>
              </a:solidFill>
              <a:latin typeface="Arial"/>
              <a:ea typeface="Arial"/>
              <a:cs typeface="Arial"/>
              <a:sym typeface="Arial"/>
            </a:endParaRPr>
          </a:p>
        </p:txBody>
      </p:sp>
      <p:cxnSp>
        <p:nvCxnSpPr>
          <p:cNvPr id="375" name="Google Shape;375;g2ed4f072cc1_0_159"/>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376" name="Google Shape;376;g2ed4f072cc1_0_159"/>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377" name="Google Shape;377;g2ed4f072cc1_0_159"/>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378" name="Google Shape;378;g2ed4f072cc1_0_159"/>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379" name="Google Shape;379;g2ed4f072cc1_0_159"/>
          <p:cNvSpPr txBox="1"/>
          <p:nvPr/>
        </p:nvSpPr>
        <p:spPr>
          <a:xfrm>
            <a:off x="782600" y="3724650"/>
            <a:ext cx="4220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a:t>
            </a:r>
            <a:r>
              <a:rPr b="1" lang="en-GB" sz="2300">
                <a:solidFill>
                  <a:schemeClr val="dk2"/>
                </a:solidFill>
                <a:latin typeface="Lato"/>
                <a:ea typeface="Lato"/>
                <a:cs typeface="Lato"/>
                <a:sym typeface="Lato"/>
              </a:rPr>
              <a:t>Test</a:t>
            </a:r>
            <a:r>
              <a:rPr b="1" i="0" lang="en-GB" sz="2300" u="none" cap="none" strike="noStrike">
                <a:solidFill>
                  <a:schemeClr val="dk2"/>
                </a:solidFill>
                <a:latin typeface="Lato"/>
                <a:ea typeface="Lato"/>
                <a:cs typeface="Lato"/>
                <a:sym typeface="Lato"/>
              </a:rPr>
              <a:t>(mu_test)</a:t>
            </a:r>
            <a:endParaRPr b="1" i="0" sz="2300" u="none" cap="none" strike="noStrike">
              <a:solidFill>
                <a:schemeClr val="dk2"/>
              </a:solidFill>
              <a:latin typeface="Lato"/>
              <a:ea typeface="Lato"/>
              <a:cs typeface="Lato"/>
              <a:sym typeface="Lato"/>
            </a:endParaRPr>
          </a:p>
        </p:txBody>
      </p:sp>
      <p:cxnSp>
        <p:nvCxnSpPr>
          <p:cNvPr id="380" name="Google Shape;380;g2ed4f072cc1_0_159"/>
          <p:cNvCxnSpPr>
            <a:stCxn id="381" idx="3"/>
          </p:cNvCxnSpPr>
          <p:nvPr/>
        </p:nvCxnSpPr>
        <p:spPr>
          <a:xfrm rot="10800000">
            <a:off x="4164350" y="2152925"/>
            <a:ext cx="324600" cy="877500"/>
          </a:xfrm>
          <a:prstGeom prst="straightConnector1">
            <a:avLst/>
          </a:prstGeom>
          <a:noFill/>
          <a:ln cap="flat" cmpd="sng" w="9525">
            <a:solidFill>
              <a:schemeClr val="dk2"/>
            </a:solidFill>
            <a:prstDash val="solid"/>
            <a:round/>
            <a:headEnd len="sm" w="sm" type="none"/>
            <a:tailEnd len="med" w="med" type="triangle"/>
          </a:ln>
        </p:spPr>
      </p:cxnSp>
      <p:cxnSp>
        <p:nvCxnSpPr>
          <p:cNvPr id="382" name="Google Shape;382;g2ed4f072cc1_0_159"/>
          <p:cNvCxnSpPr>
            <a:stCxn id="381" idx="3"/>
          </p:cNvCxnSpPr>
          <p:nvPr/>
        </p:nvCxnSpPr>
        <p:spPr>
          <a:xfrm>
            <a:off x="4488950" y="3030425"/>
            <a:ext cx="584400" cy="133200"/>
          </a:xfrm>
          <a:prstGeom prst="straightConnector1">
            <a:avLst/>
          </a:prstGeom>
          <a:noFill/>
          <a:ln cap="flat" cmpd="sng" w="9525">
            <a:solidFill>
              <a:schemeClr val="dk2"/>
            </a:solidFill>
            <a:prstDash val="solid"/>
            <a:round/>
            <a:headEnd len="sm" w="sm" type="none"/>
            <a:tailEnd len="med" w="med" type="triangle"/>
          </a:ln>
        </p:spPr>
      </p:cxnSp>
      <p:sp>
        <p:nvSpPr>
          <p:cNvPr id="381" name="Google Shape;381;g2ed4f072cc1_0_159"/>
          <p:cNvSpPr txBox="1"/>
          <p:nvPr/>
        </p:nvSpPr>
        <p:spPr>
          <a:xfrm>
            <a:off x="3221750" y="28804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chemeClr val="accent1"/>
                </a:solidFill>
                <a:latin typeface="Lato"/>
                <a:ea typeface="Lato"/>
                <a:cs typeface="Lato"/>
                <a:sym typeface="Lato"/>
              </a:rPr>
              <a:t>Validate</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descr="&lt;math xmlns=&quot;http://www.w3.org/1998/Math/MathML&quot;&gt;&lt;msub&gt;&lt;mi&gt;&amp;#x3BC;&lt;/mi&gt;&lt;mn&gt;1&lt;/mn&gt;&lt;/msub&gt;&lt;/math&gt;" id="388" name="Google Shape;388;g2ed4f072cc1_0_233" title="mu subscript 1"/>
          <p:cNvPicPr preferRelativeResize="0"/>
          <p:nvPr/>
        </p:nvPicPr>
        <p:blipFill rotWithShape="1">
          <a:blip r:embed="rId3">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389" name="Google Shape;389;g2ed4f072cc1_0_233" title="mu subscript p"/>
          <p:cNvPicPr preferRelativeResize="0"/>
          <p:nvPr/>
        </p:nvPicPr>
        <p:blipFill rotWithShape="1">
          <a:blip r:embed="rId4">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390" name="Google Shape;390;g2ed4f072cc1_0_233" title="vertical ellipsis"/>
          <p:cNvPicPr preferRelativeResize="0"/>
          <p:nvPr/>
        </p:nvPicPr>
        <p:blipFill rotWithShape="1">
          <a:blip r:embed="rId5">
            <a:alphaModFix/>
          </a:blip>
          <a:srcRect b="0" l="0" r="0" t="0"/>
          <a:stretch/>
        </p:blipFill>
        <p:spPr>
          <a:xfrm>
            <a:off x="624650" y="1607548"/>
            <a:ext cx="256475" cy="197925"/>
          </a:xfrm>
          <a:prstGeom prst="rect">
            <a:avLst/>
          </a:prstGeom>
          <a:noFill/>
          <a:ln>
            <a:noFill/>
          </a:ln>
        </p:spPr>
      </p:pic>
      <p:cxnSp>
        <p:nvCxnSpPr>
          <p:cNvPr id="391" name="Google Shape;391;g2ed4f072cc1_0_233"/>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92" name="Google Shape;392;g2ed4f072cc1_0_233"/>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393" name="Google Shape;393;g2ed4f072cc1_0_233"/>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2ed4f072cc1_0_233"/>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5" name="Google Shape;395;g2ed4f072cc1_0_233"/>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396" name="Google Shape;396;g2ed4f072cc1_0_233" title="vertical ellipsis"/>
          <p:cNvPicPr preferRelativeResize="0"/>
          <p:nvPr/>
        </p:nvPicPr>
        <p:blipFill rotWithShape="1">
          <a:blip r:embed="rId5">
            <a:alphaModFix/>
          </a:blip>
          <a:srcRect b="0" l="0" r="0" t="0"/>
          <a:stretch/>
        </p:blipFill>
        <p:spPr>
          <a:xfrm>
            <a:off x="1606887" y="1606910"/>
            <a:ext cx="256475" cy="197925"/>
          </a:xfrm>
          <a:prstGeom prst="rect">
            <a:avLst/>
          </a:prstGeom>
          <a:noFill/>
          <a:ln>
            <a:noFill/>
          </a:ln>
        </p:spPr>
      </p:pic>
      <p:sp>
        <p:nvSpPr>
          <p:cNvPr id="397" name="Google Shape;397;g2ed4f072cc1_0_233"/>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8" name="Google Shape;398;g2ed4f072cc1_0_233"/>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399" name="Google Shape;399;g2ed4f072cc1_0_233"/>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FOM</a:t>
            </a:r>
            <a:endParaRPr b="0" i="0" sz="1400" u="none" cap="none" strike="noStrike">
              <a:solidFill>
                <a:srgbClr val="000000"/>
              </a:solidFill>
              <a:latin typeface="Arial"/>
              <a:ea typeface="Arial"/>
              <a:cs typeface="Arial"/>
              <a:sym typeface="Arial"/>
            </a:endParaRPr>
          </a:p>
        </p:txBody>
      </p:sp>
      <p:cxnSp>
        <p:nvCxnSpPr>
          <p:cNvPr id="400" name="Google Shape;400;g2ed4f072cc1_0_233"/>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401" name="Google Shape;401;g2ed4f072cc1_0_233"/>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402" name="Google Shape;402;g2ed4f072cc1_0_233"/>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403" name="Google Shape;403;g2ed4f072cc1_0_233"/>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404" name="Google Shape;404;g2ed4f072cc1_0_233"/>
          <p:cNvSpPr txBox="1"/>
          <p:nvPr/>
        </p:nvSpPr>
        <p:spPr>
          <a:xfrm>
            <a:off x="782600" y="3724650"/>
            <a:ext cx="45471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a:t>
            </a:r>
            <a:r>
              <a:rPr b="1" lang="en-GB" sz="2300">
                <a:solidFill>
                  <a:schemeClr val="dk2"/>
                </a:solidFill>
                <a:latin typeface="Lato"/>
                <a:ea typeface="Lato"/>
                <a:cs typeface="Lato"/>
                <a:sym typeface="Lato"/>
              </a:rPr>
              <a:t>RunFOM</a:t>
            </a:r>
            <a:r>
              <a:rPr b="1" i="0" lang="en-GB" sz="2300" u="none" cap="none" strike="noStrike">
                <a:solidFill>
                  <a:schemeClr val="dk2"/>
                </a:solidFill>
                <a:latin typeface="Lato"/>
                <a:ea typeface="Lato"/>
                <a:cs typeface="Lato"/>
                <a:sym typeface="Lato"/>
              </a:rPr>
              <a:t>(mu_</a:t>
            </a:r>
            <a:r>
              <a:rPr b="1" lang="en-GB" sz="2300">
                <a:solidFill>
                  <a:schemeClr val="dk2"/>
                </a:solidFill>
                <a:latin typeface="Lato"/>
                <a:ea typeface="Lato"/>
                <a:cs typeface="Lato"/>
                <a:sym typeface="Lato"/>
              </a:rPr>
              <a:t>run</a:t>
            </a:r>
            <a:r>
              <a:rPr b="1" i="0" lang="en-GB" sz="2300" u="none" cap="none" strike="noStrike">
                <a:solidFill>
                  <a:schemeClr val="dk2"/>
                </a:solidFill>
                <a:latin typeface="Lato"/>
                <a:ea typeface="Lato"/>
                <a:cs typeface="Lato"/>
                <a:sym typeface="Lato"/>
              </a:rPr>
              <a:t>)</a:t>
            </a:r>
            <a:endParaRPr b="1" i="0" sz="2300" u="none" cap="none" strike="noStrike">
              <a:solidFill>
                <a:schemeClr val="dk2"/>
              </a:solidFill>
              <a:latin typeface="Lato"/>
              <a:ea typeface="Lato"/>
              <a:cs typeface="Lato"/>
              <a:sym typeface="Lato"/>
            </a:endParaRPr>
          </a:p>
        </p:txBody>
      </p:sp>
      <p:sp>
        <p:nvSpPr>
          <p:cNvPr id="405" name="Google Shape;405;g2ed4f072cc1_0_233"/>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406" name="Google Shape;406;g2ed4f072cc1_0_233"/>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407" name="Google Shape;407;g2ed4f072cc1_0_233"/>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408" name="Google Shape;408;g2ed4f072cc1_0_233" title="vertical ellipsis"/>
          <p:cNvPicPr preferRelativeResize="0"/>
          <p:nvPr/>
        </p:nvPicPr>
        <p:blipFill rotWithShape="1">
          <a:blip r:embed="rId5">
            <a:alphaModFix/>
          </a:blip>
          <a:srcRect b="0" l="0" r="0" t="0"/>
          <a:stretch/>
        </p:blipFill>
        <p:spPr>
          <a:xfrm>
            <a:off x="2565138" y="1616160"/>
            <a:ext cx="256475" cy="197925"/>
          </a:xfrm>
          <a:prstGeom prst="rect">
            <a:avLst/>
          </a:prstGeom>
          <a:noFill/>
          <a:ln>
            <a:noFill/>
          </a:ln>
        </p:spPr>
      </p:pic>
      <p:cxnSp>
        <p:nvCxnSpPr>
          <p:cNvPr id="409" name="Google Shape;409;g2ed4f072cc1_0_233"/>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lt;math xmlns=&quot;http://www.w3.org/1998/Math/MathML&quot;&gt;&lt;msub&gt;&lt;mi&gt;&amp;#x3BC;&lt;/mi&gt;&lt;mn&gt;1&lt;/mn&gt;&lt;/msub&gt;&lt;/math&gt;" id="415" name="Google Shape;415;g2ed4f072cc1_0_303" title="mu subscript 1"/>
          <p:cNvPicPr preferRelativeResize="0"/>
          <p:nvPr/>
        </p:nvPicPr>
        <p:blipFill rotWithShape="1">
          <a:blip r:embed="rId3">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416" name="Google Shape;416;g2ed4f072cc1_0_303" title="mu subscript p"/>
          <p:cNvPicPr preferRelativeResize="0"/>
          <p:nvPr/>
        </p:nvPicPr>
        <p:blipFill rotWithShape="1">
          <a:blip r:embed="rId4">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417" name="Google Shape;417;g2ed4f072cc1_0_303" title="vertical ellipsis"/>
          <p:cNvPicPr preferRelativeResize="0"/>
          <p:nvPr/>
        </p:nvPicPr>
        <p:blipFill rotWithShape="1">
          <a:blip r:embed="rId5">
            <a:alphaModFix/>
          </a:blip>
          <a:srcRect b="0" l="0" r="0" t="0"/>
          <a:stretch/>
        </p:blipFill>
        <p:spPr>
          <a:xfrm>
            <a:off x="624650" y="1607548"/>
            <a:ext cx="256475" cy="197925"/>
          </a:xfrm>
          <a:prstGeom prst="rect">
            <a:avLst/>
          </a:prstGeom>
          <a:noFill/>
          <a:ln>
            <a:noFill/>
          </a:ln>
        </p:spPr>
      </p:pic>
      <p:cxnSp>
        <p:nvCxnSpPr>
          <p:cNvPr id="418" name="Google Shape;418;g2ed4f072cc1_0_303"/>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419" name="Google Shape;419;g2ed4f072cc1_0_303"/>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420" name="Google Shape;420;g2ed4f072cc1_0_303"/>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g2ed4f072cc1_0_303"/>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2" name="Google Shape;422;g2ed4f072cc1_0_303"/>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423" name="Google Shape;423;g2ed4f072cc1_0_303" title="vertical ellipsis"/>
          <p:cNvPicPr preferRelativeResize="0"/>
          <p:nvPr/>
        </p:nvPicPr>
        <p:blipFill rotWithShape="1">
          <a:blip r:embed="rId5">
            <a:alphaModFix/>
          </a:blip>
          <a:srcRect b="0" l="0" r="0" t="0"/>
          <a:stretch/>
        </p:blipFill>
        <p:spPr>
          <a:xfrm>
            <a:off x="1606887" y="1606910"/>
            <a:ext cx="256475" cy="197925"/>
          </a:xfrm>
          <a:prstGeom prst="rect">
            <a:avLst/>
          </a:prstGeom>
          <a:noFill/>
          <a:ln>
            <a:noFill/>
          </a:ln>
        </p:spPr>
      </p:pic>
      <p:sp>
        <p:nvSpPr>
          <p:cNvPr id="424" name="Google Shape;424;g2ed4f072cc1_0_303"/>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5" name="Google Shape;425;g2ed4f072cc1_0_303"/>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426" name="Google Shape;426;g2ed4f072cc1_0_303"/>
          <p:cNvSpPr/>
          <p:nvPr/>
        </p:nvSpPr>
        <p:spPr>
          <a:xfrm>
            <a:off x="2616125" y="19912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427" name="Google Shape;427;g2ed4f072cc1_0_303"/>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428" name="Google Shape;428;g2ed4f072cc1_0_303"/>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429" name="Google Shape;429;g2ed4f072cc1_0_303"/>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430" name="Google Shape;430;g2ed4f072cc1_0_303"/>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431" name="Google Shape;431;g2ed4f072cc1_0_303"/>
          <p:cNvSpPr txBox="1"/>
          <p:nvPr/>
        </p:nvSpPr>
        <p:spPr>
          <a:xfrm>
            <a:off x="782600" y="3724650"/>
            <a:ext cx="45471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a:t>
            </a:r>
            <a:r>
              <a:rPr b="1" lang="en-GB" sz="2300">
                <a:solidFill>
                  <a:schemeClr val="dk2"/>
                </a:solidFill>
                <a:latin typeface="Lato"/>
                <a:ea typeface="Lato"/>
                <a:cs typeface="Lato"/>
                <a:sym typeface="Lato"/>
              </a:rPr>
              <a:t>RunROM</a:t>
            </a:r>
            <a:r>
              <a:rPr b="1" i="0" lang="en-GB" sz="2300" u="none" cap="none" strike="noStrike">
                <a:solidFill>
                  <a:schemeClr val="dk2"/>
                </a:solidFill>
                <a:latin typeface="Lato"/>
                <a:ea typeface="Lato"/>
                <a:cs typeface="Lato"/>
                <a:sym typeface="Lato"/>
              </a:rPr>
              <a:t>(mu_</a:t>
            </a:r>
            <a:r>
              <a:rPr b="1" lang="en-GB" sz="2300">
                <a:solidFill>
                  <a:schemeClr val="dk2"/>
                </a:solidFill>
                <a:latin typeface="Lato"/>
                <a:ea typeface="Lato"/>
                <a:cs typeface="Lato"/>
                <a:sym typeface="Lato"/>
              </a:rPr>
              <a:t>run</a:t>
            </a:r>
            <a:r>
              <a:rPr b="1" i="0" lang="en-GB" sz="2300" u="none" cap="none" strike="noStrike">
                <a:solidFill>
                  <a:schemeClr val="dk2"/>
                </a:solidFill>
                <a:latin typeface="Lato"/>
                <a:ea typeface="Lato"/>
                <a:cs typeface="Lato"/>
                <a:sym typeface="Lato"/>
              </a:rPr>
              <a:t>)</a:t>
            </a:r>
            <a:endParaRPr b="1" i="0" sz="2300" u="none" cap="none" strike="noStrike">
              <a:solidFill>
                <a:schemeClr val="dk2"/>
              </a:solidFill>
              <a:latin typeface="Lato"/>
              <a:ea typeface="Lato"/>
              <a:cs typeface="Lato"/>
              <a:sym typeface="Lato"/>
            </a:endParaRPr>
          </a:p>
        </p:txBody>
      </p:sp>
      <p:sp>
        <p:nvSpPr>
          <p:cNvPr id="432" name="Google Shape;432;g2ed4f072cc1_0_303"/>
          <p:cNvSpPr txBox="1"/>
          <p:nvPr/>
        </p:nvSpPr>
        <p:spPr>
          <a:xfrm>
            <a:off x="1422513" y="862213"/>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cxnSp>
        <p:nvCxnSpPr>
          <p:cNvPr id="433" name="Google Shape;433;g2ed4f072cc1_0_303"/>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o&gt;&amp;#x22EE;&lt;/mo&gt;&lt;/math&gt;" id="434" name="Google Shape;434;g2ed4f072cc1_0_303" title="vertical ellipsis"/>
          <p:cNvPicPr preferRelativeResize="0"/>
          <p:nvPr/>
        </p:nvPicPr>
        <p:blipFill rotWithShape="1">
          <a:blip r:embed="rId5">
            <a:alphaModFix/>
          </a:blip>
          <a:srcRect b="0" l="0" r="0" t="0"/>
          <a:stretch/>
        </p:blipFill>
        <p:spPr>
          <a:xfrm>
            <a:off x="2565138" y="1616160"/>
            <a:ext cx="256475" cy="197925"/>
          </a:xfrm>
          <a:prstGeom prst="rect">
            <a:avLst/>
          </a:prstGeom>
          <a:noFill/>
          <a:ln>
            <a:noFill/>
          </a:ln>
        </p:spPr>
      </p:pic>
      <p:cxnSp>
        <p:nvCxnSpPr>
          <p:cNvPr id="435" name="Google Shape;435;g2ed4f072cc1_0_303"/>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436" name="Google Shape;436;g2ed4f072cc1_0_303"/>
          <p:cNvSpPr/>
          <p:nvPr/>
        </p:nvSpPr>
        <p:spPr>
          <a:xfrm>
            <a:off x="2611200" y="1233338"/>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