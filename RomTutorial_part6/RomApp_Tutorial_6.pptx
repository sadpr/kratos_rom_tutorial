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aleway"/>
      <p:regular r:id="rId13"/>
      <p:bold r:id="rId14"/>
      <p:italic r:id="rId15"/>
      <p:boldItalic r:id="rId16"/>
    </p:embeddedFont>
    <p:embeddedFont>
      <p:font typeface="Lato"/>
      <p:regular r:id="rId17"/>
      <p:bold r:id="rId18"/>
      <p:italic r:id="rId19"/>
      <p:boldItalic r:id="rId20"/>
    </p:embeddedFont>
    <p:embeddedFont>
      <p:font typeface="Helvetica Neue"/>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 roundtripDataSignature="AMtx7mgy68Nxuit8FpaNKjdGfCavcLfo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regular.fntdata"/><Relationship Id="rId12" Type="http://schemas.openxmlformats.org/officeDocument/2006/relationships/slide" Target="slides/slide7.xml"/><Relationship Id="rId15" Type="http://schemas.openxmlformats.org/officeDocument/2006/relationships/font" Target="fonts/Raleway-italic.fntdata"/><Relationship Id="rId14" Type="http://schemas.openxmlformats.org/officeDocument/2006/relationships/font" Target="fonts/Raleway-bold.fntdata"/><Relationship Id="rId17" Type="http://schemas.openxmlformats.org/officeDocument/2006/relationships/font" Target="fonts/Lato-regular.fntdata"/><Relationship Id="rId16" Type="http://schemas.openxmlformats.org/officeDocument/2006/relationships/font" Target="fonts/Raleway-boldItalic.fntdata"/><Relationship Id="rId19" Type="http://schemas.openxmlformats.org/officeDocument/2006/relationships/font" Target="fonts/Lato-italic.fntdata"/><Relationship Id="rId18" Type="http://schemas.openxmlformats.org/officeDocument/2006/relationships/font" Target="fonts/La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d1619b06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ed1619b06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ed1619b06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e2a38d2e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ee2a38d2e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ee2a38d2e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deceed00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edeceed00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edeceed00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e1ed1d33e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2ee1ed1d33e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ee1ed1d33e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edeceed005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2edeceed005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2edeceed005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jpg"/><Relationship Id="rId4" Type="http://schemas.openxmlformats.org/officeDocument/2006/relationships/image" Target="../media/image8.jpg"/><Relationship Id="rId11" Type="http://schemas.openxmlformats.org/officeDocument/2006/relationships/hyperlink" Target="about:blank" TargetMode="External"/><Relationship Id="rId10" Type="http://schemas.openxmlformats.org/officeDocument/2006/relationships/image" Target="../media/image10.png"/><Relationship Id="rId9" Type="http://schemas.openxmlformats.org/officeDocument/2006/relationships/hyperlink" Target="http://www.linkedin.com/company/eflows4hpc" TargetMode="External"/><Relationship Id="rId5" Type="http://schemas.openxmlformats.org/officeDocument/2006/relationships/image" Target="../media/image1.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1"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FOM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ROM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i="0" lang="en-GB" sz="2400" u="none" cap="none" strike="noStrike">
                <a:solidFill>
                  <a:schemeClr val="dk2"/>
                </a:solidFill>
                <a:latin typeface="Calibri"/>
                <a:ea typeface="Calibri"/>
                <a:cs typeface="Calibri"/>
                <a:sym typeface="Calibri"/>
              </a:rPr>
              <a:t>ROM Advanced Options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d1619b06e_1_0"/>
          <p:cNvSpPr txBox="1"/>
          <p:nvPr/>
        </p:nvSpPr>
        <p:spPr>
          <a:xfrm>
            <a:off x="1408650" y="1628800"/>
            <a:ext cx="6326700" cy="11544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500"/>
              <a:buFont typeface="Arial"/>
              <a:buNone/>
            </a:pPr>
            <a:r>
              <a:rPr b="1" lang="en-GB" sz="3500">
                <a:solidFill>
                  <a:schemeClr val="dk2"/>
                </a:solidFill>
                <a:latin typeface="Calibri"/>
                <a:ea typeface="Calibri"/>
                <a:cs typeface="Calibri"/>
                <a:sym typeface="Calibri"/>
              </a:rPr>
              <a:t>ROM Advanced Options </a:t>
            </a:r>
            <a:endParaRPr b="1" i="0" sz="3500" u="none" cap="none" strike="noStrike">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i="0" sz="35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e2a38d2e4_0_0"/>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ROM Advanced Options</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ee2a38d2e4_0_0"/>
          <p:cNvSpPr txBox="1"/>
          <p:nvPr/>
        </p:nvSpPr>
        <p:spPr>
          <a:xfrm>
            <a:off x="615075" y="1134450"/>
            <a:ext cx="8112000" cy="193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a:t>
            </a:r>
            <a:r>
              <a:rPr b="1" lang="en-GB" sz="1900">
                <a:latin typeface="Lato"/>
                <a:ea typeface="Lato"/>
                <a:cs typeface="Lato"/>
                <a:sym typeface="Lato"/>
              </a:rPr>
              <a:t>For postprocessing</a:t>
            </a:r>
            <a:r>
              <a:rPr b="1" i="0" lang="en-GB" sz="1900" u="none" cap="none" strike="noStrike">
                <a:solidFill>
                  <a:srgbClr val="000000"/>
                </a:solidFill>
                <a:latin typeface="Lato"/>
                <a:ea typeface="Lato"/>
                <a:cs typeface="Lato"/>
                <a:sym typeface="Lato"/>
              </a:rPr>
              <a:t>)</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lang="en-GB" sz="1900">
                <a:latin typeface="Lato"/>
                <a:ea typeface="Lato"/>
                <a:cs typeface="Lato"/>
                <a:sym typeface="Lato"/>
              </a:rPr>
              <a:t>FluidDynamicsApplication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edeceed005_0_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ROM Advanced Options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45" name="Google Shape;145;g2edeceed005_0_1"/>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6" name="Google Shape;146;g2edeceed005_0_1"/>
          <p:cNvSpPr txBox="1"/>
          <p:nvPr/>
        </p:nvSpPr>
        <p:spPr>
          <a:xfrm>
            <a:off x="847425" y="1072950"/>
            <a:ext cx="7421700" cy="3530100"/>
          </a:xfrm>
          <a:prstGeom prst="rect">
            <a:avLst/>
          </a:prstGeom>
          <a:noFill/>
          <a:ln>
            <a:noFill/>
          </a:ln>
        </p:spPr>
        <p:txBody>
          <a:bodyPr anchorCtr="0" anchor="t" bIns="91425" lIns="91425" spcFirstLastPara="1" rIns="91425" wrap="square" tIns="91425">
            <a:spAutoFit/>
          </a:bodyPr>
          <a:lstStyle/>
          <a:p>
            <a:pPr indent="-355600" lvl="0" marL="457200" rtl="0" algn="l">
              <a:spcBef>
                <a:spcPts val="750"/>
              </a:spcBef>
              <a:spcAft>
                <a:spcPts val="0"/>
              </a:spcAft>
              <a:buClr>
                <a:srgbClr val="B7B7B7"/>
              </a:buClr>
              <a:buSzPts val="2000"/>
              <a:buFont typeface="Calibri"/>
              <a:buChar char="-"/>
            </a:pPr>
            <a:r>
              <a:rPr b="1" lang="en-GB" sz="2000">
                <a:solidFill>
                  <a:srgbClr val="B7B7B7"/>
                </a:solidFill>
                <a:latin typeface="Calibri"/>
                <a:ea typeface="Calibri"/>
                <a:cs typeface="Calibri"/>
                <a:sym typeface="Calibri"/>
              </a:rPr>
              <a:t>Rom Database</a:t>
            </a:r>
            <a:endParaRPr b="1" sz="2000">
              <a:solidFill>
                <a:srgbClr val="B7B7B7"/>
              </a:solidFill>
              <a:latin typeface="Calibri"/>
              <a:ea typeface="Calibri"/>
              <a:cs typeface="Calibri"/>
              <a:sym typeface="Calibri"/>
            </a:endParaRPr>
          </a:p>
          <a:p>
            <a:pPr indent="-355600" lvl="0" marL="457200" rtl="0" algn="l">
              <a:spcBef>
                <a:spcPts val="750"/>
              </a:spcBef>
              <a:spcAft>
                <a:spcPts val="0"/>
              </a:spcAft>
              <a:buClr>
                <a:schemeClr val="dk2"/>
              </a:buClr>
              <a:buSzPts val="2000"/>
              <a:buFont typeface="Calibri"/>
              <a:buChar char="-"/>
            </a:pPr>
            <a:r>
              <a:rPr b="1" lang="en-GB" sz="2000">
                <a:solidFill>
                  <a:schemeClr val="dk2"/>
                </a:solidFill>
                <a:latin typeface="Calibri"/>
                <a:ea typeface="Calibri"/>
                <a:cs typeface="Calibri"/>
                <a:sym typeface="Calibri"/>
              </a:rPr>
              <a:t>Analysis Stage (More specific customizations)</a:t>
            </a:r>
            <a:endParaRPr b="1" sz="2000">
              <a:solidFill>
                <a:schemeClr val="dk2"/>
              </a:solidFill>
              <a:latin typeface="Calibri"/>
              <a:ea typeface="Calibri"/>
              <a:cs typeface="Calibri"/>
              <a:sym typeface="Calibri"/>
            </a:endParaRPr>
          </a:p>
          <a:p>
            <a:pPr indent="-355600" lvl="0" marL="457200" rtl="0" algn="l">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Using nonconverged solutions</a:t>
            </a:r>
            <a:endParaRPr b="1" sz="2000">
              <a:solidFill>
                <a:srgbClr val="999999"/>
              </a:solidFill>
              <a:latin typeface="Calibri"/>
              <a:ea typeface="Calibri"/>
              <a:cs typeface="Calibri"/>
              <a:sym typeface="Calibri"/>
            </a:endParaRPr>
          </a:p>
          <a:p>
            <a:pPr indent="-355600" lvl="0" marL="457200" rtl="0" algn="l">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Linear or Nonlinear decoder</a:t>
            </a:r>
            <a:endParaRPr b="1" sz="2000">
              <a:solidFill>
                <a:srgbClr val="999999"/>
              </a:solidFill>
              <a:latin typeface="Calibri"/>
              <a:ea typeface="Calibri"/>
              <a:cs typeface="Calibri"/>
              <a:sym typeface="Calibri"/>
            </a:endParaRPr>
          </a:p>
          <a:p>
            <a:pPr indent="-355600" lvl="0" marL="457200" rtl="0" algn="l">
              <a:lnSpc>
                <a:spcPct val="100000"/>
              </a:lnSpc>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Different Projection strategies (Galerkin, LSPG, PG)</a:t>
            </a:r>
            <a:endParaRPr b="1" sz="2000">
              <a:solidFill>
                <a:srgbClr val="999999"/>
              </a:solidFill>
              <a:latin typeface="Calibri"/>
              <a:ea typeface="Calibri"/>
              <a:cs typeface="Calibri"/>
              <a:sym typeface="Calibri"/>
            </a:endParaRPr>
          </a:p>
          <a:p>
            <a:pPr indent="-355600" lvl="0" marL="457200" rtl="0" algn="l">
              <a:lnSpc>
                <a:spcPct val="100000"/>
              </a:lnSpc>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HROM</a:t>
            </a:r>
            <a:endParaRPr b="1" sz="2000">
              <a:solidFill>
                <a:srgbClr val="999999"/>
              </a:solidFill>
              <a:latin typeface="Calibri"/>
              <a:ea typeface="Calibri"/>
              <a:cs typeface="Calibri"/>
              <a:sym typeface="Calibri"/>
            </a:endParaRPr>
          </a:p>
          <a:p>
            <a:pPr indent="0" lvl="0" marL="457200" rtl="0" algn="l">
              <a:lnSpc>
                <a:spcPct val="90000"/>
              </a:lnSpc>
              <a:spcBef>
                <a:spcPts val="750"/>
              </a:spcBef>
              <a:spcAft>
                <a:spcPts val="0"/>
              </a:spcAft>
              <a:buNone/>
            </a:pPr>
            <a:r>
              <a:t/>
            </a:r>
            <a:endParaRPr b="1" sz="2000">
              <a:solidFill>
                <a:srgbClr val="999999"/>
              </a:solidFill>
              <a:latin typeface="Calibri"/>
              <a:ea typeface="Calibri"/>
              <a:cs typeface="Calibri"/>
              <a:sym typeface="Calibri"/>
            </a:endParaRPr>
          </a:p>
          <a:p>
            <a:pPr indent="0" lvl="0" marL="0" rtl="0" algn="l">
              <a:lnSpc>
                <a:spcPct val="90000"/>
              </a:lnSpc>
              <a:spcBef>
                <a:spcPts val="750"/>
              </a:spcBef>
              <a:spcAft>
                <a:spcPts val="0"/>
              </a:spcAft>
              <a:buNone/>
            </a:pPr>
            <a:r>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ee1ed1d33e_0_20"/>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b="1" lang="en-GB" sz="2388">
                <a:solidFill>
                  <a:schemeClr val="dk2"/>
                </a:solidFill>
              </a:rPr>
              <a:t>Passing Parameters </a:t>
            </a:r>
            <a:endParaRPr/>
          </a:p>
        </p:txBody>
      </p:sp>
      <p:sp>
        <p:nvSpPr>
          <p:cNvPr id="153" name="Google Shape;153;g2ee1ed1d33e_0_20"/>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p>
            <a:pPr indent="-355600" lvl="0" marL="457200" rtl="0" algn="l">
              <a:lnSpc>
                <a:spcPct val="90000"/>
              </a:lnSpc>
              <a:spcBef>
                <a:spcPts val="750"/>
              </a:spcBef>
              <a:spcAft>
                <a:spcPts val="0"/>
              </a:spcAft>
              <a:buClr>
                <a:srgbClr val="999999"/>
              </a:buClr>
              <a:buSzPts val="2000"/>
              <a:buChar char="-"/>
            </a:pPr>
            <a:r>
              <a:rPr b="1" lang="en-GB">
                <a:solidFill>
                  <a:srgbClr val="999999"/>
                </a:solidFill>
              </a:rPr>
              <a:t>ProjectParameters.json (Boundary conditions, Loads)</a:t>
            </a:r>
            <a:endParaRPr b="1">
              <a:solidFill>
                <a:srgbClr val="999999"/>
              </a:solidFill>
            </a:endParaRPr>
          </a:p>
          <a:p>
            <a:pPr indent="0" lvl="0" marL="457200" rtl="0" algn="l">
              <a:lnSpc>
                <a:spcPct val="90000"/>
              </a:lnSpc>
              <a:spcBef>
                <a:spcPts val="750"/>
              </a:spcBef>
              <a:spcAft>
                <a:spcPts val="0"/>
              </a:spcAft>
              <a:buSzPts val="2000"/>
              <a:buNone/>
            </a:pPr>
            <a:r>
              <a:t/>
            </a:r>
            <a:endParaRPr b="1"/>
          </a:p>
          <a:p>
            <a:pPr indent="-355600" lvl="0" marL="457200" rtl="0" algn="l">
              <a:lnSpc>
                <a:spcPct val="90000"/>
              </a:lnSpc>
              <a:spcBef>
                <a:spcPts val="750"/>
              </a:spcBef>
              <a:spcAft>
                <a:spcPts val="0"/>
              </a:spcAft>
              <a:buClr>
                <a:srgbClr val="B7B7B7"/>
              </a:buClr>
              <a:buSzPts val="2000"/>
              <a:buChar char="-"/>
            </a:pPr>
            <a:r>
              <a:rPr b="1" lang="en-GB">
                <a:solidFill>
                  <a:srgbClr val="B7B7B7"/>
                </a:solidFill>
              </a:rPr>
              <a:t>Materials.json (Material Properties)</a:t>
            </a:r>
            <a:endParaRPr b="1">
              <a:solidFill>
                <a:srgbClr val="B7B7B7"/>
              </a:solidFill>
            </a:endParaRPr>
          </a:p>
          <a:p>
            <a:pPr indent="0" lvl="0" marL="457200" rtl="0" algn="l">
              <a:lnSpc>
                <a:spcPct val="90000"/>
              </a:lnSpc>
              <a:spcBef>
                <a:spcPts val="750"/>
              </a:spcBef>
              <a:spcAft>
                <a:spcPts val="0"/>
              </a:spcAft>
              <a:buSzPts val="2000"/>
              <a:buNone/>
            </a:pPr>
            <a:r>
              <a:t/>
            </a:r>
            <a:endParaRPr b="1">
              <a:solidFill>
                <a:srgbClr val="999999"/>
              </a:solidFill>
            </a:endParaRPr>
          </a:p>
          <a:p>
            <a:pPr indent="-355600" lvl="0" marL="457200" rtl="0" algn="l">
              <a:lnSpc>
                <a:spcPct val="90000"/>
              </a:lnSpc>
              <a:spcBef>
                <a:spcPts val="750"/>
              </a:spcBef>
              <a:spcAft>
                <a:spcPts val="0"/>
              </a:spcAft>
              <a:buClr>
                <a:schemeClr val="dk2"/>
              </a:buClr>
              <a:buSzPts val="2000"/>
              <a:buChar char="-"/>
            </a:pPr>
            <a:r>
              <a:rPr b="1" lang="en-GB">
                <a:solidFill>
                  <a:schemeClr val="dk2"/>
                </a:solidFill>
              </a:rPr>
              <a:t>Analysis Stage (More specific customizations)</a:t>
            </a:r>
            <a:endParaRPr b="1">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edeceed005_0_118"/>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AnalysisStage </a:t>
            </a:r>
            <a:r>
              <a:rPr b="1" lang="en-GB" sz="2500">
                <a:solidFill>
                  <a:schemeClr val="dk2"/>
                </a:solidFill>
              </a:rPr>
              <a:t>(More specific customizations)</a:t>
            </a:r>
            <a:endParaRPr b="1" sz="35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60" name="Google Shape;160;g2edeceed005_0_118"/>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1" name="Google Shape;161;g2edeceed005_0_118"/>
          <p:cNvSpPr txBox="1"/>
          <p:nvPr/>
        </p:nvSpPr>
        <p:spPr>
          <a:xfrm>
            <a:off x="847425" y="1072950"/>
            <a:ext cx="7421700" cy="1105800"/>
          </a:xfrm>
          <a:prstGeom prst="rect">
            <a:avLst/>
          </a:prstGeom>
          <a:noFill/>
          <a:ln>
            <a:noFill/>
          </a:ln>
        </p:spPr>
        <p:txBody>
          <a:bodyPr anchorCtr="0" anchor="t" bIns="91425" lIns="91425" spcFirstLastPara="1" rIns="91425" wrap="square" tIns="91425">
            <a:spAutoFit/>
          </a:bodyPr>
          <a:lstStyle/>
          <a:p>
            <a:pPr indent="0" lvl="0" marL="457200" rtl="0" algn="l">
              <a:lnSpc>
                <a:spcPct val="90000"/>
              </a:lnSpc>
              <a:spcBef>
                <a:spcPts val="750"/>
              </a:spcBef>
              <a:spcAft>
                <a:spcPts val="0"/>
              </a:spcAft>
              <a:buNone/>
            </a:pPr>
            <a:r>
              <a:t/>
            </a:r>
            <a:endParaRPr b="1" sz="2000">
              <a:solidFill>
                <a:srgbClr val="999999"/>
              </a:solidFill>
              <a:latin typeface="Calibri"/>
              <a:ea typeface="Calibri"/>
              <a:cs typeface="Calibri"/>
              <a:sym typeface="Calibri"/>
            </a:endParaRPr>
          </a:p>
          <a:p>
            <a:pPr indent="0" lvl="0" marL="0" rtl="0" algn="l">
              <a:lnSpc>
                <a:spcPct val="90000"/>
              </a:lnSpc>
              <a:spcBef>
                <a:spcPts val="750"/>
              </a:spcBef>
              <a:spcAft>
                <a:spcPts val="0"/>
              </a:spcAft>
              <a:buNone/>
            </a:pPr>
            <a:r>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2" name="Google Shape;162;g2edeceed005_0_118"/>
          <p:cNvSpPr/>
          <p:nvPr/>
        </p:nvSpPr>
        <p:spPr>
          <a:xfrm>
            <a:off x="678450" y="818000"/>
            <a:ext cx="7787100" cy="36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2edeceed005_0_118"/>
          <p:cNvSpPr txBox="1"/>
          <p:nvPr/>
        </p:nvSpPr>
        <p:spPr>
          <a:xfrm>
            <a:off x="824525" y="935775"/>
            <a:ext cx="2761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ato"/>
                <a:ea typeface="Lato"/>
                <a:cs typeface="Lato"/>
                <a:sym typeface="Lato"/>
              </a:rPr>
              <a:t>Properties:</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_solver</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project_parameters</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parallel_type</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a:t>
            </a:r>
            <a:endParaRPr sz="1600">
              <a:latin typeface="Lato"/>
              <a:ea typeface="Lato"/>
              <a:cs typeface="Lato"/>
              <a:sym typeface="Lato"/>
            </a:endParaRPr>
          </a:p>
        </p:txBody>
      </p:sp>
      <p:sp>
        <p:nvSpPr>
          <p:cNvPr id="164" name="Google Shape;164;g2edeceed005_0_118"/>
          <p:cNvSpPr txBox="1"/>
          <p:nvPr/>
        </p:nvSpPr>
        <p:spPr>
          <a:xfrm>
            <a:off x="4434950" y="997100"/>
            <a:ext cx="3255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ato"/>
                <a:ea typeface="Lato"/>
                <a:cs typeface="Lato"/>
                <a:sym typeface="Lato"/>
              </a:rPr>
              <a:t>Methods:</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_GetSolver()</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InitializeSolutionStep()</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Run()</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lang="en-GB" sz="1600">
                <a:latin typeface="Lato"/>
                <a:ea typeface="Lato"/>
                <a:cs typeface="Lato"/>
                <a:sym typeface="Lato"/>
              </a:rPr>
              <a:t>…</a:t>
            </a:r>
            <a:endParaRPr sz="1600">
              <a:latin typeface="Lato"/>
              <a:ea typeface="Lato"/>
              <a:cs typeface="Lato"/>
              <a:sym typeface="Lato"/>
            </a:endParaRPr>
          </a:p>
          <a:p>
            <a:pPr indent="0" lvl="0" marL="0" rtl="0" algn="l">
              <a:spcBef>
                <a:spcPts val="0"/>
              </a:spcBef>
              <a:spcAft>
                <a:spcPts val="0"/>
              </a:spcAft>
              <a:buNone/>
            </a:pPr>
            <a:r>
              <a:t/>
            </a:r>
            <a:endParaRPr sz="1600">
              <a:latin typeface="Lato"/>
              <a:ea typeface="Lato"/>
              <a:cs typeface="Lato"/>
              <a:sym typeface="Lato"/>
            </a:endParaRPr>
          </a:p>
        </p:txBody>
      </p:sp>
      <p:pic>
        <p:nvPicPr>
          <p:cNvPr id="165" name="Google Shape;165;g2edeceed005_0_118"/>
          <p:cNvPicPr preferRelativeResize="0"/>
          <p:nvPr/>
        </p:nvPicPr>
        <p:blipFill>
          <a:blip r:embed="rId3">
            <a:alphaModFix/>
          </a:blip>
          <a:stretch>
            <a:fillRect/>
          </a:stretch>
        </p:blipFill>
        <p:spPr>
          <a:xfrm>
            <a:off x="3575920" y="2514900"/>
            <a:ext cx="1814360" cy="18111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