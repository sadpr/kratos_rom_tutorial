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Lato"/>
      <p:regular r:id="rId22"/>
      <p:bold r:id="rId23"/>
      <p:italic r:id="rId24"/>
      <p:boldItalic r:id="rId25"/>
    </p:embeddedFont>
    <p:embeddedFont>
      <p:font typeface="Helvetica Neue"/>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0" roundtripDataSignature="AMtx7mgclELi8JTUYR+/Ao++Uk9Wnkw2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Lato-regular.fntdata"/><Relationship Id="rId21" Type="http://schemas.openxmlformats.org/officeDocument/2006/relationships/font" Target="fonts/Ralew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font" Target="fonts/Lato-boldItalic.fntdata"/><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d1619b06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ed1619b06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ed1619b06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d1619b06e_1_5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2ed1619b06e_1_5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ed1619b06e_1_5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deceed00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edeceed00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2edeceed00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deceed005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2edeceed005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edeceed005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deceed005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2edeceed005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2edeceed005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ee1ed1d33e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ee1ed1d33e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2ee1ed1d33e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e1ed1d33e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ee1ed1d33e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ee1ed1d33e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e1ed1d33e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e1ed1d33e_0_1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2ee1ed1d33e_0_1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ee1ed1d33e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ee1ed1d33e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2ee1ed1d33e_0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edeceed005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2edeceed005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2edeceed005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jpg"/><Relationship Id="rId4" Type="http://schemas.openxmlformats.org/officeDocument/2006/relationships/image" Target="../media/image11.jpg"/><Relationship Id="rId11" Type="http://schemas.openxmlformats.org/officeDocument/2006/relationships/hyperlink" Target="about:blank" TargetMode="External"/><Relationship Id="rId10" Type="http://schemas.openxmlformats.org/officeDocument/2006/relationships/image" Target="../media/image1.png"/><Relationship Id="rId9" Type="http://schemas.openxmlformats.org/officeDocument/2006/relationships/hyperlink" Target="http://www.linkedin.com/company/eflows4hpc" TargetMode="External"/><Relationship Id="rId5" Type="http://schemas.openxmlformats.org/officeDocument/2006/relationships/image" Target="../media/image7.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1"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2.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KratosMultiphysics/Kratos/blob/master/kratos/python_scripts/analysis_stage.p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p1"/>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p1"/>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p1"/>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p1"/>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p1"/>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p1"/>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p2"/>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2"/>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Overview of ROMs in Kratos </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FOM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ROM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Example 2 (FluidDynamics)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i="0" lang="en-GB" sz="2400" u="none" cap="none" strike="noStrike">
                <a:solidFill>
                  <a:schemeClr val="dk2"/>
                </a:solidFill>
                <a:latin typeface="Calibri"/>
                <a:ea typeface="Calibri"/>
                <a:cs typeface="Calibri"/>
                <a:sym typeface="Calibri"/>
              </a:rPr>
              <a:t>ROM Advanced Options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d1619b06e_1_0"/>
          <p:cNvSpPr txBox="1"/>
          <p:nvPr/>
        </p:nvSpPr>
        <p:spPr>
          <a:xfrm>
            <a:off x="1408650" y="1628800"/>
            <a:ext cx="6326700" cy="11544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500"/>
              <a:buFont typeface="Arial"/>
              <a:buNone/>
            </a:pPr>
            <a:r>
              <a:rPr b="1" lang="en-GB" sz="3500">
                <a:solidFill>
                  <a:schemeClr val="dk2"/>
                </a:solidFill>
                <a:latin typeface="Calibri"/>
                <a:ea typeface="Calibri"/>
                <a:cs typeface="Calibri"/>
                <a:sym typeface="Calibri"/>
              </a:rPr>
              <a:t>ROM Advanced Options </a:t>
            </a:r>
            <a:endParaRPr b="1" i="0" sz="3500" u="none" cap="none" strike="noStrike">
              <a:solidFill>
                <a:schemeClr val="dk2"/>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500"/>
              <a:buFont typeface="Arial"/>
              <a:buNone/>
            </a:pPr>
            <a:r>
              <a:t/>
            </a:r>
            <a:endParaRPr b="1" i="0" sz="3500" u="none" cap="none" strike="noStrik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ed1619b06e_1_597"/>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ROM Advanced Options</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38" name="Google Shape;138;g2ed1619b06e_1_597"/>
          <p:cNvSpPr txBox="1"/>
          <p:nvPr/>
        </p:nvSpPr>
        <p:spPr>
          <a:xfrm>
            <a:off x="615075" y="1134450"/>
            <a:ext cx="8112000" cy="223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GB" sz="1900" u="none" cap="none" strike="noStrike">
                <a:solidFill>
                  <a:srgbClr val="000000"/>
                </a:solidFill>
                <a:latin typeface="Lato"/>
                <a:ea typeface="Lato"/>
                <a:cs typeface="Lato"/>
                <a:sym typeface="Lato"/>
              </a:rPr>
              <a:t>Requirements: </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GiD </a:t>
            </a:r>
            <a:r>
              <a:rPr b="1" lang="en-GB" sz="1900">
                <a:latin typeface="Lato"/>
                <a:ea typeface="Lato"/>
                <a:cs typeface="Lato"/>
                <a:sym typeface="Lato"/>
              </a:rPr>
              <a:t>or Paraview (For postprocessing)</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Kratos:</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lang="en-GB" sz="1900">
                <a:latin typeface="Lato"/>
                <a:ea typeface="Lato"/>
                <a:cs typeface="Lato"/>
                <a:sym typeface="Lato"/>
              </a:rPr>
              <a:t>StructuralMechanics</a:t>
            </a:r>
            <a:r>
              <a:rPr b="1" i="0" lang="en-GB" sz="1900" u="none" cap="none" strike="noStrike">
                <a:solidFill>
                  <a:srgbClr val="000000"/>
                </a:solidFill>
                <a:latin typeface="Lato"/>
                <a:ea typeface="Lato"/>
                <a:cs typeface="Lato"/>
                <a:sym typeface="Lato"/>
              </a:rPr>
              <a:t>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SzPts val="1900"/>
              <a:buFont typeface="Lato"/>
              <a:buChar char="○"/>
            </a:pPr>
            <a:r>
              <a:rPr b="1" lang="en-GB" sz="1900">
                <a:latin typeface="Lato"/>
                <a:ea typeface="Lato"/>
                <a:cs typeface="Lato"/>
                <a:sym typeface="Lato"/>
              </a:rPr>
              <a:t>ConstitutiveLawsApplication</a:t>
            </a:r>
            <a:endParaRPr b="1" sz="1900">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RomApplication</a:t>
            </a:r>
            <a:endParaRPr b="1" i="0" sz="1900" u="none" cap="none" strike="noStrike">
              <a:solidFill>
                <a:srgbClr val="000000"/>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edeceed005_0_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ROM Advanced Options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45" name="Google Shape;145;g2edeceed005_0_1"/>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6" name="Google Shape;146;g2edeceed005_0_1"/>
          <p:cNvSpPr txBox="1"/>
          <p:nvPr/>
        </p:nvSpPr>
        <p:spPr>
          <a:xfrm>
            <a:off x="847425" y="1072950"/>
            <a:ext cx="7421700" cy="3530100"/>
          </a:xfrm>
          <a:prstGeom prst="rect">
            <a:avLst/>
          </a:prstGeom>
          <a:noFill/>
          <a:ln>
            <a:noFill/>
          </a:ln>
        </p:spPr>
        <p:txBody>
          <a:bodyPr anchorCtr="0" anchor="t" bIns="91425" lIns="91425" spcFirstLastPara="1" rIns="91425" wrap="square" tIns="91425">
            <a:spAutoFit/>
          </a:bodyPr>
          <a:lstStyle/>
          <a:p>
            <a:pPr indent="-355600" lvl="0" marL="457200" rtl="0" algn="l">
              <a:spcBef>
                <a:spcPts val="750"/>
              </a:spcBef>
              <a:spcAft>
                <a:spcPts val="0"/>
              </a:spcAft>
              <a:buClr>
                <a:schemeClr val="dk2"/>
              </a:buClr>
              <a:buSzPts val="2000"/>
              <a:buFont typeface="Calibri"/>
              <a:buChar char="-"/>
            </a:pPr>
            <a:r>
              <a:rPr b="1" lang="en-GB" sz="2000">
                <a:solidFill>
                  <a:schemeClr val="dk2"/>
                </a:solidFill>
                <a:latin typeface="Calibri"/>
                <a:ea typeface="Calibri"/>
                <a:cs typeface="Calibri"/>
                <a:sym typeface="Calibri"/>
              </a:rPr>
              <a:t>Rom Database</a:t>
            </a:r>
            <a:endParaRPr b="1" sz="2000">
              <a:solidFill>
                <a:schemeClr val="dk2"/>
              </a:solidFill>
              <a:latin typeface="Calibri"/>
              <a:ea typeface="Calibri"/>
              <a:cs typeface="Calibri"/>
              <a:sym typeface="Calibri"/>
            </a:endParaRPr>
          </a:p>
          <a:p>
            <a:pPr indent="-355600" lvl="0" marL="457200" rtl="0" algn="l">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Analysis Stage (More specific customizations)</a:t>
            </a:r>
            <a:endParaRPr b="1" sz="2000">
              <a:solidFill>
                <a:schemeClr val="dk2"/>
              </a:solidFill>
              <a:latin typeface="Calibri"/>
              <a:ea typeface="Calibri"/>
              <a:cs typeface="Calibri"/>
              <a:sym typeface="Calibri"/>
            </a:endParaRPr>
          </a:p>
          <a:p>
            <a:pPr indent="-355600" lvl="0" marL="457200" rtl="0" algn="l">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Using nonconverged solutions</a:t>
            </a:r>
            <a:endParaRPr b="1" sz="2000">
              <a:solidFill>
                <a:srgbClr val="999999"/>
              </a:solidFill>
              <a:latin typeface="Calibri"/>
              <a:ea typeface="Calibri"/>
              <a:cs typeface="Calibri"/>
              <a:sym typeface="Calibri"/>
            </a:endParaRPr>
          </a:p>
          <a:p>
            <a:pPr indent="-355600" lvl="0" marL="457200" rtl="0" algn="l">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Linear or Nonlinear decoder</a:t>
            </a:r>
            <a:endParaRPr b="1" sz="2000">
              <a:solidFill>
                <a:srgbClr val="999999"/>
              </a:solidFill>
              <a:latin typeface="Calibri"/>
              <a:ea typeface="Calibri"/>
              <a:cs typeface="Calibri"/>
              <a:sym typeface="Calibri"/>
            </a:endParaRPr>
          </a:p>
          <a:p>
            <a:pPr indent="-355600" lvl="0" marL="457200" rtl="0" algn="l">
              <a:lnSpc>
                <a:spcPct val="100000"/>
              </a:lnSpc>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Different Projection strategies (Galerkin, LSPG, PG)</a:t>
            </a:r>
            <a:endParaRPr b="1" sz="2000">
              <a:solidFill>
                <a:srgbClr val="999999"/>
              </a:solidFill>
              <a:latin typeface="Calibri"/>
              <a:ea typeface="Calibri"/>
              <a:cs typeface="Calibri"/>
              <a:sym typeface="Calibri"/>
            </a:endParaRPr>
          </a:p>
          <a:p>
            <a:pPr indent="-355600" lvl="0" marL="457200" rtl="0" algn="l">
              <a:lnSpc>
                <a:spcPct val="100000"/>
              </a:lnSpc>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HROM</a:t>
            </a:r>
            <a:endParaRPr b="1" sz="2000">
              <a:solidFill>
                <a:srgbClr val="999999"/>
              </a:solidFill>
              <a:latin typeface="Calibri"/>
              <a:ea typeface="Calibri"/>
              <a:cs typeface="Calibri"/>
              <a:sym typeface="Calibri"/>
            </a:endParaRPr>
          </a:p>
          <a:p>
            <a:pPr indent="0" lvl="0" marL="457200" rtl="0" algn="l">
              <a:lnSpc>
                <a:spcPct val="90000"/>
              </a:lnSpc>
              <a:spcBef>
                <a:spcPts val="750"/>
              </a:spcBef>
              <a:spcAft>
                <a:spcPts val="0"/>
              </a:spcAft>
              <a:buNone/>
            </a:pPr>
            <a:r>
              <a:t/>
            </a:r>
            <a:endParaRPr b="1" sz="2000">
              <a:solidFill>
                <a:srgbClr val="999999"/>
              </a:solidFill>
              <a:latin typeface="Calibri"/>
              <a:ea typeface="Calibri"/>
              <a:cs typeface="Calibri"/>
              <a:sym typeface="Calibri"/>
            </a:endParaRPr>
          </a:p>
          <a:p>
            <a:pPr indent="0" lvl="0" marL="0" rtl="0" algn="l">
              <a:lnSpc>
                <a:spcPct val="90000"/>
              </a:lnSpc>
              <a:spcBef>
                <a:spcPts val="750"/>
              </a:spcBef>
              <a:spcAft>
                <a:spcPts val="0"/>
              </a:spcAft>
              <a:buNone/>
            </a:pPr>
            <a:r>
              <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edeceed005_0_127"/>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RomDatabase</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53" name="Google Shape;153;g2edeceed005_0_127"/>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4" name="Google Shape;154;g2edeceed005_0_127"/>
          <p:cNvSpPr txBox="1"/>
          <p:nvPr/>
        </p:nvSpPr>
        <p:spPr>
          <a:xfrm>
            <a:off x="847425" y="1072950"/>
            <a:ext cx="7421700" cy="1105800"/>
          </a:xfrm>
          <a:prstGeom prst="rect">
            <a:avLst/>
          </a:prstGeom>
          <a:noFill/>
          <a:ln>
            <a:noFill/>
          </a:ln>
        </p:spPr>
        <p:txBody>
          <a:bodyPr anchorCtr="0" anchor="t" bIns="91425" lIns="91425" spcFirstLastPara="1" rIns="91425" wrap="square" tIns="91425">
            <a:spAutoFit/>
          </a:bodyPr>
          <a:lstStyle/>
          <a:p>
            <a:pPr indent="0" lvl="0" marL="457200" rtl="0" algn="l">
              <a:lnSpc>
                <a:spcPct val="90000"/>
              </a:lnSpc>
              <a:spcBef>
                <a:spcPts val="750"/>
              </a:spcBef>
              <a:spcAft>
                <a:spcPts val="0"/>
              </a:spcAft>
              <a:buNone/>
            </a:pPr>
            <a:r>
              <a:t/>
            </a:r>
            <a:endParaRPr b="1" sz="2000">
              <a:solidFill>
                <a:srgbClr val="999999"/>
              </a:solidFill>
              <a:latin typeface="Calibri"/>
              <a:ea typeface="Calibri"/>
              <a:cs typeface="Calibri"/>
              <a:sym typeface="Calibri"/>
            </a:endParaRPr>
          </a:p>
          <a:p>
            <a:pPr indent="0" lvl="0" marL="0" rtl="0" algn="l">
              <a:lnSpc>
                <a:spcPct val="90000"/>
              </a:lnSpc>
              <a:spcBef>
                <a:spcPts val="750"/>
              </a:spcBef>
              <a:spcAft>
                <a:spcPts val="0"/>
              </a:spcAft>
              <a:buNone/>
            </a:pPr>
            <a:r>
              <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5" name="Google Shape;155;g2edeceed005_0_127"/>
          <p:cNvSpPr txBox="1"/>
          <p:nvPr/>
        </p:nvSpPr>
        <p:spPr>
          <a:xfrm>
            <a:off x="847425" y="1072950"/>
            <a:ext cx="7421700" cy="2074200"/>
          </a:xfrm>
          <a:prstGeom prst="rect">
            <a:avLst/>
          </a:prstGeom>
          <a:noFill/>
          <a:ln>
            <a:noFill/>
          </a:ln>
        </p:spPr>
        <p:txBody>
          <a:bodyPr anchorCtr="0" anchor="t" bIns="91425" lIns="91425" spcFirstLastPara="1" rIns="91425" wrap="square" tIns="91425">
            <a:spAutoFit/>
          </a:bodyPr>
          <a:lstStyle/>
          <a:p>
            <a:pPr indent="-355600" lvl="0" marL="457200" rtl="0" algn="l">
              <a:lnSpc>
                <a:spcPct val="90000"/>
              </a:lnSpc>
              <a:spcBef>
                <a:spcPts val="750"/>
              </a:spcBef>
              <a:spcAft>
                <a:spcPts val="0"/>
              </a:spcAft>
              <a:buSzPts val="2000"/>
              <a:buFont typeface="Calibri"/>
              <a:buChar char="-"/>
            </a:pPr>
            <a:r>
              <a:rPr b="1" lang="en-GB" sz="2000">
                <a:latin typeface="Calibri"/>
                <a:ea typeface="Calibri"/>
                <a:cs typeface="Calibri"/>
                <a:sym typeface="Calibri"/>
              </a:rPr>
              <a:t>sqlite3 database</a:t>
            </a:r>
            <a:endParaRPr b="1" sz="2000">
              <a:latin typeface="Calibri"/>
              <a:ea typeface="Calibri"/>
              <a:cs typeface="Calibri"/>
              <a:sym typeface="Calibri"/>
            </a:endParaRPr>
          </a:p>
          <a:p>
            <a:pPr indent="-355600" lvl="0" marL="457200" rtl="0" algn="l">
              <a:lnSpc>
                <a:spcPct val="90000"/>
              </a:lnSpc>
              <a:spcBef>
                <a:spcPts val="750"/>
              </a:spcBef>
              <a:spcAft>
                <a:spcPts val="0"/>
              </a:spcAft>
              <a:buSzPts val="2000"/>
              <a:buFont typeface="Calibri"/>
              <a:buChar char="-"/>
            </a:pPr>
            <a:r>
              <a:rPr b="1" lang="en-GB" sz="2000">
                <a:latin typeface="Calibri"/>
                <a:ea typeface="Calibri"/>
                <a:cs typeface="Calibri"/>
                <a:sym typeface="Calibri"/>
              </a:rPr>
              <a:t>Data is stored with a hash name when </a:t>
            </a:r>
            <a:r>
              <a:rPr b="1" lang="en-GB" sz="2000">
                <a:solidFill>
                  <a:srgbClr val="FF0000"/>
                </a:solidFill>
                <a:latin typeface="Calibri"/>
                <a:ea typeface="Calibri"/>
                <a:cs typeface="Calibri"/>
                <a:sym typeface="Calibri"/>
              </a:rPr>
              <a:t>Fit() </a:t>
            </a:r>
            <a:r>
              <a:rPr b="1" lang="en-GB" sz="2000">
                <a:latin typeface="Calibri"/>
                <a:ea typeface="Calibri"/>
                <a:cs typeface="Calibri"/>
                <a:sym typeface="Calibri"/>
              </a:rPr>
              <a:t>and </a:t>
            </a:r>
            <a:r>
              <a:rPr b="1" lang="en-GB" sz="2000">
                <a:solidFill>
                  <a:srgbClr val="FF0000"/>
                </a:solidFill>
                <a:latin typeface="Calibri"/>
                <a:ea typeface="Calibri"/>
                <a:cs typeface="Calibri"/>
                <a:sym typeface="Calibri"/>
              </a:rPr>
              <a:t>Test()</a:t>
            </a:r>
            <a:r>
              <a:rPr b="1" lang="en-GB" sz="2000">
                <a:latin typeface="Calibri"/>
                <a:ea typeface="Calibri"/>
                <a:cs typeface="Calibri"/>
                <a:sym typeface="Calibri"/>
              </a:rPr>
              <a:t> Methods are called</a:t>
            </a:r>
            <a:endParaRPr b="1" sz="2000">
              <a:latin typeface="Calibri"/>
              <a:ea typeface="Calibri"/>
              <a:cs typeface="Calibri"/>
              <a:sym typeface="Calibri"/>
            </a:endParaRPr>
          </a:p>
          <a:p>
            <a:pPr indent="-355600" lvl="1" marL="914400" rtl="0" algn="l">
              <a:lnSpc>
                <a:spcPct val="90000"/>
              </a:lnSpc>
              <a:spcBef>
                <a:spcPts val="750"/>
              </a:spcBef>
              <a:spcAft>
                <a:spcPts val="0"/>
              </a:spcAft>
              <a:buSzPts val="2000"/>
              <a:buFont typeface="Calibri"/>
              <a:buChar char="○"/>
            </a:pPr>
            <a:r>
              <a:rPr b="1" lang="en-GB" sz="2000">
                <a:latin typeface="Calibri"/>
                <a:ea typeface="Calibri"/>
                <a:cs typeface="Calibri"/>
                <a:sym typeface="Calibri"/>
              </a:rPr>
              <a:t>Simulations are not repeated if existing</a:t>
            </a:r>
            <a:endParaRPr b="1" sz="2000">
              <a:latin typeface="Calibri"/>
              <a:ea typeface="Calibri"/>
              <a:cs typeface="Calibri"/>
              <a:sym typeface="Calibri"/>
            </a:endParaRPr>
          </a:p>
          <a:p>
            <a:pPr indent="-355600" lvl="1" marL="914400" rtl="0" algn="l">
              <a:lnSpc>
                <a:spcPct val="90000"/>
              </a:lnSpc>
              <a:spcBef>
                <a:spcPts val="750"/>
              </a:spcBef>
              <a:spcAft>
                <a:spcPts val="0"/>
              </a:spcAft>
              <a:buSzPts val="2000"/>
              <a:buFont typeface="Calibri"/>
              <a:buChar char="○"/>
            </a:pPr>
            <a:r>
              <a:rPr b="1" lang="en-GB" sz="2000">
                <a:latin typeface="Calibri"/>
                <a:ea typeface="Calibri"/>
                <a:cs typeface="Calibri"/>
                <a:sym typeface="Calibri"/>
              </a:rPr>
              <a:t>data can be </a:t>
            </a:r>
            <a:r>
              <a:rPr b="1" lang="en-GB" sz="2000">
                <a:latin typeface="Calibri"/>
                <a:ea typeface="Calibri"/>
                <a:cs typeface="Calibri"/>
                <a:sym typeface="Calibri"/>
              </a:rPr>
              <a:t>retrieved</a:t>
            </a:r>
            <a:r>
              <a:rPr b="1" lang="en-GB" sz="2000">
                <a:latin typeface="Calibri"/>
                <a:ea typeface="Calibri"/>
                <a:cs typeface="Calibri"/>
                <a:sym typeface="Calibri"/>
              </a:rPr>
              <a:t> as snapshots matrices</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edeceed005_0_144"/>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RomDatabase</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62" name="Google Shape;162;g2edeceed005_0_144"/>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3" name="Google Shape;163;g2edeceed005_0_144"/>
          <p:cNvSpPr txBox="1"/>
          <p:nvPr/>
        </p:nvSpPr>
        <p:spPr>
          <a:xfrm>
            <a:off x="847425" y="1072950"/>
            <a:ext cx="7421700" cy="1105800"/>
          </a:xfrm>
          <a:prstGeom prst="rect">
            <a:avLst/>
          </a:prstGeom>
          <a:noFill/>
          <a:ln>
            <a:noFill/>
          </a:ln>
        </p:spPr>
        <p:txBody>
          <a:bodyPr anchorCtr="0" anchor="t" bIns="91425" lIns="91425" spcFirstLastPara="1" rIns="91425" wrap="square" tIns="91425">
            <a:spAutoFit/>
          </a:bodyPr>
          <a:lstStyle/>
          <a:p>
            <a:pPr indent="0" lvl="0" marL="457200" rtl="0" algn="l">
              <a:lnSpc>
                <a:spcPct val="90000"/>
              </a:lnSpc>
              <a:spcBef>
                <a:spcPts val="750"/>
              </a:spcBef>
              <a:spcAft>
                <a:spcPts val="0"/>
              </a:spcAft>
              <a:buNone/>
            </a:pPr>
            <a:r>
              <a:t/>
            </a:r>
            <a:endParaRPr b="1" sz="2000">
              <a:solidFill>
                <a:srgbClr val="999999"/>
              </a:solidFill>
              <a:latin typeface="Calibri"/>
              <a:ea typeface="Calibri"/>
              <a:cs typeface="Calibri"/>
              <a:sym typeface="Calibri"/>
            </a:endParaRPr>
          </a:p>
          <a:p>
            <a:pPr indent="0" lvl="0" marL="0" rtl="0" algn="l">
              <a:lnSpc>
                <a:spcPct val="90000"/>
              </a:lnSpc>
              <a:spcBef>
                <a:spcPts val="750"/>
              </a:spcBef>
              <a:spcAft>
                <a:spcPts val="0"/>
              </a:spcAft>
              <a:buNone/>
            </a:pPr>
            <a:r>
              <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4" name="Google Shape;164;g2edeceed005_0_144"/>
          <p:cNvSpPr txBox="1"/>
          <p:nvPr/>
        </p:nvSpPr>
        <p:spPr>
          <a:xfrm>
            <a:off x="847425" y="1072950"/>
            <a:ext cx="7421700" cy="2074200"/>
          </a:xfrm>
          <a:prstGeom prst="rect">
            <a:avLst/>
          </a:prstGeom>
          <a:noFill/>
          <a:ln>
            <a:noFill/>
          </a:ln>
        </p:spPr>
        <p:txBody>
          <a:bodyPr anchorCtr="0" anchor="t" bIns="91425" lIns="91425" spcFirstLastPara="1" rIns="91425" wrap="square" tIns="91425">
            <a:spAutoFit/>
          </a:bodyPr>
          <a:lstStyle/>
          <a:p>
            <a:pPr indent="-355600" lvl="0" marL="457200" rtl="0" algn="l">
              <a:lnSpc>
                <a:spcPct val="90000"/>
              </a:lnSpc>
              <a:spcBef>
                <a:spcPts val="750"/>
              </a:spcBef>
              <a:spcAft>
                <a:spcPts val="0"/>
              </a:spcAft>
              <a:buSzPts val="2000"/>
              <a:buFont typeface="Calibri"/>
              <a:buChar char="-"/>
            </a:pPr>
            <a:r>
              <a:rPr b="1" lang="en-GB" sz="2000">
                <a:latin typeface="Calibri"/>
                <a:ea typeface="Calibri"/>
                <a:cs typeface="Calibri"/>
                <a:sym typeface="Calibri"/>
              </a:rPr>
              <a:t>sqlite3 database</a:t>
            </a:r>
            <a:endParaRPr b="1" sz="2000">
              <a:latin typeface="Calibri"/>
              <a:ea typeface="Calibri"/>
              <a:cs typeface="Calibri"/>
              <a:sym typeface="Calibri"/>
            </a:endParaRPr>
          </a:p>
          <a:p>
            <a:pPr indent="-355600" lvl="0" marL="457200" rtl="0" algn="l">
              <a:lnSpc>
                <a:spcPct val="90000"/>
              </a:lnSpc>
              <a:spcBef>
                <a:spcPts val="750"/>
              </a:spcBef>
              <a:spcAft>
                <a:spcPts val="0"/>
              </a:spcAft>
              <a:buSzPts val="2000"/>
              <a:buFont typeface="Calibri"/>
              <a:buChar char="-"/>
            </a:pPr>
            <a:r>
              <a:rPr b="1" lang="en-GB" sz="2000">
                <a:latin typeface="Calibri"/>
                <a:ea typeface="Calibri"/>
                <a:cs typeface="Calibri"/>
                <a:sym typeface="Calibri"/>
              </a:rPr>
              <a:t>Data is stored with a hash name when </a:t>
            </a:r>
            <a:r>
              <a:rPr b="1" lang="en-GB" sz="2000">
                <a:solidFill>
                  <a:srgbClr val="FF0000"/>
                </a:solidFill>
                <a:latin typeface="Calibri"/>
                <a:ea typeface="Calibri"/>
                <a:cs typeface="Calibri"/>
                <a:sym typeface="Calibri"/>
              </a:rPr>
              <a:t>Fit() </a:t>
            </a:r>
            <a:r>
              <a:rPr b="1" lang="en-GB" sz="2000">
                <a:latin typeface="Calibri"/>
                <a:ea typeface="Calibri"/>
                <a:cs typeface="Calibri"/>
                <a:sym typeface="Calibri"/>
              </a:rPr>
              <a:t>and </a:t>
            </a:r>
            <a:r>
              <a:rPr b="1" lang="en-GB" sz="2000">
                <a:solidFill>
                  <a:srgbClr val="FF0000"/>
                </a:solidFill>
                <a:latin typeface="Calibri"/>
                <a:ea typeface="Calibri"/>
                <a:cs typeface="Calibri"/>
                <a:sym typeface="Calibri"/>
              </a:rPr>
              <a:t>Test()</a:t>
            </a:r>
            <a:r>
              <a:rPr b="1" lang="en-GB" sz="2000">
                <a:latin typeface="Calibri"/>
                <a:ea typeface="Calibri"/>
                <a:cs typeface="Calibri"/>
                <a:sym typeface="Calibri"/>
              </a:rPr>
              <a:t> Methods are called</a:t>
            </a:r>
            <a:endParaRPr b="1" sz="2000">
              <a:latin typeface="Calibri"/>
              <a:ea typeface="Calibri"/>
              <a:cs typeface="Calibri"/>
              <a:sym typeface="Calibri"/>
            </a:endParaRPr>
          </a:p>
          <a:p>
            <a:pPr indent="-355600" lvl="1" marL="914400" rtl="0" algn="l">
              <a:lnSpc>
                <a:spcPct val="90000"/>
              </a:lnSpc>
              <a:spcBef>
                <a:spcPts val="750"/>
              </a:spcBef>
              <a:spcAft>
                <a:spcPts val="0"/>
              </a:spcAft>
              <a:buSzPts val="2000"/>
              <a:buFont typeface="Calibri"/>
              <a:buChar char="○"/>
            </a:pPr>
            <a:r>
              <a:rPr b="1" lang="en-GB" sz="2000">
                <a:latin typeface="Calibri"/>
                <a:ea typeface="Calibri"/>
                <a:cs typeface="Calibri"/>
                <a:sym typeface="Calibri"/>
              </a:rPr>
              <a:t>Simulations are not repeated if existing</a:t>
            </a:r>
            <a:endParaRPr b="1" sz="2000">
              <a:latin typeface="Calibri"/>
              <a:ea typeface="Calibri"/>
              <a:cs typeface="Calibri"/>
              <a:sym typeface="Calibri"/>
            </a:endParaRPr>
          </a:p>
          <a:p>
            <a:pPr indent="-355600" lvl="1" marL="914400" rtl="0" algn="l">
              <a:lnSpc>
                <a:spcPct val="90000"/>
              </a:lnSpc>
              <a:spcBef>
                <a:spcPts val="750"/>
              </a:spcBef>
              <a:spcAft>
                <a:spcPts val="0"/>
              </a:spcAft>
              <a:buSzPts val="2000"/>
              <a:buFont typeface="Calibri"/>
              <a:buChar char="○"/>
            </a:pPr>
            <a:r>
              <a:rPr b="1" lang="en-GB" sz="2000">
                <a:latin typeface="Calibri"/>
                <a:ea typeface="Calibri"/>
                <a:cs typeface="Calibri"/>
                <a:sym typeface="Calibri"/>
              </a:rPr>
              <a:t>data can be retrieved as snapshots matrices</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ee1ed1d33e_0_14"/>
          <p:cNvSpPr txBox="1"/>
          <p:nvPr>
            <p:ph type="title"/>
          </p:nvPr>
        </p:nvSpPr>
        <p:spPr>
          <a:xfrm>
            <a:off x="449579" y="224709"/>
            <a:ext cx="6568500" cy="434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1" name="Google Shape;171;g2ee1ed1d33e_0_14"/>
          <p:cNvSpPr txBox="1"/>
          <p:nvPr>
            <p:ph idx="1" type="body"/>
          </p:nvPr>
        </p:nvSpPr>
        <p:spPr>
          <a:xfrm>
            <a:off x="449579" y="1031288"/>
            <a:ext cx="8278800" cy="34233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ee1ed1d33e_0_20"/>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b="1" lang="en-GB" sz="2388">
                <a:solidFill>
                  <a:schemeClr val="dk2"/>
                </a:solidFill>
              </a:rPr>
              <a:t>Passing Parameters </a:t>
            </a:r>
            <a:endParaRPr/>
          </a:p>
        </p:txBody>
      </p:sp>
      <p:sp>
        <p:nvSpPr>
          <p:cNvPr id="178" name="Google Shape;178;g2ee1ed1d33e_0_20"/>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p>
            <a:pPr indent="-355600" lvl="0" marL="457200" rtl="0" algn="l">
              <a:lnSpc>
                <a:spcPct val="90000"/>
              </a:lnSpc>
              <a:spcBef>
                <a:spcPts val="750"/>
              </a:spcBef>
              <a:spcAft>
                <a:spcPts val="0"/>
              </a:spcAft>
              <a:buClr>
                <a:srgbClr val="999999"/>
              </a:buClr>
              <a:buSzPts val="2000"/>
              <a:buChar char="-"/>
            </a:pPr>
            <a:r>
              <a:rPr b="1" lang="en-GB">
                <a:solidFill>
                  <a:srgbClr val="999999"/>
                </a:solidFill>
              </a:rPr>
              <a:t>ProjectParameters.json (Boundary conditions, Loads)</a:t>
            </a:r>
            <a:endParaRPr b="1">
              <a:solidFill>
                <a:srgbClr val="999999"/>
              </a:solidFill>
            </a:endParaRPr>
          </a:p>
          <a:p>
            <a:pPr indent="0" lvl="0" marL="457200" rtl="0" algn="l">
              <a:lnSpc>
                <a:spcPct val="90000"/>
              </a:lnSpc>
              <a:spcBef>
                <a:spcPts val="750"/>
              </a:spcBef>
              <a:spcAft>
                <a:spcPts val="0"/>
              </a:spcAft>
              <a:buSzPts val="2000"/>
              <a:buNone/>
            </a:pPr>
            <a:r>
              <a:t/>
            </a:r>
            <a:endParaRPr b="1"/>
          </a:p>
          <a:p>
            <a:pPr indent="-355600" lvl="0" marL="457200" rtl="0" algn="l">
              <a:lnSpc>
                <a:spcPct val="90000"/>
              </a:lnSpc>
              <a:spcBef>
                <a:spcPts val="750"/>
              </a:spcBef>
              <a:spcAft>
                <a:spcPts val="0"/>
              </a:spcAft>
              <a:buClr>
                <a:srgbClr val="B7B7B7"/>
              </a:buClr>
              <a:buSzPts val="2000"/>
              <a:buChar char="-"/>
            </a:pPr>
            <a:r>
              <a:rPr b="1" lang="en-GB">
                <a:solidFill>
                  <a:srgbClr val="B7B7B7"/>
                </a:solidFill>
              </a:rPr>
              <a:t>Materials.json (Material Properties)</a:t>
            </a:r>
            <a:endParaRPr b="1">
              <a:solidFill>
                <a:srgbClr val="B7B7B7"/>
              </a:solidFill>
            </a:endParaRPr>
          </a:p>
          <a:p>
            <a:pPr indent="0" lvl="0" marL="457200" rtl="0" algn="l">
              <a:lnSpc>
                <a:spcPct val="90000"/>
              </a:lnSpc>
              <a:spcBef>
                <a:spcPts val="750"/>
              </a:spcBef>
              <a:spcAft>
                <a:spcPts val="0"/>
              </a:spcAft>
              <a:buSzPts val="2000"/>
              <a:buNone/>
            </a:pPr>
            <a:r>
              <a:t/>
            </a:r>
            <a:endParaRPr b="1">
              <a:solidFill>
                <a:srgbClr val="999999"/>
              </a:solidFill>
            </a:endParaRPr>
          </a:p>
          <a:p>
            <a:pPr indent="-355600" lvl="0" marL="457200" rtl="0" algn="l">
              <a:lnSpc>
                <a:spcPct val="90000"/>
              </a:lnSpc>
              <a:spcBef>
                <a:spcPts val="750"/>
              </a:spcBef>
              <a:spcAft>
                <a:spcPts val="0"/>
              </a:spcAft>
              <a:buClr>
                <a:schemeClr val="dk2"/>
              </a:buClr>
              <a:buSzPts val="2000"/>
              <a:buChar char="-"/>
            </a:pPr>
            <a:r>
              <a:rPr b="1" lang="en-GB">
                <a:solidFill>
                  <a:schemeClr val="dk2"/>
                </a:solidFill>
              </a:rPr>
              <a:t>Analysis Stage (More specific customizations)</a:t>
            </a:r>
            <a:endParaRPr b="1">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ee1ed1d33e_0_129"/>
          <p:cNvSpPr txBox="1"/>
          <p:nvPr>
            <p:ph type="title"/>
          </p:nvPr>
        </p:nvSpPr>
        <p:spPr>
          <a:xfrm>
            <a:off x="449579" y="224709"/>
            <a:ext cx="6568500" cy="434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5" name="Google Shape;185;g2ee1ed1d33e_0_129"/>
          <p:cNvSpPr txBox="1"/>
          <p:nvPr>
            <p:ph idx="1" type="body"/>
          </p:nvPr>
        </p:nvSpPr>
        <p:spPr>
          <a:xfrm>
            <a:off x="449579" y="1031288"/>
            <a:ext cx="8278800" cy="34233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2ee1ed1d33e_0_123"/>
          <p:cNvSpPr txBox="1"/>
          <p:nvPr>
            <p:ph type="title"/>
          </p:nvPr>
        </p:nvSpPr>
        <p:spPr>
          <a:xfrm>
            <a:off x="449579" y="224709"/>
            <a:ext cx="6568500" cy="434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2" name="Google Shape;192;g2ee1ed1d33e_0_123"/>
          <p:cNvSpPr txBox="1"/>
          <p:nvPr>
            <p:ph idx="1" type="body"/>
          </p:nvPr>
        </p:nvSpPr>
        <p:spPr>
          <a:xfrm>
            <a:off x="449579" y="1031288"/>
            <a:ext cx="8278800" cy="34233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2edeceed005_0_118"/>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AnalysisStage </a:t>
            </a:r>
            <a:r>
              <a:rPr b="1" lang="en-GB" sz="2500">
                <a:solidFill>
                  <a:schemeClr val="dk2"/>
                </a:solidFill>
              </a:rPr>
              <a:t>(More specific customizations)</a:t>
            </a:r>
            <a:endParaRPr b="1" sz="35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99" name="Google Shape;199;g2edeceed005_0_118"/>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0" name="Google Shape;200;g2edeceed005_0_118"/>
          <p:cNvSpPr txBox="1"/>
          <p:nvPr/>
        </p:nvSpPr>
        <p:spPr>
          <a:xfrm>
            <a:off x="847425" y="1072950"/>
            <a:ext cx="7421700" cy="1105800"/>
          </a:xfrm>
          <a:prstGeom prst="rect">
            <a:avLst/>
          </a:prstGeom>
          <a:noFill/>
          <a:ln>
            <a:noFill/>
          </a:ln>
        </p:spPr>
        <p:txBody>
          <a:bodyPr anchorCtr="0" anchor="t" bIns="91425" lIns="91425" spcFirstLastPara="1" rIns="91425" wrap="square" tIns="91425">
            <a:spAutoFit/>
          </a:bodyPr>
          <a:lstStyle/>
          <a:p>
            <a:pPr indent="0" lvl="0" marL="457200" rtl="0" algn="l">
              <a:lnSpc>
                <a:spcPct val="90000"/>
              </a:lnSpc>
              <a:spcBef>
                <a:spcPts val="750"/>
              </a:spcBef>
              <a:spcAft>
                <a:spcPts val="0"/>
              </a:spcAft>
              <a:buNone/>
            </a:pPr>
            <a:r>
              <a:t/>
            </a:r>
            <a:endParaRPr b="1" sz="2000">
              <a:solidFill>
                <a:srgbClr val="999999"/>
              </a:solidFill>
              <a:latin typeface="Calibri"/>
              <a:ea typeface="Calibri"/>
              <a:cs typeface="Calibri"/>
              <a:sym typeface="Calibri"/>
            </a:endParaRPr>
          </a:p>
          <a:p>
            <a:pPr indent="0" lvl="0" marL="0" rtl="0" algn="l">
              <a:lnSpc>
                <a:spcPct val="90000"/>
              </a:lnSpc>
              <a:spcBef>
                <a:spcPts val="750"/>
              </a:spcBef>
              <a:spcAft>
                <a:spcPts val="0"/>
              </a:spcAft>
              <a:buNone/>
            </a:pPr>
            <a:r>
              <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1" name="Google Shape;201;g2edeceed005_0_118"/>
          <p:cNvSpPr/>
          <p:nvPr/>
        </p:nvSpPr>
        <p:spPr>
          <a:xfrm>
            <a:off x="678450" y="818000"/>
            <a:ext cx="7787100" cy="361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2edeceed005_0_118"/>
          <p:cNvSpPr txBox="1"/>
          <p:nvPr/>
        </p:nvSpPr>
        <p:spPr>
          <a:xfrm>
            <a:off x="824525" y="935775"/>
            <a:ext cx="2761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ato"/>
                <a:ea typeface="Lato"/>
                <a:cs typeface="Lato"/>
                <a:sym typeface="Lato"/>
              </a:rPr>
              <a:t>Properties:</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_solver</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project_parameters</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parallel_type</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a:t>
            </a:r>
            <a:endParaRPr sz="1600">
              <a:latin typeface="Lato"/>
              <a:ea typeface="Lato"/>
              <a:cs typeface="Lato"/>
              <a:sym typeface="Lato"/>
            </a:endParaRPr>
          </a:p>
        </p:txBody>
      </p:sp>
      <p:sp>
        <p:nvSpPr>
          <p:cNvPr id="203" name="Google Shape;203;g2edeceed005_0_118"/>
          <p:cNvSpPr txBox="1"/>
          <p:nvPr/>
        </p:nvSpPr>
        <p:spPr>
          <a:xfrm>
            <a:off x="4434950" y="997100"/>
            <a:ext cx="32556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ato"/>
                <a:ea typeface="Lato"/>
                <a:cs typeface="Lato"/>
                <a:sym typeface="Lato"/>
              </a:rPr>
              <a:t>Methods:</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_GetSolver()</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InitializeSolutionStep()</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Run()</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a:t>
            </a:r>
            <a:endParaRPr sz="1600">
              <a:latin typeface="Lato"/>
              <a:ea typeface="Lato"/>
              <a:cs typeface="Lato"/>
              <a:sym typeface="Lato"/>
            </a:endParaRPr>
          </a:p>
          <a:p>
            <a:pPr indent="0" lvl="0" marL="0" rtl="0" algn="l">
              <a:spcBef>
                <a:spcPts val="0"/>
              </a:spcBef>
              <a:spcAft>
                <a:spcPts val="0"/>
              </a:spcAft>
              <a:buNone/>
            </a:pPr>
            <a:r>
              <a:t/>
            </a:r>
            <a:endParaRPr sz="1600">
              <a:latin typeface="Lato"/>
              <a:ea typeface="Lato"/>
              <a:cs typeface="Lato"/>
              <a:sym typeface="Lato"/>
            </a:endParaRPr>
          </a:p>
        </p:txBody>
      </p:sp>
      <p:sp>
        <p:nvSpPr>
          <p:cNvPr id="204" name="Google Shape;204;g2edeceed005_0_118"/>
          <p:cNvSpPr txBox="1"/>
          <p:nvPr/>
        </p:nvSpPr>
        <p:spPr>
          <a:xfrm>
            <a:off x="1729500" y="3714750"/>
            <a:ext cx="5685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u="sng">
                <a:solidFill>
                  <a:schemeClr val="hlink"/>
                </a:solidFill>
                <a:hlinkClick r:id="rId3"/>
              </a:rPr>
              <a:t>https://github.com/KratosMultiphysics/Kratos/blob/master/kratos/python_scripts/analysis_stage.py</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